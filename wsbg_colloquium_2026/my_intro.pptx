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7198-C0E9-FAE5-CB8E-49E4AF83DC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8223F7EA-4366-40E8-70EC-C6C48A74B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F5C449FA-76C2-9037-E45E-1BD43B7A8910}"/>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5" name="Footer Placeholder 4">
            <a:extLst>
              <a:ext uri="{FF2B5EF4-FFF2-40B4-BE49-F238E27FC236}">
                <a16:creationId xmlns:a16="http://schemas.microsoft.com/office/drawing/2014/main" id="{963EC9F7-CFF7-46DF-E9A4-90F70D09275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B4D172F-39AA-38FD-A7BF-EAE90BB471EC}"/>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4042455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A085E-7B17-199F-C8A9-94FA405A3BE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E0618B33-C275-D6F5-0F9C-CD809D5AFB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7C59624-A637-DA4E-A013-A50264E97895}"/>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5" name="Footer Placeholder 4">
            <a:extLst>
              <a:ext uri="{FF2B5EF4-FFF2-40B4-BE49-F238E27FC236}">
                <a16:creationId xmlns:a16="http://schemas.microsoft.com/office/drawing/2014/main" id="{37D5DF42-851B-C99A-601D-C9299054006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23AF73B-D657-2332-C501-C500A63BE9EC}"/>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427945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60E14-C849-2D9E-0ACF-07E60F9DF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D6DC588B-9A0F-22C2-ED01-DBF4363E12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10CAE3-9464-C8FC-50E7-26147CA7CEA9}"/>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5" name="Footer Placeholder 4">
            <a:extLst>
              <a:ext uri="{FF2B5EF4-FFF2-40B4-BE49-F238E27FC236}">
                <a16:creationId xmlns:a16="http://schemas.microsoft.com/office/drawing/2014/main" id="{3D2E845B-E8BE-D447-67F4-CDB2E264A89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D4701AD-EA1C-52EA-5604-8E61EB68ACEF}"/>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2486727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8C93-D845-5457-031B-B690431810C8}"/>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C3C7EA1-50CF-EDF5-F25E-E6FBF38742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1DFC250D-BA91-4B18-8228-CF209D825F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A8020D7B-12BA-F2BC-2FF0-55DBB9911710}"/>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6" name="Footer Placeholder 5">
            <a:extLst>
              <a:ext uri="{FF2B5EF4-FFF2-40B4-BE49-F238E27FC236}">
                <a16:creationId xmlns:a16="http://schemas.microsoft.com/office/drawing/2014/main" id="{15AC1000-6BBA-9516-7574-23EE9D7C4F7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49D6716B-1DD2-10E7-9F23-8A7CFB444A54}"/>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3713072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C6F3E-3DC1-5076-F8FA-E60E8ADE04CE}"/>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74370717-DFDE-1DEE-61A1-0F8A4C2D08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62CAB-B8E8-7A86-824B-EA4B2428DE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50CA8880-960B-E4CA-6914-59D6514E82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B50B64-63CB-3DE8-82F4-C598C09B5B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D44E6023-480B-1B8C-61E5-54F42578D496}"/>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8" name="Footer Placeholder 7">
            <a:extLst>
              <a:ext uri="{FF2B5EF4-FFF2-40B4-BE49-F238E27FC236}">
                <a16:creationId xmlns:a16="http://schemas.microsoft.com/office/drawing/2014/main" id="{F8368526-F06A-7083-7840-A3E36E6CDED4}"/>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B18B5F85-A33F-812B-DDF1-3F8B4646CB3A}"/>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1899350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91D-901B-B65F-BC29-ADBEE5B1B1D3}"/>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EB01B19A-5CFE-8BA7-0E2E-4E6F8F5EA3BE}"/>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4" name="Footer Placeholder 3">
            <a:extLst>
              <a:ext uri="{FF2B5EF4-FFF2-40B4-BE49-F238E27FC236}">
                <a16:creationId xmlns:a16="http://schemas.microsoft.com/office/drawing/2014/main" id="{32275ACF-A7B7-7EA8-C5AC-A95D5F539C63}"/>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5CC042CF-35A8-B002-EE57-387D10C4BA72}"/>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2653537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AE015A-7CB7-875B-D87D-9F7FDEAFE84E}"/>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3" name="Footer Placeholder 2">
            <a:extLst>
              <a:ext uri="{FF2B5EF4-FFF2-40B4-BE49-F238E27FC236}">
                <a16:creationId xmlns:a16="http://schemas.microsoft.com/office/drawing/2014/main" id="{90F26A97-0848-3657-1FF7-7D0B458B7B75}"/>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1F6DE7E7-5AAD-CB59-6414-D29169496B35}"/>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1591926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2A21-1E44-8439-57AD-37AB1F0A5D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DC7BC0B2-C8B4-09E9-A9FF-4A5F7AC8F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33C095F2-7A78-8356-4E7F-65DC900BD5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648443-CD83-BFE9-E07E-47C9C66F4BF3}"/>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6" name="Footer Placeholder 5">
            <a:extLst>
              <a:ext uri="{FF2B5EF4-FFF2-40B4-BE49-F238E27FC236}">
                <a16:creationId xmlns:a16="http://schemas.microsoft.com/office/drawing/2014/main" id="{171EA29B-B143-5A21-C7DA-1760DD7BC4F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830BA87E-7A51-35B5-C6D6-38B6A911CE63}"/>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1410201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E337C-1757-F74A-D175-8A2D85ECD0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F89328A7-A2CB-79C5-F6C4-5B95FBB7B4E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68D96918-1F49-628C-4291-77B2C1050F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AF325C-C80F-8953-9407-E283FD452199}"/>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6" name="Footer Placeholder 5">
            <a:extLst>
              <a:ext uri="{FF2B5EF4-FFF2-40B4-BE49-F238E27FC236}">
                <a16:creationId xmlns:a16="http://schemas.microsoft.com/office/drawing/2014/main" id="{47A55D30-295D-1684-4B48-E290C485FA8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E798B35B-20C2-227D-BB93-0F73CFE6B82F}"/>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14146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D7F61-ACD1-FB1E-8E2E-50D01787B23D}"/>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559560A-11BE-7665-9725-3E5500499B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F8230C77-BED7-EFFD-483C-47066531884B}"/>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5" name="Footer Placeholder 4">
            <a:extLst>
              <a:ext uri="{FF2B5EF4-FFF2-40B4-BE49-F238E27FC236}">
                <a16:creationId xmlns:a16="http://schemas.microsoft.com/office/drawing/2014/main" id="{974CFC90-0767-3FBB-18A0-7CABF8D1A0E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01D7AD5-D3C9-5D4F-4B3E-B04577DA7664}"/>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255977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B60CA3-4729-C283-DDD3-A8BC9B68DF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24B28C4E-8C18-3EE0-8842-D27E5A88AD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6B9EE2B-2232-5CAE-2EDB-8B773F4E8271}"/>
              </a:ext>
            </a:extLst>
          </p:cNvPr>
          <p:cNvSpPr>
            <a:spLocks noGrp="1"/>
          </p:cNvSpPr>
          <p:nvPr>
            <p:ph type="dt" sz="half" idx="10"/>
          </p:nvPr>
        </p:nvSpPr>
        <p:spPr/>
        <p:txBody>
          <a:bodyPr/>
          <a:lstStyle/>
          <a:p>
            <a:fld id="{3EA5E3D2-00D4-413B-844B-00853C1DE31F}" type="datetimeFigureOut">
              <a:rPr lang="en-NZ" smtClean="0"/>
              <a:t>30/10/2026</a:t>
            </a:fld>
            <a:endParaRPr lang="en-NZ"/>
          </a:p>
        </p:txBody>
      </p:sp>
      <p:sp>
        <p:nvSpPr>
          <p:cNvPr id="5" name="Footer Placeholder 4">
            <a:extLst>
              <a:ext uri="{FF2B5EF4-FFF2-40B4-BE49-F238E27FC236}">
                <a16:creationId xmlns:a16="http://schemas.microsoft.com/office/drawing/2014/main" id="{F56E7EA7-0A14-3F24-AA5F-7C0B4C7C147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1959338-C883-4980-D6BF-C78511A31664}"/>
              </a:ext>
            </a:extLst>
          </p:cNvPr>
          <p:cNvSpPr>
            <a:spLocks noGrp="1"/>
          </p:cNvSpPr>
          <p:nvPr>
            <p:ph type="sldNum" sz="quarter" idx="12"/>
          </p:nvPr>
        </p:nvSpPr>
        <p:spPr/>
        <p:txBody>
          <a:bodyPr/>
          <a:lstStyle/>
          <a:p>
            <a:fld id="{011CB759-7541-4949-9707-64ED9E74EC18}" type="slidenum">
              <a:rPr lang="en-NZ" smtClean="0"/>
              <a:t>‹#›</a:t>
            </a:fld>
            <a:endParaRPr lang="en-NZ"/>
          </a:p>
        </p:txBody>
      </p:sp>
    </p:spTree>
    <p:extLst>
      <p:ext uri="{BB962C8B-B14F-4D97-AF65-F5344CB8AC3E}">
        <p14:creationId xmlns:p14="http://schemas.microsoft.com/office/powerpoint/2010/main" val="3234124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69BBDE-F39F-0885-CB3B-8EF1A68FE3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6F221163-41CB-DBF4-E96A-FDFE27FA63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2FFCFBE-4484-A9E0-BCCA-945B721984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A5E3D2-00D4-413B-844B-00853C1DE31F}" type="datetimeFigureOut">
              <a:rPr lang="en-NZ" smtClean="0"/>
              <a:t>30/10/2026</a:t>
            </a:fld>
            <a:endParaRPr lang="en-NZ"/>
          </a:p>
        </p:txBody>
      </p:sp>
      <p:sp>
        <p:nvSpPr>
          <p:cNvPr id="5" name="Footer Placeholder 4">
            <a:extLst>
              <a:ext uri="{FF2B5EF4-FFF2-40B4-BE49-F238E27FC236}">
                <a16:creationId xmlns:a16="http://schemas.microsoft.com/office/drawing/2014/main" id="{F824AA02-5C5A-ABD4-9D70-3DE2A47F2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7806A9F7-3D12-F1CF-A656-A3CF0D6C21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1CB759-7541-4949-9707-64ED9E74EC18}" type="slidenum">
              <a:rPr lang="en-NZ" smtClean="0"/>
              <a:t>‹#›</a:t>
            </a:fld>
            <a:endParaRPr lang="en-NZ"/>
          </a:p>
        </p:txBody>
      </p:sp>
    </p:spTree>
    <p:extLst>
      <p:ext uri="{BB962C8B-B14F-4D97-AF65-F5344CB8AC3E}">
        <p14:creationId xmlns:p14="http://schemas.microsoft.com/office/powerpoint/2010/main" val="3719158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3705B5-0E16-B217-FF49-1E8B0DB1A6A8}"/>
              </a:ext>
            </a:extLst>
          </p:cNvPr>
          <p:cNvSpPr>
            <a:spLocks noGrp="1"/>
          </p:cNvSpPr>
          <p:nvPr>
            <p:ph type="title"/>
          </p:nvPr>
        </p:nvSpPr>
        <p:spPr/>
        <p:txBody>
          <a:bodyPr/>
          <a:lstStyle/>
          <a:p>
            <a:pPr marL="228600" indent="-228600">
              <a:buFont typeface="Arial" panose="020B0604020202020204" pitchFamily="34" charset="0"/>
              <a:buChar char="•"/>
            </a:pPr>
            <a:r>
              <a:rPr lang="en-NZ" dirty="0"/>
              <a:t>John McDermott</a:t>
            </a:r>
          </a:p>
        </p:txBody>
      </p:sp>
      <p:sp>
        <p:nvSpPr>
          <p:cNvPr id="5" name="Content Placeholder 4">
            <a:extLst>
              <a:ext uri="{FF2B5EF4-FFF2-40B4-BE49-F238E27FC236}">
                <a16:creationId xmlns:a16="http://schemas.microsoft.com/office/drawing/2014/main" id="{943EB9A5-3259-5000-0F7B-1C5A3B6B1EA4}"/>
              </a:ext>
            </a:extLst>
          </p:cNvPr>
          <p:cNvSpPr>
            <a:spLocks noGrp="1"/>
          </p:cNvSpPr>
          <p:nvPr>
            <p:ph idx="1"/>
          </p:nvPr>
        </p:nvSpPr>
        <p:spPr/>
        <p:txBody>
          <a:bodyPr>
            <a:normAutofit/>
          </a:bodyPr>
          <a:lstStyle/>
          <a:p>
            <a:r>
              <a:rPr lang="en-NZ" sz="1800" dirty="0"/>
              <a:t>Rigour, Relevance and Relationships by Dr John McDermott, Executive Director, Motu Economic and Public Policy Research</a:t>
            </a:r>
          </a:p>
          <a:p>
            <a:r>
              <a:rPr lang="en-NZ" sz="1800" dirty="0"/>
              <a:t>Studied Commerce at the University of Auckland </a:t>
            </a:r>
          </a:p>
          <a:p>
            <a:r>
              <a:rPr lang="en-NZ" sz="1800" dirty="0"/>
              <a:t>RBNZ as an economist</a:t>
            </a:r>
          </a:p>
          <a:p>
            <a:r>
              <a:rPr lang="en-NZ" sz="1800" dirty="0"/>
              <a:t>PhD Economics</a:t>
            </a:r>
          </a:p>
          <a:p>
            <a:r>
              <a:rPr lang="en-NZ" sz="1800" dirty="0"/>
              <a:t>Economist at IMF</a:t>
            </a:r>
          </a:p>
          <a:p>
            <a:r>
              <a:rPr lang="en-NZ" sz="1800" dirty="0"/>
              <a:t>RBNZ and National Bank</a:t>
            </a:r>
          </a:p>
          <a:p>
            <a:r>
              <a:rPr lang="en-NZ" sz="1800" dirty="0"/>
              <a:t>Associate Professor here</a:t>
            </a:r>
          </a:p>
          <a:p>
            <a:r>
              <a:rPr lang="en-NZ" sz="1800" dirty="0"/>
              <a:t>Assistant governor of the RBNZ</a:t>
            </a:r>
          </a:p>
          <a:p>
            <a:r>
              <a:rPr lang="en-NZ" sz="1800" dirty="0"/>
              <a:t>Executive director of Motu</a:t>
            </a:r>
          </a:p>
          <a:p>
            <a:endParaRPr lang="en-NZ" sz="1800" dirty="0"/>
          </a:p>
        </p:txBody>
      </p:sp>
    </p:spTree>
    <p:extLst>
      <p:ext uri="{BB962C8B-B14F-4D97-AF65-F5344CB8AC3E}">
        <p14:creationId xmlns:p14="http://schemas.microsoft.com/office/powerpoint/2010/main" val="3571171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B37623-FF03-0D86-2222-1F799DA0D25F}"/>
              </a:ext>
            </a:extLst>
          </p:cNvPr>
          <p:cNvSpPr>
            <a:spLocks noGrp="1"/>
          </p:cNvSpPr>
          <p:nvPr>
            <p:ph idx="1"/>
          </p:nvPr>
        </p:nvSpPr>
        <p:spPr/>
        <p:txBody>
          <a:bodyPr>
            <a:normAutofit fontScale="92500" lnSpcReduction="20000"/>
          </a:bodyPr>
          <a:lstStyle/>
          <a:p>
            <a:r>
              <a:rPr lang="en-GB" b="1" dirty="0"/>
              <a:t>Inflation, expectations and monetary policy. </a:t>
            </a:r>
            <a:r>
              <a:rPr lang="en-GB" dirty="0"/>
              <a:t>John has studied how inflation targeting in New Zealand has evolved, what happened to inflation expectations when the target changed, and why inflation stayed low after the GFC. He has also examined how the business cycle and monetary policy changed after the crisis. </a:t>
            </a:r>
            <a:r>
              <a:rPr lang="en-GB" b="1" dirty="0"/>
              <a:t>As inflation and central bank credibility are back in the headlines, this work is very timely.</a:t>
            </a:r>
          </a:p>
          <a:p>
            <a:r>
              <a:rPr lang="en-GB" b="1" dirty="0"/>
              <a:t>Business cycles, commodity prices and open economies. </a:t>
            </a:r>
            <a:r>
              <a:rPr lang="en-GB" dirty="0"/>
              <a:t>From his years at the IMF and the RBNZ, John has written widely cited work on booms and slumps in world commodity prices, terms-of-trade shocks, real exchange rates and macroeconomic swings in developing countries. He has also built New Zealand’s long-run quarterly GDP series and asked whether New Zealand should share a currency with Australia.</a:t>
            </a:r>
            <a:endParaRPr lang="en-NZ" dirty="0"/>
          </a:p>
        </p:txBody>
      </p:sp>
    </p:spTree>
    <p:extLst>
      <p:ext uri="{BB962C8B-B14F-4D97-AF65-F5344CB8AC3E}">
        <p14:creationId xmlns:p14="http://schemas.microsoft.com/office/powerpoint/2010/main" val="2806901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194</Words>
  <Application>Microsoft Office PowerPoint</Application>
  <PresentationFormat>Widescreen</PresentationFormat>
  <Paragraphs>12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John McDermott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Martien Lubberink</dc:creator>
  <cp:lastModifiedBy>Martien Lubberink</cp:lastModifiedBy>
  <cp:revision>1</cp:revision>
  <dcterms:created xsi:type="dcterms:W3CDTF">2026-10-29T18:45:47Z</dcterms:created>
  <dcterms:modified xsi:type="dcterms:W3CDTF">2026-10-29T18:58:42Z</dcterms:modified>
</cp:coreProperties>
</file>