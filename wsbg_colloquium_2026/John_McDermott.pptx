
<file path=[Content_Types].xml><?xml version="1.0" encoding="utf-8"?>
<Types xmlns="http://schemas.openxmlformats.org/package/2006/content-types">
  <Default Extension="gif" ContentType="image/gif"/>
  <Default Extension="jpeg" ContentType="image/jpeg"/>
  <Default Extension="jpg" ContentType="image/jpg"/>
  <Default Extension="m4v" ContentType="video/mp4"/>
  <Default Extension="mp4" ContentType="video/mp4"/>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charts/chart1.xml" ContentType="application/vnd.openxmlformats-officedocument.drawingml.chart+xml"/>
  <Override PartName="/ppt/charts/chart2.xml" ContentType="application/vnd.openxmlformats-officedocument.drawingml.chart+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b0f7806-b14a-70cc-a6ce-a739ce68b697}">
          <p14:sldIdLst>
            <p14:sldId id="256"/>
            <p14:sldId id="257"/>
            <p14:sldId id="258"/>
          </p14:sldIdLst>
        </p14:section>
        <p14:section name="Act 1: Foundations" id="{4cef41e0-1594-dfa5-9890-b1278475b7ea}">
          <p14:sldIdLst>
            <p14:sldId id="259"/>
            <p14:sldId id="260"/>
            <p14:sldId id="261"/>
            <p14:sldId id="262"/>
            <p14:sldId id="263"/>
          </p14:sldIdLst>
        </p14:section>
        <p14:section name="Act 2: Policy institutions" id="{b0a806e8-8627-86e1-23b6-2c823d1cfef9}">
          <p14:sldIdLst>
            <p14:sldId id="264"/>
            <p14:sldId id="265"/>
            <p14:sldId id="266"/>
            <p14:sldId id="267"/>
            <p14:sldId id="268"/>
            <p14:sldId id="269"/>
          </p14:sldIdLst>
        </p14:section>
        <p14:section name="Act 3: Leading research" id="{40491154-2448-697c-9fb5-149d1e8b21d9}">
          <p14:sldIdLst>
            <p14:sldId id="270"/>
            <p14:sldId id="271"/>
            <p14:sldId id="272"/>
          </p14:sldIdLst>
        </p14:section>
        <p14:section name="Close" id="{17b6f002-1186-a62b-9ed9-e8e0e60a8740}">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28"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openxmlformats.org/officeDocument/2006/relationships/customXml" Target="../customXml/item2.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303F"/>
                </a:solidFill>
                <a:latin typeface="+mn-lt"/>
              </a:defRPr>
            </a:pPr>
            <a:r>
              <a:rPr sz="1400" b="0" i="0" u="none" strike="noStrike">
                <a:solidFill>
                  <a:srgbClr val="14303F"/>
                </a:solidFill>
                <a:latin typeface="+mn-lt"/>
              </a:rPr>
              <a:t>Standard asymptotics: sample T* = 40 grows to 160</a:t>
            </a:r>
          </a:p>
        </c:rich>
      </c:tx>
      <c:layout/>
      <c:overlay val="0"/>
    </c:title>
    <c:autoTitleDeleted val="0"/>
    <c:plotArea>
      <c:layout/>
      <c:lineChart>
        <c:varyColors val="0"/>
        <c:ser>
          <c:idx val="0"/>
          <c:order val="0"/>
          <c:tx>
            <c:strRef>
              <c:f>Sheet1!$B$1</c:f>
              <c:strCache>
                <c:ptCount val="1"/>
                <c:pt idx="0">
                  <c:v>d(t) = exp(bt)</c:v>
                </c:pt>
              </c:strCache>
            </c:strRef>
          </c:tx>
          <c:spPr>
            <a:solidFill>
              <a:srgbClr val="B5382C"/>
            </a:solidFill>
            <a:ln w="31750" cap="flat">
              <a:solidFill>
                <a:srgbClr val="B5382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5382C"/>
              </a:solidFill>
              <a:ln w="9525" cap="flat">
                <a:solidFill>
                  <a:srgbClr val="B5382C"/>
                </a:solidFill>
                <a:prstDash val="solid"/>
                <a:round/>
              </a:ln>
              <a:effectLst/>
            </c:spPr>
          </c:marker>
          <c:cat>
            <c:multiLvlStrRef>
              <c:f>Sheet1!$A$2:$A$161</c:f>
              <c:multiLvlStrCache>
                <c:ptCount val="160"/>
                <c:lvl>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40</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80</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120</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160</c:v>
                  </c:pt>
                </c:lvl>
              </c:multiLvlStrCache>
            </c:multiLvlStrRef>
          </c:cat>
          <c:val>
            <c:numRef>
              <c:f>Sheet1!$B$2:$B$161</c:f>
              <c:numCache>
                <c:formatCode>General</c:formatCode>
                <c:ptCount val="160"/>
                <c:pt idx="0">
                  <c:v>1.02</c:v>
                </c:pt>
                <c:pt idx="1">
                  <c:v>1.041</c:v>
                </c:pt>
                <c:pt idx="2">
                  <c:v>1.062</c:v>
                </c:pt>
                <c:pt idx="3">
                  <c:v>1.083</c:v>
                </c:pt>
                <c:pt idx="4">
                  <c:v>1.105</c:v>
                </c:pt>
                <c:pt idx="5">
                  <c:v>1.127</c:v>
                </c:pt>
                <c:pt idx="6">
                  <c:v>1.15</c:v>
                </c:pt>
                <c:pt idx="7">
                  <c:v>1.174</c:v>
                </c:pt>
                <c:pt idx="8">
                  <c:v>1.197</c:v>
                </c:pt>
                <c:pt idx="9">
                  <c:v>1.221</c:v>
                </c:pt>
                <c:pt idx="10">
                  <c:v>1.246</c:v>
                </c:pt>
                <c:pt idx="11">
                  <c:v>1.271</c:v>
                </c:pt>
                <c:pt idx="12">
                  <c:v>1.297</c:v>
                </c:pt>
                <c:pt idx="13">
                  <c:v>1.323</c:v>
                </c:pt>
                <c:pt idx="14">
                  <c:v>1.35</c:v>
                </c:pt>
                <c:pt idx="15">
                  <c:v>1.377</c:v>
                </c:pt>
                <c:pt idx="16">
                  <c:v>1.405</c:v>
                </c:pt>
                <c:pt idx="17">
                  <c:v>1.433</c:v>
                </c:pt>
                <c:pt idx="18">
                  <c:v>1.462</c:v>
                </c:pt>
                <c:pt idx="19">
                  <c:v>1.492</c:v>
                </c:pt>
                <c:pt idx="20">
                  <c:v>1.522</c:v>
                </c:pt>
                <c:pt idx="21">
                  <c:v>1.553</c:v>
                </c:pt>
                <c:pt idx="22">
                  <c:v>1.584</c:v>
                </c:pt>
                <c:pt idx="23">
                  <c:v>1.616</c:v>
                </c:pt>
                <c:pt idx="24">
                  <c:v>1.649</c:v>
                </c:pt>
                <c:pt idx="25">
                  <c:v>1.682</c:v>
                </c:pt>
                <c:pt idx="26">
                  <c:v>1.716</c:v>
                </c:pt>
                <c:pt idx="27">
                  <c:v>1.751</c:v>
                </c:pt>
                <c:pt idx="28">
                  <c:v>1.786</c:v>
                </c:pt>
                <c:pt idx="29">
                  <c:v>1.822</c:v>
                </c:pt>
                <c:pt idx="30">
                  <c:v>1.859</c:v>
                </c:pt>
                <c:pt idx="31">
                  <c:v>1.896</c:v>
                </c:pt>
                <c:pt idx="32">
                  <c:v>1.935</c:v>
                </c:pt>
                <c:pt idx="33">
                  <c:v>1.974</c:v>
                </c:pt>
                <c:pt idx="34">
                  <c:v>2.014</c:v>
                </c:pt>
                <c:pt idx="35">
                  <c:v>2.054</c:v>
                </c:pt>
                <c:pt idx="36">
                  <c:v>2.096</c:v>
                </c:pt>
                <c:pt idx="37">
                  <c:v>2.138</c:v>
                </c:pt>
                <c:pt idx="38">
                  <c:v>2.181</c:v>
                </c:pt>
                <c:pt idx="39">
                  <c:v>2.226</c:v>
                </c:pt>
                <c:pt idx="40">
                  <c:v>2.27</c:v>
                </c:pt>
                <c:pt idx="41">
                  <c:v>2.316</c:v>
                </c:pt>
                <c:pt idx="42">
                  <c:v>2.363</c:v>
                </c:pt>
                <c:pt idx="43">
                  <c:v>2.411</c:v>
                </c:pt>
                <c:pt idx="44">
                  <c:v>2.46</c:v>
                </c:pt>
                <c:pt idx="45">
                  <c:v>2.509</c:v>
                </c:pt>
                <c:pt idx="46">
                  <c:v>2.56</c:v>
                </c:pt>
                <c:pt idx="47">
                  <c:v>2.612</c:v>
                </c:pt>
                <c:pt idx="48">
                  <c:v>2.664</c:v>
                </c:pt>
                <c:pt idx="49">
                  <c:v>2.718</c:v>
                </c:pt>
                <c:pt idx="50">
                  <c:v>2.773</c:v>
                </c:pt>
                <c:pt idx="51">
                  <c:v>2.829</c:v>
                </c:pt>
                <c:pt idx="52">
                  <c:v>2.886</c:v>
                </c:pt>
                <c:pt idx="53">
                  <c:v>2.945</c:v>
                </c:pt>
                <c:pt idx="54">
                  <c:v>3.004</c:v>
                </c:pt>
                <c:pt idx="55">
                  <c:v>3.065</c:v>
                </c:pt>
                <c:pt idx="56">
                  <c:v>3.127</c:v>
                </c:pt>
                <c:pt idx="57">
                  <c:v>3.19</c:v>
                </c:pt>
                <c:pt idx="58">
                  <c:v>3.254</c:v>
                </c:pt>
                <c:pt idx="59">
                  <c:v>3.32</c:v>
                </c:pt>
                <c:pt idx="60">
                  <c:v>3.387</c:v>
                </c:pt>
                <c:pt idx="61">
                  <c:v>3.456</c:v>
                </c:pt>
                <c:pt idx="62">
                  <c:v>3.525</c:v>
                </c:pt>
                <c:pt idx="63">
                  <c:v>3.597</c:v>
                </c:pt>
                <c:pt idx="64">
                  <c:v>3.669</c:v>
                </c:pt>
                <c:pt idx="65">
                  <c:v>3.743</c:v>
                </c:pt>
                <c:pt idx="66">
                  <c:v>3.819</c:v>
                </c:pt>
                <c:pt idx="67">
                  <c:v>3.896</c:v>
                </c:pt>
                <c:pt idx="68">
                  <c:v>3.975</c:v>
                </c:pt>
                <c:pt idx="69">
                  <c:v>4.055</c:v>
                </c:pt>
                <c:pt idx="70">
                  <c:v>4.137</c:v>
                </c:pt>
                <c:pt idx="71">
                  <c:v>4.221</c:v>
                </c:pt>
                <c:pt idx="72">
                  <c:v>4.306</c:v>
                </c:pt>
                <c:pt idx="73">
                  <c:v>4.393</c:v>
                </c:pt>
                <c:pt idx="74">
                  <c:v>4.482</c:v>
                </c:pt>
                <c:pt idx="75">
                  <c:v>4.572</c:v>
                </c:pt>
                <c:pt idx="76">
                  <c:v>4.665</c:v>
                </c:pt>
                <c:pt idx="77">
                  <c:v>4.759</c:v>
                </c:pt>
                <c:pt idx="78">
                  <c:v>4.855</c:v>
                </c:pt>
                <c:pt idx="79">
                  <c:v>4.953</c:v>
                </c:pt>
                <c:pt idx="80">
                  <c:v>5.053</c:v>
                </c:pt>
                <c:pt idx="81">
                  <c:v>5.155</c:v>
                </c:pt>
                <c:pt idx="82">
                  <c:v>5.259</c:v>
                </c:pt>
                <c:pt idx="83">
                  <c:v>5.366</c:v>
                </c:pt>
                <c:pt idx="84">
                  <c:v>5.474</c:v>
                </c:pt>
                <c:pt idx="85">
                  <c:v>5.585</c:v>
                </c:pt>
                <c:pt idx="86">
                  <c:v>5.697</c:v>
                </c:pt>
                <c:pt idx="87">
                  <c:v>5.812</c:v>
                </c:pt>
                <c:pt idx="88">
                  <c:v>5.93</c:v>
                </c:pt>
                <c:pt idx="89">
                  <c:v>6.05</c:v>
                </c:pt>
                <c:pt idx="90">
                  <c:v>6.172</c:v>
                </c:pt>
                <c:pt idx="91">
                  <c:v>6.297</c:v>
                </c:pt>
                <c:pt idx="92">
                  <c:v>6.424</c:v>
                </c:pt>
                <c:pt idx="93">
                  <c:v>6.554</c:v>
                </c:pt>
                <c:pt idx="94">
                  <c:v>6.686</c:v>
                </c:pt>
                <c:pt idx="95">
                  <c:v>6.821</c:v>
                </c:pt>
                <c:pt idx="96">
                  <c:v>6.959</c:v>
                </c:pt>
                <c:pt idx="97">
                  <c:v>7.099</c:v>
                </c:pt>
                <c:pt idx="98">
                  <c:v>7.243</c:v>
                </c:pt>
                <c:pt idx="99">
                  <c:v>7.389</c:v>
                </c:pt>
                <c:pt idx="100">
                  <c:v>7.538</c:v>
                </c:pt>
                <c:pt idx="101">
                  <c:v>7.691</c:v>
                </c:pt>
                <c:pt idx="102">
                  <c:v>7.846</c:v>
                </c:pt>
                <c:pt idx="103">
                  <c:v>8.004</c:v>
                </c:pt>
                <c:pt idx="104">
                  <c:v>8.166</c:v>
                </c:pt>
                <c:pt idx="105">
                  <c:v>8.331</c:v>
                </c:pt>
                <c:pt idx="106">
                  <c:v>8.499</c:v>
                </c:pt>
                <c:pt idx="107">
                  <c:v>8.671</c:v>
                </c:pt>
                <c:pt idx="108">
                  <c:v>8.846</c:v>
                </c:pt>
                <c:pt idx="109">
                  <c:v>9.025</c:v>
                </c:pt>
                <c:pt idx="110">
                  <c:v>9.207</c:v>
                </c:pt>
                <c:pt idx="111">
                  <c:v>9.393</c:v>
                </c:pt>
                <c:pt idx="112">
                  <c:v>9.583</c:v>
                </c:pt>
                <c:pt idx="113">
                  <c:v>9.777</c:v>
                </c:pt>
                <c:pt idx="114">
                  <c:v>9.974</c:v>
                </c:pt>
                <c:pt idx="115">
                  <c:v>10.176</c:v>
                </c:pt>
                <c:pt idx="116">
                  <c:v>10.381</c:v>
                </c:pt>
                <c:pt idx="117">
                  <c:v>10.591</c:v>
                </c:pt>
                <c:pt idx="118">
                  <c:v>10.805</c:v>
                </c:pt>
                <c:pt idx="119">
                  <c:v>11.023</c:v>
                </c:pt>
                <c:pt idx="120">
                  <c:v>11.246</c:v>
                </c:pt>
                <c:pt idx="121">
                  <c:v>11.473</c:v>
                </c:pt>
                <c:pt idx="122">
                  <c:v>11.705</c:v>
                </c:pt>
                <c:pt idx="123">
                  <c:v>11.941</c:v>
                </c:pt>
                <c:pt idx="124">
                  <c:v>12.182</c:v>
                </c:pt>
                <c:pt idx="125">
                  <c:v>12.429</c:v>
                </c:pt>
                <c:pt idx="126">
                  <c:v>12.68</c:v>
                </c:pt>
                <c:pt idx="127">
                  <c:v>12.936</c:v>
                </c:pt>
                <c:pt idx="128">
                  <c:v>13.197</c:v>
                </c:pt>
                <c:pt idx="129">
                  <c:v>13.464</c:v>
                </c:pt>
                <c:pt idx="130">
                  <c:v>13.736</c:v>
                </c:pt>
                <c:pt idx="131">
                  <c:v>14.013</c:v>
                </c:pt>
                <c:pt idx="132">
                  <c:v>14.296</c:v>
                </c:pt>
                <c:pt idx="133">
                  <c:v>14.585</c:v>
                </c:pt>
                <c:pt idx="134">
                  <c:v>14.88</c:v>
                </c:pt>
                <c:pt idx="135">
                  <c:v>15.18</c:v>
                </c:pt>
                <c:pt idx="136">
                  <c:v>15.487</c:v>
                </c:pt>
                <c:pt idx="137">
                  <c:v>15.8</c:v>
                </c:pt>
                <c:pt idx="138">
                  <c:v>16.119</c:v>
                </c:pt>
                <c:pt idx="139">
                  <c:v>16.445</c:v>
                </c:pt>
                <c:pt idx="140">
                  <c:v>16.777</c:v>
                </c:pt>
                <c:pt idx="141">
                  <c:v>17.116</c:v>
                </c:pt>
                <c:pt idx="142">
                  <c:v>17.462</c:v>
                </c:pt>
                <c:pt idx="143">
                  <c:v>17.814</c:v>
                </c:pt>
                <c:pt idx="144">
                  <c:v>18.174</c:v>
                </c:pt>
                <c:pt idx="145">
                  <c:v>18.541</c:v>
                </c:pt>
                <c:pt idx="146">
                  <c:v>18.916</c:v>
                </c:pt>
                <c:pt idx="147">
                  <c:v>19.298</c:v>
                </c:pt>
                <c:pt idx="148">
                  <c:v>19.688</c:v>
                </c:pt>
                <c:pt idx="149">
                  <c:v>20.086</c:v>
                </c:pt>
                <c:pt idx="150">
                  <c:v>20.491</c:v>
                </c:pt>
                <c:pt idx="151">
                  <c:v>20.905</c:v>
                </c:pt>
                <c:pt idx="152">
                  <c:v>21.328</c:v>
                </c:pt>
                <c:pt idx="153">
                  <c:v>21.758</c:v>
                </c:pt>
                <c:pt idx="154">
                  <c:v>22.198</c:v>
                </c:pt>
                <c:pt idx="155">
                  <c:v>22.646</c:v>
                </c:pt>
                <c:pt idx="156">
                  <c:v>23.104</c:v>
                </c:pt>
                <c:pt idx="157">
                  <c:v>23.571</c:v>
                </c:pt>
                <c:pt idx="158">
                  <c:v>24.047</c:v>
                </c:pt>
                <c:pt idx="159">
                  <c:v>24.533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6B7F87"/>
                    </a:solidFill>
                    <a:latin typeface="Arial"/>
                  </a:defRPr>
                </a:pPr>
                <a:r>
                  <a:rPr sz="1200" b="0" i="0" u="none" strike="noStrike">
                    <a:solidFill>
                      <a:srgbClr val="6B7F87"/>
                    </a:solidFill>
                    <a:latin typeface="Arial"/>
                  </a:rPr>
                  <a:t>t</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B7F87"/>
                </a:solidFill>
                <a:latin typeface="+mn-lt"/>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6350" cap="flat">
              <a:solidFill>
                <a:srgbClr val="DDE3E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B7F87"/>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303F"/>
                </a:solidFill>
                <a:latin typeface="+mn-lt"/>
              </a:defRPr>
            </a:pPr>
            <a:r>
              <a:rPr sz="1400" b="0" i="0" u="none" strike="noStrike">
                <a:solidFill>
                  <a:srgbClr val="14303F"/>
                </a:solidFill>
                <a:latin typeface="+mn-lt"/>
              </a:rPr>
              <a:t>Triangular array: same trend, more observations</a:t>
            </a:r>
          </a:p>
        </c:rich>
      </c:tx>
      <c:layout/>
      <c:overlay val="0"/>
    </c:title>
    <c:autoTitleDeleted val="0"/>
    <c:plotArea>
      <c:layout/>
      <c:scatterChart>
        <c:scatterStyle val="lineMarker"/>
        <c:varyColors val="0"/>
        <c:ser>
          <c:idx val="0"/>
          <c:order val="0"/>
          <c:tx>
            <c:strRef>
              <c:f>Sheet1!$B$1</c:f>
              <c:strCache>
                <c:ptCount val="1"/>
                <c:pt idx="0">
                  <c:v>T = T* (10 shown)</c:v>
                </c:pt>
              </c:strCache>
            </c:strRef>
          </c:tx>
          <c:spPr>
            <a:solidFill>
              <a:srgbClr val="B5382C"/>
            </a:solidFill>
            <a:ln>
              <a:noFill/>
            </a:ln>
            <a:effectLst/>
          </c:spPr>
          <c:marker>
            <c:symbol val="circle"/>
            <c:size val="7"/>
            <c:spPr>
              <a:solidFill>
                <a:srgbClr val="B5382C"/>
              </a:solidFill>
              <a:ln w="9525" cap="flat">
                <a:solidFill>
                  <a:srgbClr val="B5382C"/>
                </a:solidFill>
                <a:prstDash val="solid"/>
                <a:round/>
              </a:ln>
              <a:effectLst/>
            </c:spPr>
          </c:marker>
          <c:xVal>
            <c:numRef>
              <c:f>Sheet1!$A$2:$A$41</c:f>
              <c:numCache>
                <c:formatCode>General</c:formatCode>
                <c:ptCount val="40"/>
                <c:pt idx="0">
                  <c:v>0.025</c:v>
                </c:pt>
                <c:pt idx="1">
                  <c:v>0.05</c:v>
                </c:pt>
                <c:pt idx="2">
                  <c:v>0.075</c:v>
                </c:pt>
                <c:pt idx="3">
                  <c:v>0.1</c:v>
                </c:pt>
                <c:pt idx="4">
                  <c:v>0.125</c:v>
                </c:pt>
                <c:pt idx="5">
                  <c:v>0.15</c:v>
                </c:pt>
                <c:pt idx="6">
                  <c:v>0.175</c:v>
                </c:pt>
                <c:pt idx="7">
                  <c:v>0.2</c:v>
                </c:pt>
                <c:pt idx="8">
                  <c:v>0.225</c:v>
                </c:pt>
                <c:pt idx="9">
                  <c:v>0.25</c:v>
                </c:pt>
                <c:pt idx="10">
                  <c:v>0.275</c:v>
                </c:pt>
                <c:pt idx="11">
                  <c:v>0.3</c:v>
                </c:pt>
                <c:pt idx="12">
                  <c:v>0.325</c:v>
                </c:pt>
                <c:pt idx="13">
                  <c:v>0.35</c:v>
                </c:pt>
                <c:pt idx="14">
                  <c:v>0.375</c:v>
                </c:pt>
                <c:pt idx="15">
                  <c:v>0.4</c:v>
                </c:pt>
                <c:pt idx="16">
                  <c:v>0.425</c:v>
                </c:pt>
                <c:pt idx="17">
                  <c:v>0.45</c:v>
                </c:pt>
                <c:pt idx="18">
                  <c:v>0.475</c:v>
                </c:pt>
                <c:pt idx="19">
                  <c:v>0.5</c:v>
                </c:pt>
                <c:pt idx="20">
                  <c:v>0.525</c:v>
                </c:pt>
                <c:pt idx="21">
                  <c:v>0.55</c:v>
                </c:pt>
                <c:pt idx="22">
                  <c:v>0.575</c:v>
                </c:pt>
                <c:pt idx="23">
                  <c:v>0.6</c:v>
                </c:pt>
                <c:pt idx="24">
                  <c:v>0.625</c:v>
                </c:pt>
                <c:pt idx="25">
                  <c:v>0.65</c:v>
                </c:pt>
                <c:pt idx="26">
                  <c:v>0.675</c:v>
                </c:pt>
                <c:pt idx="27">
                  <c:v>0.7</c:v>
                </c:pt>
                <c:pt idx="28">
                  <c:v>0.725</c:v>
                </c:pt>
                <c:pt idx="29">
                  <c:v>0.75</c:v>
                </c:pt>
                <c:pt idx="30">
                  <c:v>0.775</c:v>
                </c:pt>
                <c:pt idx="31">
                  <c:v>0.8</c:v>
                </c:pt>
                <c:pt idx="32">
                  <c:v>0.825</c:v>
                </c:pt>
                <c:pt idx="33">
                  <c:v>0.85</c:v>
                </c:pt>
                <c:pt idx="34">
                  <c:v>0.875</c:v>
                </c:pt>
                <c:pt idx="35">
                  <c:v>0.9</c:v>
                </c:pt>
                <c:pt idx="36">
                  <c:v>0.925</c:v>
                </c:pt>
                <c:pt idx="37">
                  <c:v>0.95</c:v>
                </c:pt>
                <c:pt idx="38">
                  <c:v>0.975</c:v>
                </c:pt>
                <c:pt idx="39">
                  <c:v>1</c:v>
                </c:pt>
              </c:numCache>
            </c:numRef>
          </c:xVal>
          <c:yVal>
            <c:numRef>
              <c:f>Sheet1!$B$2:$B$41</c:f>
              <c:numCache>
                <c:formatCode>General</c:formatCode>
                <c:ptCount val="40"/>
                <c:pt idx="0">
                  <c:v/>
                </c:pt>
                <c:pt idx="1">
                  <c:v/>
                </c:pt>
                <c:pt idx="2">
                  <c:v/>
                </c:pt>
                <c:pt idx="3">
                  <c:v>1.083</c:v>
                </c:pt>
                <c:pt idx="4">
                  <c:v/>
                </c:pt>
                <c:pt idx="5">
                  <c:v/>
                </c:pt>
                <c:pt idx="6">
                  <c:v/>
                </c:pt>
                <c:pt idx="7">
                  <c:v>1.174</c:v>
                </c:pt>
                <c:pt idx="8">
                  <c:v/>
                </c:pt>
                <c:pt idx="9">
                  <c:v/>
                </c:pt>
                <c:pt idx="10">
                  <c:v/>
                </c:pt>
                <c:pt idx="11">
                  <c:v>1.271</c:v>
                </c:pt>
                <c:pt idx="12">
                  <c:v/>
                </c:pt>
                <c:pt idx="13">
                  <c:v/>
                </c:pt>
                <c:pt idx="14">
                  <c:v/>
                </c:pt>
                <c:pt idx="15">
                  <c:v>1.377</c:v>
                </c:pt>
                <c:pt idx="16">
                  <c:v/>
                </c:pt>
                <c:pt idx="17">
                  <c:v/>
                </c:pt>
                <c:pt idx="18">
                  <c:v/>
                </c:pt>
                <c:pt idx="19">
                  <c:v>1.492</c:v>
                </c:pt>
                <c:pt idx="20">
                  <c:v/>
                </c:pt>
                <c:pt idx="21">
                  <c:v/>
                </c:pt>
                <c:pt idx="22">
                  <c:v/>
                </c:pt>
                <c:pt idx="23">
                  <c:v>1.616</c:v>
                </c:pt>
                <c:pt idx="24">
                  <c:v/>
                </c:pt>
                <c:pt idx="25">
                  <c:v/>
                </c:pt>
                <c:pt idx="26">
                  <c:v/>
                </c:pt>
                <c:pt idx="27">
                  <c:v>1.751</c:v>
                </c:pt>
                <c:pt idx="28">
                  <c:v/>
                </c:pt>
                <c:pt idx="29">
                  <c:v/>
                </c:pt>
                <c:pt idx="30">
                  <c:v/>
                </c:pt>
                <c:pt idx="31">
                  <c:v>1.896</c:v>
                </c:pt>
                <c:pt idx="32">
                  <c:v/>
                </c:pt>
                <c:pt idx="33">
                  <c:v/>
                </c:pt>
                <c:pt idx="34">
                  <c:v/>
                </c:pt>
                <c:pt idx="35">
                  <c:v>2.054</c:v>
                </c:pt>
                <c:pt idx="36">
                  <c:v/>
                </c:pt>
                <c:pt idx="37">
                  <c:v/>
                </c:pt>
                <c:pt idx="38">
                  <c:v/>
                </c:pt>
                <c:pt idx="39">
                  <c:v>2.226</c:v>
                </c:pt>
              </c:numCache>
            </c:numRef>
          </c:yVal>
          <c:smooth val="0"/>
        </c:ser>
        <c:ser>
          <c:idx val="1"/>
          <c:order val="1"/>
          <c:tx>
            <c:strRef>
              <c:f>Sheet1!$C$1</c:f>
              <c:strCache>
                <c:ptCount val="1"/>
                <c:pt idx="0">
                  <c:v>T = 4T*</c:v>
                </c:pt>
              </c:strCache>
            </c:strRef>
          </c:tx>
          <c:spPr>
            <a:solidFill>
              <a:srgbClr val="2F6F7E"/>
            </a:solidFill>
            <a:ln>
              <a:noFill/>
            </a:ln>
            <a:effectLst/>
          </c:spPr>
          <c:marker>
            <c:symbol val="circle"/>
            <c:size val="7"/>
            <c:spPr>
              <a:solidFill>
                <a:srgbClr val="2F6F7E"/>
              </a:solidFill>
              <a:ln w="9525" cap="flat">
                <a:solidFill>
                  <a:srgbClr val="2F6F7E"/>
                </a:solidFill>
                <a:prstDash val="solid"/>
                <a:round/>
              </a:ln>
              <a:effectLst/>
            </c:spPr>
          </c:marker>
          <c:xVal>
            <c:numRef>
              <c:f>Sheet1!$A$2:$A$41</c:f>
              <c:numCache>
                <c:formatCode>General</c:formatCode>
                <c:ptCount val="40"/>
                <c:pt idx="0">
                  <c:v>0.025</c:v>
                </c:pt>
                <c:pt idx="1">
                  <c:v>0.05</c:v>
                </c:pt>
                <c:pt idx="2">
                  <c:v>0.075</c:v>
                </c:pt>
                <c:pt idx="3">
                  <c:v>0.1</c:v>
                </c:pt>
                <c:pt idx="4">
                  <c:v>0.125</c:v>
                </c:pt>
                <c:pt idx="5">
                  <c:v>0.15</c:v>
                </c:pt>
                <c:pt idx="6">
                  <c:v>0.175</c:v>
                </c:pt>
                <c:pt idx="7">
                  <c:v>0.2</c:v>
                </c:pt>
                <c:pt idx="8">
                  <c:v>0.225</c:v>
                </c:pt>
                <c:pt idx="9">
                  <c:v>0.25</c:v>
                </c:pt>
                <c:pt idx="10">
                  <c:v>0.275</c:v>
                </c:pt>
                <c:pt idx="11">
                  <c:v>0.3</c:v>
                </c:pt>
                <c:pt idx="12">
                  <c:v>0.325</c:v>
                </c:pt>
                <c:pt idx="13">
                  <c:v>0.35</c:v>
                </c:pt>
                <c:pt idx="14">
                  <c:v>0.375</c:v>
                </c:pt>
                <c:pt idx="15">
                  <c:v>0.4</c:v>
                </c:pt>
                <c:pt idx="16">
                  <c:v>0.425</c:v>
                </c:pt>
                <c:pt idx="17">
                  <c:v>0.45</c:v>
                </c:pt>
                <c:pt idx="18">
                  <c:v>0.475</c:v>
                </c:pt>
                <c:pt idx="19">
                  <c:v>0.5</c:v>
                </c:pt>
                <c:pt idx="20">
                  <c:v>0.525</c:v>
                </c:pt>
                <c:pt idx="21">
                  <c:v>0.55</c:v>
                </c:pt>
                <c:pt idx="22">
                  <c:v>0.575</c:v>
                </c:pt>
                <c:pt idx="23">
                  <c:v>0.6</c:v>
                </c:pt>
                <c:pt idx="24">
                  <c:v>0.625</c:v>
                </c:pt>
                <c:pt idx="25">
                  <c:v>0.65</c:v>
                </c:pt>
                <c:pt idx="26">
                  <c:v>0.675</c:v>
                </c:pt>
                <c:pt idx="27">
                  <c:v>0.7</c:v>
                </c:pt>
                <c:pt idx="28">
                  <c:v>0.725</c:v>
                </c:pt>
                <c:pt idx="29">
                  <c:v>0.75</c:v>
                </c:pt>
                <c:pt idx="30">
                  <c:v>0.775</c:v>
                </c:pt>
                <c:pt idx="31">
                  <c:v>0.8</c:v>
                </c:pt>
                <c:pt idx="32">
                  <c:v>0.825</c:v>
                </c:pt>
                <c:pt idx="33">
                  <c:v>0.85</c:v>
                </c:pt>
                <c:pt idx="34">
                  <c:v>0.875</c:v>
                </c:pt>
                <c:pt idx="35">
                  <c:v>0.9</c:v>
                </c:pt>
                <c:pt idx="36">
                  <c:v>0.925</c:v>
                </c:pt>
                <c:pt idx="37">
                  <c:v>0.95</c:v>
                </c:pt>
                <c:pt idx="38">
                  <c:v>0.975</c:v>
                </c:pt>
                <c:pt idx="39">
                  <c:v>1</c:v>
                </c:pt>
              </c:numCache>
            </c:numRef>
          </c:xVal>
          <c:yVal>
            <c:numRef>
              <c:f>Sheet1!$C$2:$C$41</c:f>
              <c:numCache>
                <c:formatCode>General</c:formatCode>
                <c:ptCount val="40"/>
                <c:pt idx="0">
                  <c:v>1.02</c:v>
                </c:pt>
                <c:pt idx="1">
                  <c:v>1.041</c:v>
                </c:pt>
                <c:pt idx="2">
                  <c:v>1.062</c:v>
                </c:pt>
                <c:pt idx="3">
                  <c:v>1.083</c:v>
                </c:pt>
                <c:pt idx="4">
                  <c:v>1.105</c:v>
                </c:pt>
                <c:pt idx="5">
                  <c:v>1.127</c:v>
                </c:pt>
                <c:pt idx="6">
                  <c:v>1.15</c:v>
                </c:pt>
                <c:pt idx="7">
                  <c:v>1.174</c:v>
                </c:pt>
                <c:pt idx="8">
                  <c:v>1.197</c:v>
                </c:pt>
                <c:pt idx="9">
                  <c:v>1.221</c:v>
                </c:pt>
                <c:pt idx="10">
                  <c:v>1.246</c:v>
                </c:pt>
                <c:pt idx="11">
                  <c:v>1.271</c:v>
                </c:pt>
                <c:pt idx="12">
                  <c:v>1.297</c:v>
                </c:pt>
                <c:pt idx="13">
                  <c:v>1.323</c:v>
                </c:pt>
                <c:pt idx="14">
                  <c:v>1.35</c:v>
                </c:pt>
                <c:pt idx="15">
                  <c:v>1.377</c:v>
                </c:pt>
                <c:pt idx="16">
                  <c:v>1.405</c:v>
                </c:pt>
                <c:pt idx="17">
                  <c:v>1.433</c:v>
                </c:pt>
                <c:pt idx="18">
                  <c:v>1.462</c:v>
                </c:pt>
                <c:pt idx="19">
                  <c:v>1.492</c:v>
                </c:pt>
                <c:pt idx="20">
                  <c:v>1.522</c:v>
                </c:pt>
                <c:pt idx="21">
                  <c:v>1.553</c:v>
                </c:pt>
                <c:pt idx="22">
                  <c:v>1.584</c:v>
                </c:pt>
                <c:pt idx="23">
                  <c:v>1.616</c:v>
                </c:pt>
                <c:pt idx="24">
                  <c:v>1.649</c:v>
                </c:pt>
                <c:pt idx="25">
                  <c:v>1.682</c:v>
                </c:pt>
                <c:pt idx="26">
                  <c:v>1.716</c:v>
                </c:pt>
                <c:pt idx="27">
                  <c:v>1.751</c:v>
                </c:pt>
                <c:pt idx="28">
                  <c:v>1.786</c:v>
                </c:pt>
                <c:pt idx="29">
                  <c:v>1.822</c:v>
                </c:pt>
                <c:pt idx="30">
                  <c:v>1.859</c:v>
                </c:pt>
                <c:pt idx="31">
                  <c:v>1.896</c:v>
                </c:pt>
                <c:pt idx="32">
                  <c:v>1.935</c:v>
                </c:pt>
                <c:pt idx="33">
                  <c:v>1.974</c:v>
                </c:pt>
                <c:pt idx="34">
                  <c:v>2.014</c:v>
                </c:pt>
                <c:pt idx="35">
                  <c:v>2.054</c:v>
                </c:pt>
                <c:pt idx="36">
                  <c:v>2.096</c:v>
                </c:pt>
                <c:pt idx="37">
                  <c:v>2.138</c:v>
                </c:pt>
                <c:pt idx="38">
                  <c:v>2.181</c:v>
                </c:pt>
                <c:pt idx="39">
                  <c:v>2.226</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
          <c:min val="0"/>
        </c:scaling>
        <c:delete val="0"/>
        <c:axPos val="b"/>
        <c:numFmt formatCode="General" sourceLinked="1"/>
        <c:majorTickMark val="none"/>
        <c:minorTickMark val="none"/>
        <c:tickLblPos val="nextTo"/>
        <c:spPr>
          <a:ln w="12700" cap="flat">
            <a:solidFill>
              <a:srgbClr val="888888"/>
            </a:solidFill>
            <a:prstDash val="solid"/>
            <a:round/>
          </a:ln>
        </c:spPr>
        <c:txPr>
          <a:bodyPr/>
          <a:lstStyle/>
          <a:p>
            <a:pPr>
              <a:defRPr sz="1200" b="0" i="0" u="none" strike="noStrike">
                <a:solidFill>
                  <a:srgbClr val="6B7F87"/>
                </a:solidFill>
                <a:latin typeface="+mn-lt"/>
              </a:defRPr>
            </a:pPr>
            <a:endParaRPr lang="en-US"/>
          </a:p>
        </c:txPr>
        <c:crossAx val="2094734552"/>
        <c:crosses val="autoZero"/>
        <c:auto val="1"/>
        <c:lblAlgn val="ctr"/>
        <c:noMultiLvlLbl val="1"/>
      </c:valAx>
      <c:valAx>
        <c:axId val="2094734552"/>
        <c:scaling>
          <c:orientation val="minMax"/>
          <c:max val="25"/>
          <c:min val="0"/>
        </c:scaling>
        <c:delete val="0"/>
        <c:axPos val="l"/>
        <c:majorGridlines>
          <c:spPr>
            <a:ln w="6350" cap="flat">
              <a:solidFill>
                <a:srgbClr val="DDE3E6"/>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200" b="0" i="0" u="none" strike="noStrike">
                <a:solidFill>
                  <a:srgbClr val="6B7F87"/>
                </a:solidFill>
                <a:latin typeface="+mn-lt"/>
              </a:defRPr>
            </a:pPr>
            <a:endParaRPr lang="en-US"/>
          </a:p>
        </c:txPr>
        <c:crossAx val="2094734554"/>
        <c:crosses val="autoZero"/>
        <c:crossBetween val="midCat"/>
      </c:valAx>
      <c:spPr>
        <a:noFill/>
        <a:ln>
          <a:noFill/>
        </a:ln>
        <a:effectLst/>
      </c:spPr>
    </c:plotArea>
    <c:legend>
      <c:legendPos val="b"/>
      <c:overlay val="0"/>
      <c:txPr>
        <a:bodyPr/>
        <a:lstStyle/>
        <a:p>
          <a:pPr>
            <a:defRPr sz="1200">
              <a:solidFill>
                <a:srgbClr val="1F2A3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Kia ora koutou. Thank Martien and the WSBG doctoral programme for the invitation.
Framing: Martien's invitation said many of you wonder how to keep an active research career while making a difference in policy. This talk is my answer, told through three stages of my own career.
Timing guide (45 min slot from 9:30): ~30 minutes talk, ~15 minutes questions.
VISUAL SUGGESTION: a personal photo here works well, e.g. a photo from Yale (graduation or Cowles Foundation building), or a Wellington harbour shot to anchor it locally. Place it on the right third of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question from the invitation. It's a good question, and it doesn't have a single answer, so I'll tell it as three acts.
Act 1: the technical foundation, my PhD at Yale.
Act 2: twenty-five years in policy institutions, at the IMF and the Reserve Bank, and how research survived there, largely through co-authors.
Act 3: leading research organisations, Motu and IRANZ.
I'll come back at the end with a few lessons. (Lessons slide to be finalised.)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tour of the career. The point to make: it looks like a zig-zag between research and policy, but the thread is the same throughout. Applied time-series econometrics in the service of real questions.
Also mention: Adjunct Professor at Victoria 2007–2023, IMF visiting scholar 1999–2003 and IMF short-term expert 2023–25. The academic link never fully broke, even as Assistant Governor.
VISUAL SUGGESTION: replace or supplement dots with small logos (Auckland, RBNZ, Yale, IMF, VUW, Motu). Check logo-use permissions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Let me start in New Haven in 1990.
Photo: Sterling Memorial Library from Cross Campus (Carol M. Highsmith Archive, Library of Congress; public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Yale mattered: the training was about rigour, about proving that the methods we use give the right answers, not just running them.
Working with Don Andrews taught me how theorists think: precise assumptions, clean results, and an obsession with whether approximations are actually good approximations.
Mention the 1989 NZ Young Economist Prize and the Auckland background briefly if time allows.
The diploma is in Latin: "Philosophiae Doctoris", conferred 10 December 1994 (A.D. IV Id. Dec. MCMXCIV), signed by President Richard C. Levin, and presented at Commencement in May 1995. A light moment: few of us can read our own diplomas.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room of PhD students, it's worth spending two or three minutes here.
The setting: most macro and many financial variables trend. In nonlinear models (estimated by GMM, say) with trending regressors, the usual approach lets the sample size go to infinity with the trend continuing on. That causes three problems:
1. The trend gets infinitely large, which doesn't look like the finite sample we have, especially if the trend is small relative to the noise.
2. With an exponential trend in levels, the Lindeberg condition fails, so no central limit theorem, even though a normal approximation is perfectly sensible when b is small.
3. The asymptotics depend on how the trend behaves far outside the sample, and that is irrelevant to the data in hand.
The question: can we justify using the standard toolkit (normal and chi-squared)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move. Instead of extending the sample forward in time, embed it in a triangular array: rescale time by T*/T. At T = T*, you get exactly your data. As T grows, you see the same trend shape on a finer grid.
Four properties: (i) only the trend within the sample matters; (ii) the trend's shape is mimicked in the limit; (iii) the trend's magnitude stays bounded; (iv) standard LLNs and CLTs for triangular arrays apply, so the familiar proofs go through.
Left chart: standard asymptotics. The trend runs away from what we see in a sample of 40.
Right chart: triangular array. Same range, same shape, just more points.
Note for students: the chart is illustrative, not from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punchline of the paper: estimators are asymptotically normal and test statistics are asymptotically chi-squared, just as with non-trending variables. The covariance matrix V does depend on the trend, but you don't need to know its form, because standard covariance estimators are consistent anyway.
So the paper provides a justification for doing what applied economists were already doing, and tells them when it's safe.
Bridge to Act 2: The habit this paper built, asking whether your approximation fits the problem in front of you, is exactly what a policy institution needs. Is this shock temporary or permanent? Is this trend real? Has the economy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 left Yale for the IMF in Washington, then returned to the Reserve Bank.
Photo: IMF headquarters (HQ1), 19th Street, Washington DC. From Wikimedia Commons under a free licence (VRT ticket #2007052110013541).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advantage of a strong technical background in a policy institution: you can recognise the econometric question hiding inside the policy question, and you know the limits of the answer.
These three questions recur through my work at the IMF and the RBNZ, and they map onto the two bodies of work I'll describe next.
- Temporary vs permanent: commodity price shocks (Cashin).
- Trend vs noise: the long-run behaviour of commodity prices (Cashin).
- Has the economy changed: the business cycle before and after the GFC (Hall).
The credibility point: as Assistant Governor, being able to interrogate the staff's models, and to be trusted by them, came directly from having done the work myself.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body of work with Paul Cashin, started at the IMF and continued for a decade after I returned to New Zealand.
The common thread is the same Act 1 question: what is trend, what is cycle, and how persistent are shocks?
- Long-run behaviour of commodity prices (IMF Staff Papers 2002): using The Economist's index back to 1862, real prices fell about 1% a year, with little evidence of a break. But the trend is tiny next to the variability, which increased in the early 1900s and became more frequent after the early-1970s collapse of Bretton Woods.
- Booms and slumps (J. Development Economics 2002, with Scott): slumps last longer than booms; prices fall slightly further in slumps than they recover in booms; no duration dependence.
- How persistent are shocks (IMF Staff Papers 2000, with Liang): shocks are typically long-lasting, so commodity stabilisation schemes are unlikely to pay off. That was a live policy debate for developing countries.
- PPP and real exchange rates (IMF Staff Papers 2003, 2006): support for PPP over 90 countries; faster reversion for developed countries and floating regimes.
- Current account and terms of trade: Australia, France, five industrial countries, and the 2002 Open Economies Review prize; plus Australia's dependence on wool ("Riding on the sheep's back").
Why this matters for you: this work was done alongside full-time policy jobs. The co-authorship made it possible.
VISUAL SUGGESTION: if you have the Economist commodity index data (or the IMF paper's Figure 1), a long-run chart of real commodity prices 1862–1999 would be striking here. Or use a photo of you and Paul.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body of work with Viv Hall: nine journal articles from 2004 to 2020, including Econometric Theory (2009) and Economic Record (2011).
The arc is a model for a research programme:
1. Build the data. You can't study NZ's post-war cycle with quarterly GDP that starts in 1977 (official chain-linked only from 1987). We built a quarterly series from 1947 by temporally disaggregating annual GDP using the Haywood–Campbell diffusion indexes (NZEP 2011).
2. Date the cycle. Classical turning points with the Bry–Boschan algorithm: nine recessions; GDP and employment cycles associated about 90% of the time; strength of recovery independent of the depth, duration or severity of the recession (NZEP 2016). Also regional cycles (Papers in Regional Science 2007) and unobserved-components cycles (Economic Record 2011).
3. Test policy options. Would NZ be better off with the Australian dollar? The region-specific cycles dominate the common cycle, which is consistent with NZ keeping its own currency and monetary policy (Economic Modelling 2004; NZEP 2012).
4. Ask what changed. A small open economy New Keynesian model pre- and post-GFC: the economy has become less interest-rate sensitive, so monetary policy needs to act more strongly, and lower neutral rates created transitional dynamics (NZEP 2020). Also post-GFC business insolvency rates (NZEP 2019).
This was directly useful at the RBNZ: turning-point dates and recession facts are inputs into forecasting and policy communication.
The next slide shows the quarterly real GDP series with recessions shaded.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payoff from building the data: a quarterly real GDP series long enough to date New Zealand's classical business cycles, with recessions shaded.
Points to draw out:
- Expansions are long and recessions short, which is the asymmetry that linear forecasting models struggle to capture.
- The late-1980s/early-1990s episodes during reform and disinflation.
- The GFC recession (2007–09), and how the recovery afterwards was slower.
- The series has been extended beyond the 2016 paper to include the COVID-19 contraction in 2020 and the 2023–24 recession.
Source: Hall and McDermott (2016), "Recessions and recoveries in New Zealand's post-Second World War business cycles", NZEP 50(3), 261–280, with the series updated.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answer to the colloquium's question: I could not have kept publishing through 25 years of policy jobs on my own. Co-authors made it possible.
Paul Cashin: we met at the IMF and kept writing for a decade across Washington and Wellington.
Viv Hall: Victoria (and my adjunct role at VUW 2007–2023) gave a home for a 15-year business cycle programme while I was at the RBNZ.
Others: Pierre-Richard Agénor and Eswar Prasad (stylised facts of developing-country fluctuations, World Bank Economic Review 2000), RBNZ colleagues (Ozer Karagedikli, Michelle Lewis, Aaron Drew), Renée Fry-McKibbin (RBA/RBNZ inflation targeting chapter).
Advice for students: choose co-authors for complementarity and for the long run. Some of your best future co-authors are probably in this room.
VISUAL SUGGESTION: photos of Paul Cashin and Viv Hall (with permission) in place of the coloured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 2019 I left the Reserve Bank to lead Motu. The job changed from doing research to making it possible for others.
Photo: Motu's office above Cuba Mall, behind Wellington's Bucket Fountain (1969). Photo by Hannah Griffin, Motu. A local landmark many students will recognise; a light opener: "If you've ever been splashed walking down Cuba Mall, you've walked past Motu."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Motu: founded in 2000 as an independent, non-partisan charitable trust (founding trustees included Sir Geoffrey Palmer). Areas include climate change and emissions trading, land use, productivity and innovation, wellbeing, and housing.
Motu today: 20 staff. The Senior Fellows determine their own research agendas; my role is to lead the organisation and to disseminate the research so that it improves the policy debate in New Zealand.
Leadership reflection: the shift from doing research to creating the conditions for it, including funding, independence and the translation of research into policy.
My own research hasn't stopped (e.g. the Hall 2020 paper was written from Motu, and IMF short-term expert work 2023–25), but the main contribution is now through others.
OPTIONAL: add one Motu project story with clear policy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IRANZ: the association of New Zealand's 28 independent research organisations. As Chair since 2021, I help communicate the importance of independent research to policymakers, which matters especially now that the science and research system is undergoing a substantial review.
Point for students: there's a third career path between universities and government. Independent research organisations hire PhDs and offer research careers with direct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lessons, one from each act.
1. Invest deeply in foundations (Act 1). At Yale I had to learn techniques like cross-validation and gradient descent properly, from first principles. In the early 1990s nobody could have predicted they would become central to modern AI models. But deep foundations keep paying off in ways you can't foresee. Today Motu is building its own AI models, and knowing how these methods actually work matters. Your methods training may pay off in ways you can't foresee.
2. Co-authors are research infrastructure (Act 2). The research survived 25 years of policy jobs because of Paul Cashin and Viv Hall. Pick co-authors for complementary skills and invest in the relationship for the long run.
3. Let policy and research shape each other (Acts 2 and 3). The most useful research questions came from policy, and the most useful policy contributions came from research discipline. At Motu, this is what dissemination means: getting good research into the policy debate.
Hold for Q&amp;A: research careers beyond academia (central banks, the IMF, independent research organisations such as the 28 IRANZ 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~15 minutes for questions.
Possible questions to prepare for:
- How did you protect research time as Assistant Governor?
- Would you do a PhD overseas again?
- How do you pick research questions with policy relevance?
- What do independent research organisations look for when hiring PhDs?
- Careers beyond academia: central banks, the IMF, and independent research organisations (28 IRANZ members) all hire PhDs and offer research careers with direct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73736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800" dirty="0"/>
          </a:p>
        </p:txBody>
      </p:sp>
      <p:sp>
        <p:nvSpPr>
          <p:cNvPr id="3" name="Text 0"/>
          <p:cNvSpPr/>
          <p:nvPr>
            <p:ph idx="101" type="body" hasCustomPrompt="1"/>
          </p:nvPr>
        </p:nvSpPr>
        <p:spPr>
          <a:xfrm>
            <a:off x="731520" y="3611880"/>
            <a:ext cx="10698480" cy="822960"/>
          </a:xfrm>
          <a:prstGeom prst="rect">
            <a:avLst/>
          </a:prstGeom>
          <a:noFill/>
          <a:ln/>
        </p:spPr>
        <p:txBody>
          <a:bodyPr wrap="square" rtlCol="0"/>
          <a:lstStyle>
            <a:lvl1pPr indent="0" marL="0">
              <a:buNone/>
              <a:defRPr lang="en-US" sz="2200" dirty="0">
                <a:solidFill>
                  <a:schemeClr val="accent5"/>
                </a:solidFill>
              </a:defRPr>
            </a:lvl1pPr>
          </a:lstStyle>
          <a:p>
            <a:pPr indent="0" marL="0">
              <a:buNone/>
            </a:pPr>
            <a:endParaRPr lang="en-US" sz="2200" dirty="0"/>
          </a:p>
        </p:txBody>
      </p:sp>
      <p:sp>
        <p:nvSpPr>
          <p:cNvPr id="4" name="Text 0"/>
          <p:cNvSpPr/>
          <p:nvPr>
            <p:ph idx="102" type="body" hasCustomPrompt="1"/>
          </p:nvPr>
        </p:nvSpPr>
        <p:spPr>
          <a:xfrm>
            <a:off x="731520" y="5120640"/>
            <a:ext cx="10698480" cy="1005840"/>
          </a:xfrm>
          <a:prstGeom prst="rect">
            <a:avLst/>
          </a:prstGeom>
          <a:noFill/>
          <a:ln/>
        </p:spPr>
        <p:txBody>
          <a:bodyPr wrap="square" rtlCol="0"/>
          <a:lstStyle>
            <a:lvl1pPr indent="0" marL="0">
              <a:buNone/>
              <a:defRPr lang="en-US" sz="1600" dirty="0">
                <a:solidFill>
                  <a:schemeClr val="bg1"/>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Split">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63040"/>
            <a:ext cx="6035040" cy="548640"/>
          </a:xfrm>
          <a:prstGeom prst="rect">
            <a:avLst/>
          </a:prstGeom>
          <a:noFill/>
          <a:ln/>
        </p:spPr>
        <p:txBody>
          <a:bodyPr wrap="square" rtlCol="0"/>
          <a:lstStyle>
            <a:lvl1pPr indent="0" marL="0">
              <a:buNone/>
              <a:defRPr lang="en-US" sz="1800" b="1" dirty="0">
                <a:solidFill>
                  <a:schemeClr val="accent3"/>
                </a:solidFill>
              </a:defRPr>
            </a:lvl1pPr>
          </a:lstStyle>
          <a:p>
            <a:pPr indent="0" marL="0">
              <a:buNone/>
            </a:pPr>
            <a:endParaRPr lang="en-US" sz="1800" dirty="0"/>
          </a:p>
        </p:txBody>
      </p:sp>
      <p:sp>
        <p:nvSpPr>
          <p:cNvPr id="3" name="Text 0"/>
          <p:cNvSpPr/>
          <p:nvPr>
            <p:ph idx="101" type="title" hasCustomPrompt="1"/>
          </p:nvPr>
        </p:nvSpPr>
        <p:spPr>
          <a:xfrm>
            <a:off x="731520" y="2057400"/>
            <a:ext cx="6035040" cy="18288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4" name="Text 0"/>
          <p:cNvSpPr/>
          <p:nvPr>
            <p:ph idx="102" type="body" hasCustomPrompt="1"/>
          </p:nvPr>
        </p:nvSpPr>
        <p:spPr>
          <a:xfrm>
            <a:off x="731520" y="4023360"/>
            <a:ext cx="5852160" cy="128016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828800"/>
            <a:ext cx="10698480" cy="548640"/>
          </a:xfrm>
          <a:prstGeom prst="rect">
            <a:avLst/>
          </a:prstGeom>
          <a:noFill/>
          <a:ln/>
        </p:spPr>
        <p:txBody>
          <a:bodyPr wrap="square" rtlCol="0"/>
          <a:lstStyle>
            <a:lvl1pPr indent="0" marL="0">
              <a:buNone/>
              <a:defRPr lang="en-US" sz="1800" b="1" dirty="0">
                <a:solidFill>
                  <a:schemeClr val="accent3"/>
                </a:solidFill>
              </a:defRPr>
            </a:lvl1pPr>
          </a:lstStyle>
          <a:p>
            <a:pPr indent="0" marL="0">
              <a:buNone/>
            </a:pPr>
            <a:endParaRPr lang="en-US" sz="1800" dirty="0"/>
          </a:p>
        </p:txBody>
      </p:sp>
      <p:sp>
        <p:nvSpPr>
          <p:cNvPr id="3" name="Text 0"/>
          <p:cNvSpPr/>
          <p:nvPr>
            <p:ph idx="101" type="title" hasCustomPrompt="1"/>
          </p:nvPr>
        </p:nvSpPr>
        <p:spPr>
          <a:xfrm>
            <a:off x="731520" y="2423160"/>
            <a:ext cx="10698480" cy="118872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4" name="Text 0"/>
          <p:cNvSpPr/>
          <p:nvPr>
            <p:ph idx="102" type="body" hasCustomPrompt="1"/>
          </p:nvPr>
        </p:nvSpPr>
        <p:spPr>
          <a:xfrm>
            <a:off x="731520" y="3749040"/>
            <a:ext cx="10058400" cy="1097280"/>
          </a:xfrm>
          <a:prstGeom prst="rect">
            <a:avLst/>
          </a:prstGeom>
          <a:noFill/>
          <a:ln/>
        </p:spPr>
        <p:txBody>
          <a:bodyPr wrap="square" rtlCol="0"/>
          <a:lstStyle>
            <a:lvl1pPr indent="0" marL="0">
              <a:buNone/>
              <a:defRPr lang="en-US" sz="2000" dirty="0">
                <a:solidFill>
                  <a:schemeClr val="accent5"/>
                </a:solidFill>
              </a:defRPr>
            </a:lvl1pPr>
          </a:lstStyle>
          <a:p>
            <a:pPr indent="0" marL="0">
              <a:buNone/>
            </a:pPr>
            <a:endParaRPr lang="en-US" sz="2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4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nvSpPr>
        <p:spPr>
          <a:xfrm>
            <a:off x="548640" y="6355080"/>
            <a:ext cx="8229600" cy="320040"/>
          </a:xfrm>
          <a:prstGeom prst="rect">
            <a:avLst/>
          </a:prstGeom>
          <a:noFill/>
          <a:ln/>
        </p:spPr>
        <p:txBody>
          <a:bodyPr wrap="square" lIns="0" tIns="0" rIns="0" bIns="0" rtlCol="0" anchor="ctr"/>
          <a:lstStyle/>
          <a:p>
            <a:pPr indent="0" marL="0">
              <a:buNone/>
            </a:pPr>
            <a:r>
              <a:rPr lang="en-US" sz="1000" dirty="0">
                <a:solidFill>
                  <a:schemeClr val="accent4"/>
                </a:solidFill>
              </a:rPr>
              <a:t>WSBG Doctoral Colloquium  ·  Rutherford House  ·  30 October 2026</a:t>
            </a:r>
            <a:endParaRPr lang="en-US" sz="10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5.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5.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5.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5.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5.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5.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5.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5.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5.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5.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737360"/>
          </a:xfrm>
          <a:prstGeom prst="rect">
            <a:avLst/>
          </a:prstGeom>
          <a:noFill/>
          <a:ln/>
        </p:spPr>
        <p:txBody>
          <a:bodyPr wrap="square"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Rigour, Relevance and Relationships</a:t>
            </a:r>
            <a:endParaRPr lang="en-US" sz="4800" dirty="0"/>
          </a:p>
        </p:txBody>
      </p:sp>
      <p:sp>
        <p:nvSpPr>
          <p:cNvPr id="3" name="Text 0"/>
          <p:cNvSpPr/>
          <p:nvPr>
            <p:ph idx="101" type="body" hasCustomPrompt="1"/>
          </p:nvPr>
        </p:nvSpPr>
        <p:spPr>
          <a:xfrm>
            <a:off x="731520" y="3611880"/>
            <a:ext cx="10698480" cy="822960"/>
          </a:xfrm>
          <a:prstGeom prst="rect">
            <a:avLst/>
          </a:prstGeom>
          <a:noFill/>
          <a:ln/>
        </p:spPr>
        <p:txBody>
          <a:bodyPr wrap="square" rtlCol="0" anchor="t"/>
          <a:lstStyle/>
          <a:p>
            <a:pPr indent="0" marL="0">
              <a:buNone/>
            </a:pPr>
            <a:r>
              <a:rPr lang="en-US" sz="2200" dirty="0">
                <a:solidFill>
                  <a:schemeClr val="accent5"/>
                </a:solidFill>
              </a:rPr>
              <a:t>Keeping a research career alive while making a difference in policy</a:t>
            </a:r>
            <a:endParaRPr lang="en-US" sz="2200" dirty="0"/>
          </a:p>
        </p:txBody>
      </p:sp>
      <p:sp>
        <p:nvSpPr>
          <p:cNvPr id="4" name="Text 0"/>
          <p:cNvSpPr/>
          <p:nvPr>
            <p:ph idx="102" type="body" hasCustomPrompt="1"/>
          </p:nvPr>
        </p:nvSpPr>
        <p:spPr>
          <a:xfrm>
            <a:off x="731520" y="5120640"/>
            <a:ext cx="10698480" cy="1005840"/>
          </a:xfrm>
          <a:prstGeom prst="rect">
            <a:avLst/>
          </a:prstGeom>
          <a:noFill/>
          <a:ln/>
        </p:spPr>
        <p:txBody>
          <a:bodyPr wrap="square" rtlCol="0" anchor="t"/>
          <a:lstStyle/>
          <a:p>
            <a:pPr indent="0" marL="0">
              <a:buNone/>
            </a:pPr>
            <a:r>
              <a:rPr lang="en-US" sz="1600" b="1" dirty="0">
                <a:solidFill>
                  <a:schemeClr val="bg1"/>
                </a:solidFill>
              </a:rPr>
              <a:t>Dr John McDermott CRSNZ</a:t>
            </a:r>
            <a:endParaRPr lang="en-US" sz="1600" dirty="0"/>
          </a:p>
          <a:p>
            <a:pPr indent="0" marL="0">
              <a:buNone/>
            </a:pPr>
            <a:r>
              <a:rPr lang="en-US" sz="1600" dirty="0">
                <a:solidFill>
                  <a:schemeClr val="bg1"/>
                </a:solidFill>
              </a:rPr>
              <a:t>Executive Director, Motu Economic and Public Policy Research  ·  Chair, IRANZ</a:t>
            </a:r>
            <a:endParaRPr lang="en-US" sz="1600" dirty="0"/>
          </a:p>
          <a:p>
            <a:pPr indent="0" marL="0">
              <a:buNone/>
            </a:pPr>
            <a:r>
              <a:rPr lang="en-US" sz="1600" dirty="0">
                <a:solidFill>
                  <a:schemeClr val="accent5"/>
                </a:solidFill>
              </a:rPr>
              <a:t>WSBG Doctoral Colloquium  ·  Rutherford House  ·  30 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The question you asked me to answer</a:t>
            </a:r>
            <a:endParaRPr lang="en-US" sz="3400" dirty="0"/>
          </a:p>
        </p:txBody>
      </p:sp>
      <p:sp>
        <p:nvSpPr>
          <p:cNvPr id="3" name="Text 1"/>
          <p:cNvSpPr txBox="1"/>
          <p:nvPr/>
        </p:nvSpPr>
        <p:spPr>
          <a:xfrm>
            <a:off x="548640" y="1325880"/>
            <a:ext cx="11064240" cy="731520"/>
          </a:xfrm>
          <a:prstGeom prst="rect">
            <a:avLst/>
          </a:prstGeom>
          <a:noFill/>
          <a:ln/>
        </p:spPr>
        <p:txBody>
          <a:bodyPr wrap="square" lIns="0" tIns="0" rIns="0" bIns="0" rtlCol="0" anchor="ctr"/>
          <a:lstStyle/>
          <a:p>
            <a:pPr indent="0" marL="0">
              <a:buNone/>
            </a:pPr>
            <a:r>
              <a:rPr lang="en-US" sz="2200" i="1" dirty="0">
                <a:solidFill>
                  <a:schemeClr val="accent2"/>
                </a:solidFill>
                <a:latin typeface="Cambria" pitchFamily="34" charset="0"/>
                <a:ea typeface="Cambria" pitchFamily="34" charset="-122"/>
                <a:cs typeface="Cambria" pitchFamily="34" charset="-120"/>
              </a:rPr>
              <a:t>“How do you keep an active research career while making a difference in policy?”</a:t>
            </a:r>
            <a:endParaRPr lang="en-US" sz="2200" dirty="0"/>
          </a:p>
        </p:txBody>
      </p:sp>
      <p:sp>
        <p:nvSpPr>
          <p:cNvPr id="4" name="Act 1 card"/>
          <p:cNvSpPr/>
          <p:nvPr/>
        </p:nvSpPr>
        <p:spPr>
          <a:xfrm>
            <a:off x="548640" y="2377440"/>
            <a:ext cx="3520440" cy="3566160"/>
          </a:xfrm>
          <a:prstGeom prst="roundRect">
            <a:avLst>
              <a:gd name="adj" fmla="val 3117"/>
            </a:avLst>
          </a:prstGeom>
          <a:solidFill>
            <a:schemeClr val="bg2"/>
          </a:solidFill>
          <a:ln w="12700">
            <a:solidFill>
              <a:schemeClr val="bg2"/>
            </a:solidFill>
            <a:prstDash val="solid"/>
          </a:ln>
        </p:spPr>
      </p:sp>
      <p:sp>
        <p:nvSpPr>
          <p:cNvPr id="5" name="Act 1 circle"/>
          <p:cNvSpPr/>
          <p:nvPr/>
        </p:nvSpPr>
        <p:spPr>
          <a:xfrm>
            <a:off x="868680" y="2697480"/>
            <a:ext cx="822960" cy="822960"/>
          </a:xfrm>
          <a:prstGeom prst="ellipse">
            <a:avLst/>
          </a:prstGeom>
          <a:solidFill>
            <a:schemeClr val="accent2"/>
          </a:solidFill>
          <a:ln w="12700">
            <a:solidFill>
              <a:schemeClr val="accent2"/>
            </a:solidFill>
            <a:prstDash val="solid"/>
          </a:ln>
        </p:spPr>
      </p:sp>
      <p:pic>
        <p:nvPicPr>
          <p:cNvPr id="6" name="Act 1 icon" descr="preencoded.png">    </p:cNvPr>
          <p:cNvPicPr>
            <a:picLocks noChangeAspect="1"/>
          </p:cNvPicPr>
          <p:nvPr/>
        </p:nvPicPr>
        <p:blipFill>
          <a:blip r:embed="rId1"/>
          <a:stretch>
            <a:fillRect/>
          </a:stretch>
        </p:blipFill>
        <p:spPr>
          <a:xfrm>
            <a:off x="1074420" y="2903220"/>
            <a:ext cx="411480" cy="411480"/>
          </a:xfrm>
          <a:prstGeom prst="rect">
            <a:avLst/>
          </a:prstGeom>
        </p:spPr>
      </p:pic>
      <p:sp>
        <p:nvSpPr>
          <p:cNvPr id="7" name="Text 4"/>
          <p:cNvSpPr txBox="1"/>
          <p:nvPr/>
        </p:nvSpPr>
        <p:spPr>
          <a:xfrm>
            <a:off x="868680" y="3657600"/>
            <a:ext cx="2926080" cy="320040"/>
          </a:xfrm>
          <a:prstGeom prst="rect">
            <a:avLst/>
          </a:prstGeom>
          <a:noFill/>
          <a:ln/>
        </p:spPr>
        <p:txBody>
          <a:bodyPr wrap="square" lIns="0" tIns="0" rIns="0" bIns="0" rtlCol="0" anchor="ctr"/>
          <a:lstStyle/>
          <a:p>
            <a:pPr indent="0" marL="0">
              <a:buNone/>
            </a:pPr>
            <a:r>
              <a:rPr lang="en-US" sz="1400" b="1" dirty="0">
                <a:solidFill>
                  <a:schemeClr val="accent2"/>
                </a:solidFill>
              </a:rPr>
              <a:t>ACT 1</a:t>
            </a:r>
            <a:endParaRPr lang="en-US" sz="1400" dirty="0"/>
          </a:p>
        </p:txBody>
      </p:sp>
      <p:sp>
        <p:nvSpPr>
          <p:cNvPr id="8" name="Text 5"/>
          <p:cNvSpPr txBox="1"/>
          <p:nvPr/>
        </p:nvSpPr>
        <p:spPr>
          <a:xfrm>
            <a:off x="868680" y="3977640"/>
            <a:ext cx="2926080" cy="50292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Foundations</a:t>
            </a:r>
            <a:endParaRPr lang="en-US" sz="2200" dirty="0"/>
          </a:p>
        </p:txBody>
      </p:sp>
      <p:sp>
        <p:nvSpPr>
          <p:cNvPr id="9" name="Text 6"/>
          <p:cNvSpPr txBox="1"/>
          <p:nvPr/>
        </p:nvSpPr>
        <p:spPr>
          <a:xfrm>
            <a:off x="868680" y="4526280"/>
            <a:ext cx="2926080" cy="1188720"/>
          </a:xfrm>
          <a:prstGeom prst="rect">
            <a:avLst/>
          </a:prstGeom>
          <a:noFill/>
          <a:ln/>
        </p:spPr>
        <p:txBody>
          <a:bodyPr wrap="square" lIns="0" tIns="0" rIns="0" bIns="0" rtlCol="0" anchor="t"/>
          <a:lstStyle/>
          <a:p>
            <a:pPr indent="0" marL="0">
              <a:buNone/>
            </a:pPr>
            <a:r>
              <a:rPr lang="en-US" sz="1600" dirty="0">
                <a:solidFill>
                  <a:schemeClr val="tx1"/>
                </a:solidFill>
              </a:rPr>
              <a:t>Yale PhD and the econometrics that underpin everything after</a:t>
            </a:r>
            <a:endParaRPr lang="en-US" sz="1600" dirty="0"/>
          </a:p>
        </p:txBody>
      </p:sp>
      <p:sp>
        <p:nvSpPr>
          <p:cNvPr id="10" name="Act 2 card"/>
          <p:cNvSpPr/>
          <p:nvPr/>
        </p:nvSpPr>
        <p:spPr>
          <a:xfrm>
            <a:off x="4343400" y="2377440"/>
            <a:ext cx="3520440" cy="3566160"/>
          </a:xfrm>
          <a:prstGeom prst="roundRect">
            <a:avLst>
              <a:gd name="adj" fmla="val 3117"/>
            </a:avLst>
          </a:prstGeom>
          <a:solidFill>
            <a:schemeClr val="bg2"/>
          </a:solidFill>
          <a:ln w="12700">
            <a:solidFill>
              <a:schemeClr val="bg2"/>
            </a:solidFill>
            <a:prstDash val="solid"/>
          </a:ln>
        </p:spPr>
      </p:sp>
      <p:sp>
        <p:nvSpPr>
          <p:cNvPr id="11" name="Act 2 circle"/>
          <p:cNvSpPr/>
          <p:nvPr/>
        </p:nvSpPr>
        <p:spPr>
          <a:xfrm>
            <a:off x="4663440" y="2697480"/>
            <a:ext cx="822960" cy="822960"/>
          </a:xfrm>
          <a:prstGeom prst="ellipse">
            <a:avLst/>
          </a:prstGeom>
          <a:solidFill>
            <a:schemeClr val="accent1"/>
          </a:solidFill>
          <a:ln w="12700">
            <a:solidFill>
              <a:schemeClr val="accent1"/>
            </a:solidFill>
            <a:prstDash val="solid"/>
          </a:ln>
        </p:spPr>
      </p:sp>
      <p:pic>
        <p:nvPicPr>
          <p:cNvPr id="12" name="Act 2 icon" descr="preencoded.png">    </p:cNvPr>
          <p:cNvPicPr>
            <a:picLocks noChangeAspect="1"/>
          </p:cNvPicPr>
          <p:nvPr/>
        </p:nvPicPr>
        <p:blipFill>
          <a:blip r:embed="rId2"/>
          <a:stretch>
            <a:fillRect/>
          </a:stretch>
        </p:blipFill>
        <p:spPr>
          <a:xfrm>
            <a:off x="4869180" y="2903220"/>
            <a:ext cx="411480" cy="411480"/>
          </a:xfrm>
          <a:prstGeom prst="rect">
            <a:avLst/>
          </a:prstGeom>
        </p:spPr>
      </p:pic>
      <p:sp>
        <p:nvSpPr>
          <p:cNvPr id="13" name="Text 9"/>
          <p:cNvSpPr txBox="1"/>
          <p:nvPr/>
        </p:nvSpPr>
        <p:spPr>
          <a:xfrm>
            <a:off x="4663440" y="3657600"/>
            <a:ext cx="2926080" cy="320040"/>
          </a:xfrm>
          <a:prstGeom prst="rect">
            <a:avLst/>
          </a:prstGeom>
          <a:noFill/>
          <a:ln/>
        </p:spPr>
        <p:txBody>
          <a:bodyPr wrap="square" lIns="0" tIns="0" rIns="0" bIns="0" rtlCol="0" anchor="ctr"/>
          <a:lstStyle/>
          <a:p>
            <a:pPr indent="0" marL="0">
              <a:buNone/>
            </a:pPr>
            <a:r>
              <a:rPr lang="en-US" sz="1400" b="1" dirty="0">
                <a:solidFill>
                  <a:schemeClr val="accent1"/>
                </a:solidFill>
              </a:rPr>
              <a:t>ACT 2</a:t>
            </a:r>
            <a:endParaRPr lang="en-US" sz="1400" dirty="0"/>
          </a:p>
        </p:txBody>
      </p:sp>
      <p:sp>
        <p:nvSpPr>
          <p:cNvPr id="14" name="Text 10"/>
          <p:cNvSpPr txBox="1"/>
          <p:nvPr/>
        </p:nvSpPr>
        <p:spPr>
          <a:xfrm>
            <a:off x="4663440" y="3977640"/>
            <a:ext cx="2926080" cy="50292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Policy institutions</a:t>
            </a:r>
            <a:endParaRPr lang="en-US" sz="2200" dirty="0"/>
          </a:p>
        </p:txBody>
      </p:sp>
      <p:sp>
        <p:nvSpPr>
          <p:cNvPr id="15" name="Text 11"/>
          <p:cNvSpPr txBox="1"/>
          <p:nvPr/>
        </p:nvSpPr>
        <p:spPr>
          <a:xfrm>
            <a:off x="4663440" y="4526280"/>
            <a:ext cx="2926080" cy="1188720"/>
          </a:xfrm>
          <a:prstGeom prst="rect">
            <a:avLst/>
          </a:prstGeom>
          <a:noFill/>
          <a:ln/>
        </p:spPr>
        <p:txBody>
          <a:bodyPr wrap="square" lIns="0" tIns="0" rIns="0" bIns="0" rtlCol="0" anchor="t"/>
          <a:lstStyle/>
          <a:p>
            <a:pPr indent="0" marL="0">
              <a:buNone/>
            </a:pPr>
            <a:r>
              <a:rPr lang="en-US" sz="1600" dirty="0">
                <a:solidFill>
                  <a:schemeClr val="tx1"/>
                </a:solidFill>
              </a:rPr>
              <a:t>IMF and Reserve Bank: technical depth, and the co-authors who kept it current</a:t>
            </a:r>
            <a:endParaRPr lang="en-US" sz="1600" dirty="0"/>
          </a:p>
        </p:txBody>
      </p:sp>
      <p:sp>
        <p:nvSpPr>
          <p:cNvPr id="16" name="Act 3 card"/>
          <p:cNvSpPr/>
          <p:nvPr/>
        </p:nvSpPr>
        <p:spPr>
          <a:xfrm>
            <a:off x="8138160" y="2377440"/>
            <a:ext cx="3520440" cy="3566160"/>
          </a:xfrm>
          <a:prstGeom prst="roundRect">
            <a:avLst>
              <a:gd name="adj" fmla="val 3117"/>
            </a:avLst>
          </a:prstGeom>
          <a:solidFill>
            <a:schemeClr val="bg2"/>
          </a:solidFill>
          <a:ln w="12700">
            <a:solidFill>
              <a:schemeClr val="bg2"/>
            </a:solidFill>
            <a:prstDash val="solid"/>
          </a:ln>
        </p:spPr>
      </p:sp>
      <p:sp>
        <p:nvSpPr>
          <p:cNvPr id="17" name="Act 3 circle"/>
          <p:cNvSpPr/>
          <p:nvPr/>
        </p:nvSpPr>
        <p:spPr>
          <a:xfrm>
            <a:off x="8458200" y="2697480"/>
            <a:ext cx="822960" cy="822960"/>
          </a:xfrm>
          <a:prstGeom prst="ellipse">
            <a:avLst/>
          </a:prstGeom>
          <a:solidFill>
            <a:schemeClr val="accent3"/>
          </a:solidFill>
          <a:ln w="12700">
            <a:solidFill>
              <a:schemeClr val="accent3"/>
            </a:solidFill>
            <a:prstDash val="solid"/>
          </a:ln>
        </p:spPr>
      </p:sp>
      <p:pic>
        <p:nvPicPr>
          <p:cNvPr id="18" name="Act 3 icon" descr="preencoded.png">    </p:cNvPr>
          <p:cNvPicPr>
            <a:picLocks noChangeAspect="1"/>
          </p:cNvPicPr>
          <p:nvPr/>
        </p:nvPicPr>
        <p:blipFill>
          <a:blip r:embed="rId3"/>
          <a:stretch>
            <a:fillRect/>
          </a:stretch>
        </p:blipFill>
        <p:spPr>
          <a:xfrm>
            <a:off x="8663940" y="2903220"/>
            <a:ext cx="411480" cy="411480"/>
          </a:xfrm>
          <a:prstGeom prst="rect">
            <a:avLst/>
          </a:prstGeom>
        </p:spPr>
      </p:pic>
      <p:sp>
        <p:nvSpPr>
          <p:cNvPr id="19" name="Text 14"/>
          <p:cNvSpPr txBox="1"/>
          <p:nvPr/>
        </p:nvSpPr>
        <p:spPr>
          <a:xfrm>
            <a:off x="8458200" y="3657600"/>
            <a:ext cx="2926080" cy="320040"/>
          </a:xfrm>
          <a:prstGeom prst="rect">
            <a:avLst/>
          </a:prstGeom>
          <a:noFill/>
          <a:ln/>
        </p:spPr>
        <p:txBody>
          <a:bodyPr wrap="square" lIns="0" tIns="0" rIns="0" bIns="0" rtlCol="0" anchor="ctr"/>
          <a:lstStyle/>
          <a:p>
            <a:pPr indent="0" marL="0">
              <a:buNone/>
            </a:pPr>
            <a:r>
              <a:rPr lang="en-US" sz="1400" b="1" dirty="0">
                <a:solidFill>
                  <a:schemeClr val="accent3"/>
                </a:solidFill>
              </a:rPr>
              <a:t>ACT 3</a:t>
            </a:r>
            <a:endParaRPr lang="en-US" sz="1400" dirty="0"/>
          </a:p>
        </p:txBody>
      </p:sp>
      <p:sp>
        <p:nvSpPr>
          <p:cNvPr id="20" name="Text 15"/>
          <p:cNvSpPr txBox="1"/>
          <p:nvPr/>
        </p:nvSpPr>
        <p:spPr>
          <a:xfrm>
            <a:off x="8458200" y="3977640"/>
            <a:ext cx="2926080" cy="50292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Leading research</a:t>
            </a:r>
            <a:endParaRPr lang="en-US" sz="2200" dirty="0"/>
          </a:p>
        </p:txBody>
      </p:sp>
      <p:sp>
        <p:nvSpPr>
          <p:cNvPr id="21" name="Text 16"/>
          <p:cNvSpPr txBox="1"/>
          <p:nvPr/>
        </p:nvSpPr>
        <p:spPr>
          <a:xfrm>
            <a:off x="8458200" y="4526280"/>
            <a:ext cx="2926080" cy="1188720"/>
          </a:xfrm>
          <a:prstGeom prst="rect">
            <a:avLst/>
          </a:prstGeom>
          <a:noFill/>
          <a:ln/>
        </p:spPr>
        <p:txBody>
          <a:bodyPr wrap="square" lIns="0" tIns="0" rIns="0" bIns="0" rtlCol="0" anchor="t"/>
          <a:lstStyle/>
          <a:p>
            <a:pPr indent="0" marL="0">
              <a:buNone/>
            </a:pPr>
            <a:r>
              <a:rPr lang="en-US" sz="1600" dirty="0">
                <a:solidFill>
                  <a:schemeClr val="tx1"/>
                </a:solidFill>
              </a:rPr>
              <a:t>Motu and IRANZ: building the conditions for other people’s research</a:t>
            </a:r>
            <a:endParaRPr lang="en-US" sz="16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Four decades, one thread</a:t>
            </a:r>
            <a:endParaRPr lang="en-US" sz="3400" dirty="0"/>
          </a:p>
        </p:txBody>
      </p:sp>
      <p:sp>
        <p:nvSpPr>
          <p:cNvPr id="3" name="timeline axis"/>
          <p:cNvSpPr/>
          <p:nvPr/>
        </p:nvSpPr>
        <p:spPr>
          <a:xfrm>
            <a:off x="822960" y="3657600"/>
            <a:ext cx="10515600" cy="0"/>
          </a:xfrm>
          <a:prstGeom prst="line">
            <a:avLst/>
          </a:prstGeom>
          <a:noFill/>
          <a:ln w="25400">
            <a:solidFill>
              <a:srgbClr val="6B7F87"/>
            </a:solidFill>
            <a:prstDash val="solid"/>
          </a:ln>
        </p:spPr>
      </p:sp>
      <p:sp>
        <p:nvSpPr>
          <p:cNvPr id="4" name="timeline dot 1"/>
          <p:cNvSpPr/>
          <p:nvPr/>
        </p:nvSpPr>
        <p:spPr>
          <a:xfrm>
            <a:off x="923544" y="3529584"/>
            <a:ext cx="256032" cy="256032"/>
          </a:xfrm>
          <a:prstGeom prst="ellipse">
            <a:avLst/>
          </a:prstGeom>
          <a:solidFill>
            <a:schemeClr val="accent2"/>
          </a:solidFill>
          <a:ln w="25400">
            <a:solidFill>
              <a:srgbClr val="FFFFFF"/>
            </a:solidFill>
            <a:prstDash val="solid"/>
          </a:ln>
        </p:spPr>
      </p:sp>
      <p:sp>
        <p:nvSpPr>
          <p:cNvPr id="5" name="Text 3"/>
          <p:cNvSpPr txBox="1"/>
          <p:nvPr/>
        </p:nvSpPr>
        <p:spPr>
          <a:xfrm>
            <a:off x="320040" y="1600200"/>
            <a:ext cx="1463040" cy="365760"/>
          </a:xfrm>
          <a:prstGeom prst="rect">
            <a:avLst/>
          </a:prstGeom>
          <a:noFill/>
          <a:ln/>
        </p:spPr>
        <p:txBody>
          <a:bodyPr wrap="square" lIns="0" tIns="0" rIns="0" bIns="0" rtlCol="0" anchor="ctr"/>
          <a:lstStyle/>
          <a:p>
            <a:pPr algn="ctr" indent="0" marL="0">
              <a:buNone/>
            </a:pPr>
            <a:r>
              <a:rPr lang="en-US" sz="1600" b="1" dirty="0">
                <a:solidFill>
                  <a:schemeClr val="accent2"/>
                </a:solidFill>
              </a:rPr>
              <a:t>1986–88</a:t>
            </a:r>
            <a:endParaRPr lang="en-US" sz="1600" dirty="0"/>
          </a:p>
        </p:txBody>
      </p:sp>
      <p:sp>
        <p:nvSpPr>
          <p:cNvPr id="6" name="Text 4"/>
          <p:cNvSpPr txBox="1"/>
          <p:nvPr/>
        </p:nvSpPr>
        <p:spPr>
          <a:xfrm>
            <a:off x="274320" y="1965960"/>
            <a:ext cx="1554480" cy="1097280"/>
          </a:xfrm>
          <a:prstGeom prst="rect">
            <a:avLst/>
          </a:prstGeom>
          <a:noFill/>
          <a:ln/>
        </p:spPr>
        <p:txBody>
          <a:bodyPr wrap="square" lIns="0" tIns="0" rIns="0" bIns="0" rtlCol="0" anchor="t"/>
          <a:lstStyle/>
          <a:p>
            <a:pPr algn="ctr" indent="0" marL="0">
              <a:buNone/>
            </a:pPr>
            <a:r>
              <a:rPr lang="en-US" sz="1400" dirty="0">
                <a:solidFill>
                  <a:schemeClr val="tx1"/>
                </a:solidFill>
              </a:rPr>
              <a:t>BCom/BSc, MCom</a:t>
            </a:r>
            <a:endParaRPr lang="en-US" sz="1400" dirty="0"/>
          </a:p>
          <a:p>
            <a:pPr algn="ctr" indent="0" marL="0">
              <a:buNone/>
            </a:pPr>
            <a:r>
              <a:rPr lang="en-US" sz="1400" dirty="0">
                <a:solidFill>
                  <a:schemeClr val="tx1"/>
                </a:solidFill>
              </a:rPr>
              <a:t>University of Auckland</a:t>
            </a:r>
            <a:endParaRPr lang="en-US" sz="1400" dirty="0"/>
          </a:p>
        </p:txBody>
      </p:sp>
      <p:sp>
        <p:nvSpPr>
          <p:cNvPr id="7" name="timeline dot 2"/>
          <p:cNvSpPr/>
          <p:nvPr/>
        </p:nvSpPr>
        <p:spPr>
          <a:xfrm>
            <a:off x="2360458" y="3529584"/>
            <a:ext cx="256032" cy="256032"/>
          </a:xfrm>
          <a:prstGeom prst="ellipse">
            <a:avLst/>
          </a:prstGeom>
          <a:solidFill>
            <a:schemeClr val="accent1"/>
          </a:solidFill>
          <a:ln w="25400">
            <a:solidFill>
              <a:srgbClr val="FFFFFF"/>
            </a:solidFill>
            <a:prstDash val="solid"/>
          </a:ln>
        </p:spPr>
      </p:sp>
      <p:sp>
        <p:nvSpPr>
          <p:cNvPr id="8" name="Text 6"/>
          <p:cNvSpPr txBox="1"/>
          <p:nvPr/>
        </p:nvSpPr>
        <p:spPr>
          <a:xfrm>
            <a:off x="1756954" y="3977640"/>
            <a:ext cx="1463040" cy="365760"/>
          </a:xfrm>
          <a:prstGeom prst="rect">
            <a:avLst/>
          </a:prstGeom>
          <a:noFill/>
          <a:ln/>
        </p:spPr>
        <p:txBody>
          <a:bodyPr wrap="square" lIns="0" tIns="0" rIns="0" bIns="0" rtlCol="0" anchor="ctr"/>
          <a:lstStyle/>
          <a:p>
            <a:pPr algn="ctr" indent="0" marL="0">
              <a:buNone/>
            </a:pPr>
            <a:r>
              <a:rPr lang="en-US" sz="1600" b="1" dirty="0">
                <a:solidFill>
                  <a:schemeClr val="accent1"/>
                </a:solidFill>
              </a:rPr>
              <a:t>1988–90</a:t>
            </a:r>
            <a:endParaRPr lang="en-US" sz="1600" dirty="0"/>
          </a:p>
        </p:txBody>
      </p:sp>
      <p:sp>
        <p:nvSpPr>
          <p:cNvPr id="9" name="Text 7"/>
          <p:cNvSpPr txBox="1"/>
          <p:nvPr/>
        </p:nvSpPr>
        <p:spPr>
          <a:xfrm>
            <a:off x="1711234" y="4343400"/>
            <a:ext cx="1554480" cy="1097280"/>
          </a:xfrm>
          <a:prstGeom prst="rect">
            <a:avLst/>
          </a:prstGeom>
          <a:noFill/>
          <a:ln/>
        </p:spPr>
        <p:txBody>
          <a:bodyPr wrap="square" lIns="0" tIns="0" rIns="0" bIns="0" rtlCol="0" anchor="t"/>
          <a:lstStyle/>
          <a:p>
            <a:pPr algn="ctr" indent="0" marL="0">
              <a:buNone/>
            </a:pPr>
            <a:r>
              <a:rPr lang="en-US" sz="1400" dirty="0">
                <a:solidFill>
                  <a:schemeClr val="tx1"/>
                </a:solidFill>
              </a:rPr>
              <a:t>Economist</a:t>
            </a:r>
            <a:endParaRPr lang="en-US" sz="1400" dirty="0"/>
          </a:p>
          <a:p>
            <a:pPr algn="ctr" indent="0" marL="0">
              <a:buNone/>
            </a:pPr>
            <a:r>
              <a:rPr lang="en-US" sz="1400" dirty="0">
                <a:solidFill>
                  <a:schemeClr val="tx1"/>
                </a:solidFill>
              </a:rPr>
              <a:t>Reserve Bank of NZ</a:t>
            </a:r>
            <a:endParaRPr lang="en-US" sz="1400" dirty="0"/>
          </a:p>
        </p:txBody>
      </p:sp>
      <p:sp>
        <p:nvSpPr>
          <p:cNvPr id="10" name="timeline dot 3"/>
          <p:cNvSpPr/>
          <p:nvPr/>
        </p:nvSpPr>
        <p:spPr>
          <a:xfrm>
            <a:off x="3797373" y="3529584"/>
            <a:ext cx="256032" cy="256032"/>
          </a:xfrm>
          <a:prstGeom prst="ellipse">
            <a:avLst/>
          </a:prstGeom>
          <a:solidFill>
            <a:schemeClr val="accent2"/>
          </a:solidFill>
          <a:ln w="25400">
            <a:solidFill>
              <a:srgbClr val="FFFFFF"/>
            </a:solidFill>
            <a:prstDash val="solid"/>
          </a:ln>
        </p:spPr>
      </p:sp>
      <p:sp>
        <p:nvSpPr>
          <p:cNvPr id="11" name="Text 9"/>
          <p:cNvSpPr txBox="1"/>
          <p:nvPr/>
        </p:nvSpPr>
        <p:spPr>
          <a:xfrm>
            <a:off x="3193869" y="1600200"/>
            <a:ext cx="1463040" cy="365760"/>
          </a:xfrm>
          <a:prstGeom prst="rect">
            <a:avLst/>
          </a:prstGeom>
          <a:noFill/>
          <a:ln/>
        </p:spPr>
        <p:txBody>
          <a:bodyPr wrap="square" lIns="0" tIns="0" rIns="0" bIns="0" rtlCol="0" anchor="ctr"/>
          <a:lstStyle/>
          <a:p>
            <a:pPr algn="ctr" indent="0" marL="0">
              <a:buNone/>
            </a:pPr>
            <a:r>
              <a:rPr lang="en-US" sz="1600" b="1" dirty="0">
                <a:solidFill>
                  <a:schemeClr val="accent2"/>
                </a:solidFill>
              </a:rPr>
              <a:t>1990–94</a:t>
            </a:r>
            <a:endParaRPr lang="en-US" sz="1600" dirty="0"/>
          </a:p>
        </p:txBody>
      </p:sp>
      <p:sp>
        <p:nvSpPr>
          <p:cNvPr id="12" name="Text 10"/>
          <p:cNvSpPr txBox="1"/>
          <p:nvPr/>
        </p:nvSpPr>
        <p:spPr>
          <a:xfrm>
            <a:off x="3148149" y="1965960"/>
            <a:ext cx="1554480" cy="1097280"/>
          </a:xfrm>
          <a:prstGeom prst="rect">
            <a:avLst/>
          </a:prstGeom>
          <a:noFill/>
          <a:ln/>
        </p:spPr>
        <p:txBody>
          <a:bodyPr wrap="square" lIns="0" tIns="0" rIns="0" bIns="0" rtlCol="0" anchor="t"/>
          <a:lstStyle/>
          <a:p>
            <a:pPr algn="ctr" indent="0" marL="0">
              <a:buNone/>
            </a:pPr>
            <a:r>
              <a:rPr lang="en-US" sz="1400" dirty="0">
                <a:solidFill>
                  <a:schemeClr val="tx1"/>
                </a:solidFill>
              </a:rPr>
              <a:t>PhD, Yale University</a:t>
            </a:r>
            <a:endParaRPr lang="en-US" sz="1400" dirty="0"/>
          </a:p>
          <a:p>
            <a:pPr algn="ctr" indent="0" marL="0">
              <a:buNone/>
            </a:pPr>
            <a:r>
              <a:rPr lang="en-US" sz="1400" dirty="0">
                <a:solidFill>
                  <a:schemeClr val="tx1"/>
                </a:solidFill>
              </a:rPr>
              <a:t>Cowles Foundation</a:t>
            </a:r>
            <a:endParaRPr lang="en-US" sz="1400" dirty="0"/>
          </a:p>
        </p:txBody>
      </p:sp>
      <p:sp>
        <p:nvSpPr>
          <p:cNvPr id="13" name="timeline dot 4"/>
          <p:cNvSpPr/>
          <p:nvPr/>
        </p:nvSpPr>
        <p:spPr>
          <a:xfrm>
            <a:off x="5234287" y="3529584"/>
            <a:ext cx="256032" cy="256032"/>
          </a:xfrm>
          <a:prstGeom prst="ellipse">
            <a:avLst/>
          </a:prstGeom>
          <a:solidFill>
            <a:schemeClr val="accent1"/>
          </a:solidFill>
          <a:ln w="25400">
            <a:solidFill>
              <a:srgbClr val="FFFFFF"/>
            </a:solidFill>
            <a:prstDash val="solid"/>
          </a:ln>
        </p:spPr>
      </p:sp>
      <p:sp>
        <p:nvSpPr>
          <p:cNvPr id="14" name="Text 12"/>
          <p:cNvSpPr txBox="1"/>
          <p:nvPr/>
        </p:nvSpPr>
        <p:spPr>
          <a:xfrm>
            <a:off x="4630783" y="3977640"/>
            <a:ext cx="1463040" cy="365760"/>
          </a:xfrm>
          <a:prstGeom prst="rect">
            <a:avLst/>
          </a:prstGeom>
          <a:noFill/>
          <a:ln/>
        </p:spPr>
        <p:txBody>
          <a:bodyPr wrap="square" lIns="0" tIns="0" rIns="0" bIns="0" rtlCol="0" anchor="ctr"/>
          <a:lstStyle/>
          <a:p>
            <a:pPr algn="ctr" indent="0" marL="0">
              <a:buNone/>
            </a:pPr>
            <a:r>
              <a:rPr lang="en-US" sz="1600" b="1" dirty="0">
                <a:solidFill>
                  <a:schemeClr val="accent1"/>
                </a:solidFill>
              </a:rPr>
              <a:t>1994–98</a:t>
            </a:r>
            <a:endParaRPr lang="en-US" sz="1600" dirty="0"/>
          </a:p>
        </p:txBody>
      </p:sp>
      <p:sp>
        <p:nvSpPr>
          <p:cNvPr id="15" name="Text 13"/>
          <p:cNvSpPr txBox="1"/>
          <p:nvPr/>
        </p:nvSpPr>
        <p:spPr>
          <a:xfrm>
            <a:off x="4585063" y="4343400"/>
            <a:ext cx="1554480" cy="1097280"/>
          </a:xfrm>
          <a:prstGeom prst="rect">
            <a:avLst/>
          </a:prstGeom>
          <a:noFill/>
          <a:ln/>
        </p:spPr>
        <p:txBody>
          <a:bodyPr wrap="square" lIns="0" tIns="0" rIns="0" bIns="0" rtlCol="0" anchor="t"/>
          <a:lstStyle/>
          <a:p>
            <a:pPr algn="ctr" indent="0" marL="0">
              <a:buNone/>
            </a:pPr>
            <a:r>
              <a:rPr lang="en-US" sz="1400" dirty="0">
                <a:solidFill>
                  <a:schemeClr val="tx1"/>
                </a:solidFill>
              </a:rPr>
              <a:t>Economist</a:t>
            </a:r>
            <a:endParaRPr lang="en-US" sz="1400" dirty="0"/>
          </a:p>
          <a:p>
            <a:pPr algn="ctr" indent="0" marL="0">
              <a:buNone/>
            </a:pPr>
            <a:r>
              <a:rPr lang="en-US" sz="1400" dirty="0">
                <a:solidFill>
                  <a:schemeClr val="tx1"/>
                </a:solidFill>
              </a:rPr>
              <a:t>IMF, Washington DC</a:t>
            </a:r>
            <a:endParaRPr lang="en-US" sz="1400" dirty="0"/>
          </a:p>
        </p:txBody>
      </p:sp>
      <p:sp>
        <p:nvSpPr>
          <p:cNvPr id="16" name="timeline dot 5"/>
          <p:cNvSpPr/>
          <p:nvPr/>
        </p:nvSpPr>
        <p:spPr>
          <a:xfrm>
            <a:off x="6671201" y="3529584"/>
            <a:ext cx="256032" cy="256032"/>
          </a:xfrm>
          <a:prstGeom prst="ellipse">
            <a:avLst/>
          </a:prstGeom>
          <a:solidFill>
            <a:schemeClr val="accent1"/>
          </a:solidFill>
          <a:ln w="25400">
            <a:solidFill>
              <a:srgbClr val="FFFFFF"/>
            </a:solidFill>
            <a:prstDash val="solid"/>
          </a:ln>
        </p:spPr>
      </p:sp>
      <p:sp>
        <p:nvSpPr>
          <p:cNvPr id="17" name="Text 15"/>
          <p:cNvSpPr txBox="1"/>
          <p:nvPr/>
        </p:nvSpPr>
        <p:spPr>
          <a:xfrm>
            <a:off x="6067697" y="1600200"/>
            <a:ext cx="1463040" cy="365760"/>
          </a:xfrm>
          <a:prstGeom prst="rect">
            <a:avLst/>
          </a:prstGeom>
          <a:noFill/>
          <a:ln/>
        </p:spPr>
        <p:txBody>
          <a:bodyPr wrap="square" lIns="0" tIns="0" rIns="0" bIns="0" rtlCol="0" anchor="ctr"/>
          <a:lstStyle/>
          <a:p>
            <a:pPr algn="ctr" indent="0" marL="0">
              <a:buNone/>
            </a:pPr>
            <a:r>
              <a:rPr lang="en-US" sz="1600" b="1" dirty="0">
                <a:solidFill>
                  <a:schemeClr val="accent1"/>
                </a:solidFill>
              </a:rPr>
              <a:t>1998–2005</a:t>
            </a:r>
            <a:endParaRPr lang="en-US" sz="1600" dirty="0"/>
          </a:p>
        </p:txBody>
      </p:sp>
      <p:sp>
        <p:nvSpPr>
          <p:cNvPr id="18" name="Text 16"/>
          <p:cNvSpPr txBox="1"/>
          <p:nvPr/>
        </p:nvSpPr>
        <p:spPr>
          <a:xfrm>
            <a:off x="6021977" y="1965960"/>
            <a:ext cx="1554480" cy="1097280"/>
          </a:xfrm>
          <a:prstGeom prst="rect">
            <a:avLst/>
          </a:prstGeom>
          <a:noFill/>
          <a:ln/>
        </p:spPr>
        <p:txBody>
          <a:bodyPr wrap="square" lIns="0" tIns="0" rIns="0" bIns="0" rtlCol="0" anchor="t"/>
          <a:lstStyle/>
          <a:p>
            <a:pPr algn="ctr" indent="0" marL="0">
              <a:buNone/>
            </a:pPr>
            <a:r>
              <a:rPr lang="en-US" sz="1400" dirty="0">
                <a:solidFill>
                  <a:schemeClr val="tx1"/>
                </a:solidFill>
              </a:rPr>
              <a:t>RBNZ, then Chief Economist</a:t>
            </a:r>
            <a:endParaRPr lang="en-US" sz="1400" dirty="0"/>
          </a:p>
          <a:p>
            <a:pPr algn="ctr" indent="0" marL="0">
              <a:buNone/>
            </a:pPr>
            <a:r>
              <a:rPr lang="en-US" sz="1400" dirty="0">
                <a:solidFill>
                  <a:schemeClr val="tx1"/>
                </a:solidFill>
              </a:rPr>
              <a:t>National Bank</a:t>
            </a:r>
            <a:endParaRPr lang="en-US" sz="1400" dirty="0"/>
          </a:p>
        </p:txBody>
      </p:sp>
      <p:sp>
        <p:nvSpPr>
          <p:cNvPr id="19" name="timeline dot 6"/>
          <p:cNvSpPr/>
          <p:nvPr/>
        </p:nvSpPr>
        <p:spPr>
          <a:xfrm>
            <a:off x="8108115" y="3529584"/>
            <a:ext cx="256032" cy="256032"/>
          </a:xfrm>
          <a:prstGeom prst="ellipse">
            <a:avLst/>
          </a:prstGeom>
          <a:solidFill>
            <a:schemeClr val="accent2"/>
          </a:solidFill>
          <a:ln w="25400">
            <a:solidFill>
              <a:srgbClr val="FFFFFF"/>
            </a:solidFill>
            <a:prstDash val="solid"/>
          </a:ln>
        </p:spPr>
      </p:sp>
      <p:sp>
        <p:nvSpPr>
          <p:cNvPr id="20" name="Text 18"/>
          <p:cNvSpPr txBox="1"/>
          <p:nvPr/>
        </p:nvSpPr>
        <p:spPr>
          <a:xfrm>
            <a:off x="7504611" y="3977640"/>
            <a:ext cx="1463040" cy="365760"/>
          </a:xfrm>
          <a:prstGeom prst="rect">
            <a:avLst/>
          </a:prstGeom>
          <a:noFill/>
          <a:ln/>
        </p:spPr>
        <p:txBody>
          <a:bodyPr wrap="square" lIns="0" tIns="0" rIns="0" bIns="0" rtlCol="0" anchor="ctr"/>
          <a:lstStyle/>
          <a:p>
            <a:pPr algn="ctr" indent="0" marL="0">
              <a:buNone/>
            </a:pPr>
            <a:r>
              <a:rPr lang="en-US" sz="1600" b="1" dirty="0">
                <a:solidFill>
                  <a:schemeClr val="accent2"/>
                </a:solidFill>
              </a:rPr>
              <a:t>2006–07</a:t>
            </a:r>
            <a:endParaRPr lang="en-US" sz="1600" dirty="0"/>
          </a:p>
        </p:txBody>
      </p:sp>
      <p:sp>
        <p:nvSpPr>
          <p:cNvPr id="21" name="Text 19"/>
          <p:cNvSpPr txBox="1"/>
          <p:nvPr/>
        </p:nvSpPr>
        <p:spPr>
          <a:xfrm>
            <a:off x="7458891" y="4343400"/>
            <a:ext cx="1554480" cy="1097280"/>
          </a:xfrm>
          <a:prstGeom prst="rect">
            <a:avLst/>
          </a:prstGeom>
          <a:noFill/>
          <a:ln/>
        </p:spPr>
        <p:txBody>
          <a:bodyPr wrap="square" lIns="0" tIns="0" rIns="0" bIns="0" rtlCol="0" anchor="t"/>
          <a:lstStyle/>
          <a:p>
            <a:pPr algn="ctr" indent="0" marL="0">
              <a:buNone/>
            </a:pPr>
            <a:r>
              <a:rPr lang="en-US" sz="1400" dirty="0">
                <a:solidFill>
                  <a:schemeClr val="tx1"/>
                </a:solidFill>
              </a:rPr>
              <a:t>Associate Professor</a:t>
            </a:r>
            <a:endParaRPr lang="en-US" sz="1400" dirty="0"/>
          </a:p>
          <a:p>
            <a:pPr algn="ctr" indent="0" marL="0">
              <a:buNone/>
            </a:pPr>
            <a:r>
              <a:rPr lang="en-US" sz="1400" dirty="0">
                <a:solidFill>
                  <a:schemeClr val="tx1"/>
                </a:solidFill>
              </a:rPr>
              <a:t>Victoria University</a:t>
            </a:r>
            <a:endParaRPr lang="en-US" sz="1400" dirty="0"/>
          </a:p>
        </p:txBody>
      </p:sp>
      <p:sp>
        <p:nvSpPr>
          <p:cNvPr id="22" name="timeline dot 7"/>
          <p:cNvSpPr/>
          <p:nvPr/>
        </p:nvSpPr>
        <p:spPr>
          <a:xfrm>
            <a:off x="9545030" y="3529584"/>
            <a:ext cx="256032" cy="256032"/>
          </a:xfrm>
          <a:prstGeom prst="ellipse">
            <a:avLst/>
          </a:prstGeom>
          <a:solidFill>
            <a:schemeClr val="accent1"/>
          </a:solidFill>
          <a:ln w="25400">
            <a:solidFill>
              <a:srgbClr val="FFFFFF"/>
            </a:solidFill>
            <a:prstDash val="solid"/>
          </a:ln>
        </p:spPr>
      </p:sp>
      <p:sp>
        <p:nvSpPr>
          <p:cNvPr id="23" name="Text 21"/>
          <p:cNvSpPr txBox="1"/>
          <p:nvPr/>
        </p:nvSpPr>
        <p:spPr>
          <a:xfrm>
            <a:off x="8941526" y="1600200"/>
            <a:ext cx="1463040" cy="365760"/>
          </a:xfrm>
          <a:prstGeom prst="rect">
            <a:avLst/>
          </a:prstGeom>
          <a:noFill/>
          <a:ln/>
        </p:spPr>
        <p:txBody>
          <a:bodyPr wrap="square" lIns="0" tIns="0" rIns="0" bIns="0" rtlCol="0" anchor="ctr"/>
          <a:lstStyle/>
          <a:p>
            <a:pPr algn="ctr" indent="0" marL="0">
              <a:buNone/>
            </a:pPr>
            <a:r>
              <a:rPr lang="en-US" sz="1600" b="1" dirty="0">
                <a:solidFill>
                  <a:schemeClr val="accent1"/>
                </a:solidFill>
              </a:rPr>
              <a:t>2007–19</a:t>
            </a:r>
            <a:endParaRPr lang="en-US" sz="1600" dirty="0"/>
          </a:p>
        </p:txBody>
      </p:sp>
      <p:sp>
        <p:nvSpPr>
          <p:cNvPr id="24" name="Text 22"/>
          <p:cNvSpPr txBox="1"/>
          <p:nvPr/>
        </p:nvSpPr>
        <p:spPr>
          <a:xfrm>
            <a:off x="8895806" y="1965960"/>
            <a:ext cx="1554480" cy="1097280"/>
          </a:xfrm>
          <a:prstGeom prst="rect">
            <a:avLst/>
          </a:prstGeom>
          <a:noFill/>
          <a:ln/>
        </p:spPr>
        <p:txBody>
          <a:bodyPr wrap="square" lIns="0" tIns="0" rIns="0" bIns="0" rtlCol="0" anchor="t"/>
          <a:lstStyle/>
          <a:p>
            <a:pPr algn="ctr" indent="0" marL="0">
              <a:buNone/>
            </a:pPr>
            <a:r>
              <a:rPr lang="en-US" sz="1400" dirty="0">
                <a:solidFill>
                  <a:schemeClr val="tx1"/>
                </a:solidFill>
              </a:rPr>
              <a:t>Assistant Governor</a:t>
            </a:r>
            <a:endParaRPr lang="en-US" sz="1400" dirty="0"/>
          </a:p>
          <a:p>
            <a:pPr algn="ctr" indent="0" marL="0">
              <a:buNone/>
            </a:pPr>
            <a:r>
              <a:rPr lang="en-US" sz="1400" dirty="0">
                <a:solidFill>
                  <a:schemeClr val="tx1"/>
                </a:solidFill>
              </a:rPr>
              <a:t>Reserve Bank of NZ</a:t>
            </a:r>
            <a:endParaRPr lang="en-US" sz="1400" dirty="0"/>
          </a:p>
        </p:txBody>
      </p:sp>
      <p:sp>
        <p:nvSpPr>
          <p:cNvPr id="25" name="timeline dot 8"/>
          <p:cNvSpPr/>
          <p:nvPr/>
        </p:nvSpPr>
        <p:spPr>
          <a:xfrm>
            <a:off x="10981944" y="3529584"/>
            <a:ext cx="256032" cy="256032"/>
          </a:xfrm>
          <a:prstGeom prst="ellipse">
            <a:avLst/>
          </a:prstGeom>
          <a:solidFill>
            <a:schemeClr val="accent3"/>
          </a:solidFill>
          <a:ln w="25400">
            <a:solidFill>
              <a:srgbClr val="FFFFFF"/>
            </a:solidFill>
            <a:prstDash val="solid"/>
          </a:ln>
        </p:spPr>
      </p:sp>
      <p:sp>
        <p:nvSpPr>
          <p:cNvPr id="26" name="Text 24"/>
          <p:cNvSpPr txBox="1"/>
          <p:nvPr/>
        </p:nvSpPr>
        <p:spPr>
          <a:xfrm>
            <a:off x="10378440" y="3977640"/>
            <a:ext cx="1463040" cy="365760"/>
          </a:xfrm>
          <a:prstGeom prst="rect">
            <a:avLst/>
          </a:prstGeom>
          <a:noFill/>
          <a:ln/>
        </p:spPr>
        <p:txBody>
          <a:bodyPr wrap="square" lIns="0" tIns="0" rIns="0" bIns="0" rtlCol="0" anchor="ctr"/>
          <a:lstStyle/>
          <a:p>
            <a:pPr algn="ctr" indent="0" marL="0">
              <a:buNone/>
            </a:pPr>
            <a:r>
              <a:rPr lang="en-US" sz="1600" b="1" dirty="0">
                <a:solidFill>
                  <a:schemeClr val="accent3"/>
                </a:solidFill>
              </a:rPr>
              <a:t>2019–</a:t>
            </a:r>
            <a:endParaRPr lang="en-US" sz="1600" dirty="0"/>
          </a:p>
        </p:txBody>
      </p:sp>
      <p:sp>
        <p:nvSpPr>
          <p:cNvPr id="27" name="Text 25"/>
          <p:cNvSpPr txBox="1"/>
          <p:nvPr/>
        </p:nvSpPr>
        <p:spPr>
          <a:xfrm>
            <a:off x="10332720" y="4343400"/>
            <a:ext cx="1554480" cy="1097280"/>
          </a:xfrm>
          <a:prstGeom prst="rect">
            <a:avLst/>
          </a:prstGeom>
          <a:noFill/>
          <a:ln/>
        </p:spPr>
        <p:txBody>
          <a:bodyPr wrap="square" lIns="0" tIns="0" rIns="0" bIns="0" rtlCol="0" anchor="t"/>
          <a:lstStyle/>
          <a:p>
            <a:pPr algn="ctr" indent="0" marL="0">
              <a:buNone/>
            </a:pPr>
            <a:r>
              <a:rPr lang="en-US" sz="1400" dirty="0">
                <a:solidFill>
                  <a:schemeClr val="tx1"/>
                </a:solidFill>
              </a:rPr>
              <a:t>Executive Director, Motu</a:t>
            </a:r>
            <a:endParaRPr lang="en-US" sz="1400" dirty="0"/>
          </a:p>
          <a:p>
            <a:pPr algn="ctr" indent="0" marL="0">
              <a:buNone/>
            </a:pPr>
            <a:r>
              <a:rPr lang="en-US" sz="1400" dirty="0">
                <a:solidFill>
                  <a:schemeClr val="tx1"/>
                </a:solidFill>
              </a:rPr>
              <a:t>Chair, IRANZ (2021–)</a:t>
            </a:r>
            <a:endParaRPr lang="en-US" sz="1400" dirty="0"/>
          </a:p>
        </p:txBody>
      </p:sp>
      <p:sp>
        <p:nvSpPr>
          <p:cNvPr id="28" name="legend dot 1"/>
          <p:cNvSpPr/>
          <p:nvPr/>
        </p:nvSpPr>
        <p:spPr>
          <a:xfrm>
            <a:off x="822960" y="5760720"/>
            <a:ext cx="201168" cy="201168"/>
          </a:xfrm>
          <a:prstGeom prst="ellipse">
            <a:avLst/>
          </a:prstGeom>
          <a:solidFill>
            <a:schemeClr val="accent2"/>
          </a:solidFill>
          <a:ln w="12700">
            <a:solidFill>
              <a:schemeClr val="accent2"/>
            </a:solidFill>
            <a:prstDash val="solid"/>
          </a:ln>
        </p:spPr>
      </p:sp>
      <p:sp>
        <p:nvSpPr>
          <p:cNvPr id="29" name="Text 27"/>
          <p:cNvSpPr txBox="1"/>
          <p:nvPr/>
        </p:nvSpPr>
        <p:spPr>
          <a:xfrm>
            <a:off x="1143000" y="5687568"/>
            <a:ext cx="2651760" cy="347472"/>
          </a:xfrm>
          <a:prstGeom prst="rect">
            <a:avLst/>
          </a:prstGeom>
          <a:noFill/>
          <a:ln/>
        </p:spPr>
        <p:txBody>
          <a:bodyPr wrap="square" lIns="0" tIns="0" rIns="0" bIns="0" rtlCol="0" anchor="ctr"/>
          <a:lstStyle/>
          <a:p>
            <a:pPr indent="0" marL="0">
              <a:buNone/>
            </a:pPr>
            <a:r>
              <a:rPr lang="en-US" sz="1400" dirty="0">
                <a:solidFill>
                  <a:schemeClr val="tx1"/>
                </a:solidFill>
              </a:rPr>
              <a:t>Academic / research</a:t>
            </a:r>
            <a:endParaRPr lang="en-US" sz="1400" dirty="0"/>
          </a:p>
        </p:txBody>
      </p:sp>
      <p:sp>
        <p:nvSpPr>
          <p:cNvPr id="30" name="legend dot 2"/>
          <p:cNvSpPr/>
          <p:nvPr/>
        </p:nvSpPr>
        <p:spPr>
          <a:xfrm>
            <a:off x="3931920" y="5760720"/>
            <a:ext cx="201168" cy="201168"/>
          </a:xfrm>
          <a:prstGeom prst="ellipse">
            <a:avLst/>
          </a:prstGeom>
          <a:solidFill>
            <a:schemeClr val="accent1"/>
          </a:solidFill>
          <a:ln w="12700">
            <a:solidFill>
              <a:schemeClr val="accent1"/>
            </a:solidFill>
            <a:prstDash val="solid"/>
          </a:ln>
        </p:spPr>
      </p:sp>
      <p:sp>
        <p:nvSpPr>
          <p:cNvPr id="31" name="Text 29"/>
          <p:cNvSpPr txBox="1"/>
          <p:nvPr/>
        </p:nvSpPr>
        <p:spPr>
          <a:xfrm>
            <a:off x="4251960" y="5687568"/>
            <a:ext cx="2651760" cy="347472"/>
          </a:xfrm>
          <a:prstGeom prst="rect">
            <a:avLst/>
          </a:prstGeom>
          <a:noFill/>
          <a:ln/>
        </p:spPr>
        <p:txBody>
          <a:bodyPr wrap="square" lIns="0" tIns="0" rIns="0" bIns="0" rtlCol="0" anchor="ctr"/>
          <a:lstStyle/>
          <a:p>
            <a:pPr indent="0" marL="0">
              <a:buNone/>
            </a:pPr>
            <a:r>
              <a:rPr lang="en-US" sz="1400" dirty="0">
                <a:solidFill>
                  <a:schemeClr val="tx1"/>
                </a:solidFill>
              </a:rPr>
              <a:t>Policy institutions</a:t>
            </a:r>
            <a:endParaRPr lang="en-US" sz="1400" dirty="0"/>
          </a:p>
        </p:txBody>
      </p:sp>
      <p:sp>
        <p:nvSpPr>
          <p:cNvPr id="32" name="legend dot 3"/>
          <p:cNvSpPr/>
          <p:nvPr/>
        </p:nvSpPr>
        <p:spPr>
          <a:xfrm>
            <a:off x="7040880" y="5760720"/>
            <a:ext cx="201168" cy="201168"/>
          </a:xfrm>
          <a:prstGeom prst="ellipse">
            <a:avLst/>
          </a:prstGeom>
          <a:solidFill>
            <a:schemeClr val="accent3"/>
          </a:solidFill>
          <a:ln w="12700">
            <a:solidFill>
              <a:schemeClr val="accent3"/>
            </a:solidFill>
            <a:prstDash val="solid"/>
          </a:ln>
        </p:spPr>
      </p:sp>
      <p:sp>
        <p:nvSpPr>
          <p:cNvPr id="33" name="Text 31"/>
          <p:cNvSpPr txBox="1"/>
          <p:nvPr/>
        </p:nvSpPr>
        <p:spPr>
          <a:xfrm>
            <a:off x="7360920" y="5687568"/>
            <a:ext cx="2651760" cy="347472"/>
          </a:xfrm>
          <a:prstGeom prst="rect">
            <a:avLst/>
          </a:prstGeom>
          <a:noFill/>
          <a:ln/>
        </p:spPr>
        <p:txBody>
          <a:bodyPr wrap="square" lIns="0" tIns="0" rIns="0" bIns="0" rtlCol="0" anchor="ctr"/>
          <a:lstStyle/>
          <a:p>
            <a:pPr indent="0" marL="0">
              <a:buNone/>
            </a:pPr>
            <a:r>
              <a:rPr lang="en-US" sz="1400" dirty="0">
                <a:solidFill>
                  <a:schemeClr val="tx1"/>
                </a:solidFill>
              </a:rPr>
              <a:t>Research leadership</a:t>
            </a:r>
            <a:endParaRPr lang="en-US" sz="14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ection photo" descr="Sterling Memorial Library seen across Cross Campus, Yale University">    </p:cNvPr>
          <p:cNvPicPr>
            <a:picLocks noChangeAspect="1"/>
          </p:cNvPicPr>
          <p:nvPr/>
        </p:nvPicPr>
        <p:blipFill>
          <a:blip r:embed="rId1"/>
          <a:stretch>
            <a:fillRect/>
          </a:stretch>
        </p:blipFill>
        <p:spPr>
          <a:xfrm>
            <a:off x="0" y="0"/>
            <a:ext cx="12191695" cy="6858000"/>
          </a:xfrm>
          <a:prstGeom prst="rect">
            <a:avLst/>
          </a:prstGeom>
        </p:spPr>
      </p:pic>
      <p:sp>
        <p:nvSpPr>
          <p:cNvPr id="3" name="photo overlay"/>
          <p:cNvSpPr/>
          <p:nvPr/>
        </p:nvSpPr>
        <p:spPr>
          <a:xfrm>
            <a:off x="0" y="0"/>
            <a:ext cx="12191695" cy="6858000"/>
          </a:xfrm>
          <a:prstGeom prst="rect">
            <a:avLst/>
          </a:prstGeom>
          <a:solidFill>
            <a:schemeClr val="tx2">
              <a:alpha val="80000"/>
            </a:schemeClr>
          </a:solidFill>
          <a:ln/>
        </p:spPr>
      </p:sp>
      <p:sp>
        <p:nvSpPr>
          <p:cNvPr id="4" name="Text 1"/>
          <p:cNvSpPr txBox="1"/>
          <p:nvPr/>
        </p:nvSpPr>
        <p:spPr>
          <a:xfrm>
            <a:off x="6400800" y="6400800"/>
            <a:ext cx="5577840" cy="274320"/>
          </a:xfrm>
          <a:prstGeom prst="rect">
            <a:avLst/>
          </a:prstGeom>
          <a:noFill/>
          <a:ln/>
        </p:spPr>
        <p:txBody>
          <a:bodyPr wrap="square" lIns="0" tIns="0" rIns="0" bIns="0" rtlCol="0" anchor="ctr"/>
          <a:lstStyle/>
          <a:p>
            <a:pPr algn="r" indent="0" marL="0">
              <a:buNone/>
            </a:pPr>
            <a:r>
              <a:rPr lang="en-US" sz="1000" dirty="0">
                <a:solidFill>
                  <a:schemeClr val="bg1"/>
                </a:solidFill>
              </a:rPr>
              <a:t>Photo: Carol M. Highsmith Archive, Library of Congress</a:t>
            </a:r>
            <a:endParaRPr lang="en-US" sz="1000" dirty="0"/>
          </a:p>
        </p:txBody>
      </p:sp>
      <p:sp>
        <p:nvSpPr>
          <p:cNvPr id="5" name="Text 0"/>
          <p:cNvSpPr/>
          <p:nvPr>
            <p:ph idx="100" type="body" hasCustomPrompt="1"/>
          </p:nvPr>
        </p:nvSpPr>
        <p:spPr>
          <a:xfrm>
            <a:off x="731520" y="1828800"/>
            <a:ext cx="10698480" cy="548640"/>
          </a:xfrm>
          <a:prstGeom prst="rect">
            <a:avLst/>
          </a:prstGeom>
          <a:noFill/>
          <a:ln/>
        </p:spPr>
        <p:txBody>
          <a:bodyPr wrap="square" rtlCol="0" anchor="b"/>
          <a:lstStyle/>
          <a:p>
            <a:pPr indent="0" marL="0">
              <a:buNone/>
            </a:pPr>
            <a:r>
              <a:rPr lang="en-US" sz="1800" b="1" dirty="0">
                <a:solidFill>
                  <a:schemeClr val="accent3"/>
                </a:solidFill>
              </a:rPr>
              <a:t>ACT 1</a:t>
            </a:r>
            <a:endParaRPr lang="en-US" sz="1800" dirty="0"/>
          </a:p>
        </p:txBody>
      </p:sp>
      <p:sp>
        <p:nvSpPr>
          <p:cNvPr id="6" name="Text 0"/>
          <p:cNvSpPr/>
          <p:nvPr>
            <p:ph idx="101" type="title" hasCustomPrompt="1"/>
          </p:nvPr>
        </p:nvSpPr>
        <p:spPr>
          <a:xfrm>
            <a:off x="731520" y="2423160"/>
            <a:ext cx="10698480" cy="1188720"/>
          </a:xfrm>
          <a:prstGeom prst="rect">
            <a:avLst/>
          </a:prstGeom>
          <a:noFill/>
          <a:ln/>
        </p:spPr>
        <p:txBody>
          <a:bodyPr wrap="square"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The technical foundation</a:t>
            </a:r>
            <a:endParaRPr lang="en-US" sz="4400" dirty="0"/>
          </a:p>
        </p:txBody>
      </p:sp>
      <p:sp>
        <p:nvSpPr>
          <p:cNvPr id="7" name="Text 0"/>
          <p:cNvSpPr/>
          <p:nvPr>
            <p:ph idx="102" type="body" hasCustomPrompt="1"/>
          </p:nvPr>
        </p:nvSpPr>
        <p:spPr>
          <a:xfrm>
            <a:off x="731520" y="3749040"/>
            <a:ext cx="10058400" cy="1097280"/>
          </a:xfrm>
          <a:prstGeom prst="rect">
            <a:avLst/>
          </a:prstGeom>
          <a:noFill/>
          <a:ln/>
        </p:spPr>
        <p:txBody>
          <a:bodyPr wrap="square" rtlCol="0" anchor="t"/>
          <a:lstStyle/>
          <a:p>
            <a:pPr indent="0" marL="0">
              <a:buNone/>
            </a:pPr>
            <a:r>
              <a:rPr lang="en-US" sz="2000" dirty="0">
                <a:solidFill>
                  <a:schemeClr val="accent5"/>
                </a:solidFill>
              </a:rPr>
              <a:t>Yale, the Cowles Foundation, and learning to prove that the tools we use actually work</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Yale: training at the frontier</a:t>
            </a:r>
            <a:endParaRPr lang="en-US" sz="3400" dirty="0"/>
          </a:p>
        </p:txBody>
      </p:sp>
      <p:sp>
        <p:nvSpPr>
          <p:cNvPr id="3" name="Yale stat 1"/>
          <p:cNvSpPr/>
          <p:nvPr/>
        </p:nvSpPr>
        <p:spPr>
          <a:xfrm>
            <a:off x="548640" y="1463040"/>
            <a:ext cx="5852160" cy="1005840"/>
          </a:xfrm>
          <a:prstGeom prst="roundRect">
            <a:avLst>
              <a:gd name="adj" fmla="val 10909"/>
            </a:avLst>
          </a:prstGeom>
          <a:solidFill>
            <a:schemeClr val="bg2"/>
          </a:solidFill>
          <a:ln w="12700">
            <a:solidFill>
              <a:schemeClr val="bg2"/>
            </a:solidFill>
            <a:prstDash val="solid"/>
          </a:ln>
        </p:spPr>
      </p:sp>
      <p:sp>
        <p:nvSpPr>
          <p:cNvPr id="4" name="Text 2"/>
          <p:cNvSpPr txBox="1"/>
          <p:nvPr/>
        </p:nvSpPr>
        <p:spPr>
          <a:xfrm>
            <a:off x="822960" y="1463040"/>
            <a:ext cx="2560320" cy="100584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1994</a:t>
            </a:r>
            <a:endParaRPr lang="en-US" sz="3600" dirty="0"/>
          </a:p>
        </p:txBody>
      </p:sp>
      <p:sp>
        <p:nvSpPr>
          <p:cNvPr id="5" name="Text 3"/>
          <p:cNvSpPr txBox="1"/>
          <p:nvPr/>
        </p:nvSpPr>
        <p:spPr>
          <a:xfrm>
            <a:off x="3474720" y="1463040"/>
            <a:ext cx="2743200" cy="1005840"/>
          </a:xfrm>
          <a:prstGeom prst="rect">
            <a:avLst/>
          </a:prstGeom>
          <a:noFill/>
          <a:ln/>
        </p:spPr>
        <p:txBody>
          <a:bodyPr wrap="square" lIns="0" tIns="0" rIns="0" bIns="0" rtlCol="0" anchor="ctr"/>
          <a:lstStyle/>
          <a:p>
            <a:pPr indent="0" marL="0">
              <a:buNone/>
            </a:pPr>
            <a:r>
              <a:rPr lang="en-US" sz="1800" b="1" dirty="0">
                <a:solidFill>
                  <a:schemeClr val="tx2"/>
                </a:solidFill>
              </a:rPr>
              <a:t>PhD, Yale University</a:t>
            </a:r>
            <a:endParaRPr lang="en-US" sz="1800" dirty="0"/>
          </a:p>
          <a:p>
            <a:pPr indent="0" marL="0">
              <a:buNone/>
            </a:pPr>
            <a:r>
              <a:rPr lang="en-US" sz="1400" dirty="0">
                <a:solidFill>
                  <a:schemeClr val="tx1"/>
                </a:solidFill>
              </a:rPr>
              <a:t>Conferred Dec 1994, presented May 1995</a:t>
            </a:r>
            <a:endParaRPr lang="en-US" sz="1800" dirty="0"/>
          </a:p>
        </p:txBody>
      </p:sp>
      <p:sp>
        <p:nvSpPr>
          <p:cNvPr id="6" name="Yale stat 2"/>
          <p:cNvSpPr/>
          <p:nvPr/>
        </p:nvSpPr>
        <p:spPr>
          <a:xfrm>
            <a:off x="548640" y="2651760"/>
            <a:ext cx="5852160" cy="1005840"/>
          </a:xfrm>
          <a:prstGeom prst="roundRect">
            <a:avLst>
              <a:gd name="adj" fmla="val 10909"/>
            </a:avLst>
          </a:prstGeom>
          <a:solidFill>
            <a:schemeClr val="bg2"/>
          </a:solidFill>
          <a:ln w="12700">
            <a:solidFill>
              <a:schemeClr val="bg2"/>
            </a:solidFill>
            <a:prstDash val="solid"/>
          </a:ln>
        </p:spPr>
      </p:sp>
      <p:sp>
        <p:nvSpPr>
          <p:cNvPr id="7" name="Text 5"/>
          <p:cNvSpPr txBox="1"/>
          <p:nvPr/>
        </p:nvSpPr>
        <p:spPr>
          <a:xfrm>
            <a:off x="822960" y="2651760"/>
            <a:ext cx="2560320" cy="100584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Sloan</a:t>
            </a:r>
            <a:endParaRPr lang="en-US" sz="3600" dirty="0"/>
          </a:p>
        </p:txBody>
      </p:sp>
      <p:sp>
        <p:nvSpPr>
          <p:cNvPr id="8" name="Text 6"/>
          <p:cNvSpPr txBox="1"/>
          <p:nvPr/>
        </p:nvSpPr>
        <p:spPr>
          <a:xfrm>
            <a:off x="3474720" y="2651760"/>
            <a:ext cx="2743200" cy="1005840"/>
          </a:xfrm>
          <a:prstGeom prst="rect">
            <a:avLst/>
          </a:prstGeom>
          <a:noFill/>
          <a:ln/>
        </p:spPr>
        <p:txBody>
          <a:bodyPr wrap="square" lIns="0" tIns="0" rIns="0" bIns="0" rtlCol="0" anchor="ctr"/>
          <a:lstStyle/>
          <a:p>
            <a:pPr indent="0" marL="0">
              <a:buNone/>
            </a:pPr>
            <a:r>
              <a:rPr lang="en-US" sz="1800" b="1" dirty="0">
                <a:solidFill>
                  <a:schemeClr val="tx2"/>
                </a:solidFill>
              </a:rPr>
              <a:t>Dissertation Fellowship</a:t>
            </a:r>
            <a:endParaRPr lang="en-US" sz="1800" dirty="0"/>
          </a:p>
          <a:p>
            <a:pPr indent="0" marL="0">
              <a:buNone/>
            </a:pPr>
            <a:r>
              <a:rPr lang="en-US" sz="1400" dirty="0">
                <a:solidFill>
                  <a:schemeClr val="tx1"/>
                </a:solidFill>
              </a:rPr>
              <a:t>Alfred P. Sloan Foundation, 1993/94</a:t>
            </a:r>
            <a:endParaRPr lang="en-US" sz="1800" dirty="0"/>
          </a:p>
        </p:txBody>
      </p:sp>
      <p:sp>
        <p:nvSpPr>
          <p:cNvPr id="9" name="Yale stat 3"/>
          <p:cNvSpPr/>
          <p:nvPr/>
        </p:nvSpPr>
        <p:spPr>
          <a:xfrm>
            <a:off x="548640" y="3840480"/>
            <a:ext cx="5852160" cy="1005840"/>
          </a:xfrm>
          <a:prstGeom prst="roundRect">
            <a:avLst>
              <a:gd name="adj" fmla="val 10909"/>
            </a:avLst>
          </a:prstGeom>
          <a:solidFill>
            <a:schemeClr val="bg2"/>
          </a:solidFill>
          <a:ln w="12700">
            <a:solidFill>
              <a:schemeClr val="bg2"/>
            </a:solidFill>
            <a:prstDash val="solid"/>
          </a:ln>
        </p:spPr>
      </p:sp>
      <p:sp>
        <p:nvSpPr>
          <p:cNvPr id="10" name="Text 8"/>
          <p:cNvSpPr txBox="1"/>
          <p:nvPr/>
        </p:nvSpPr>
        <p:spPr>
          <a:xfrm>
            <a:off x="822960" y="3840480"/>
            <a:ext cx="2560320" cy="100584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Bergstrom</a:t>
            </a:r>
            <a:endParaRPr lang="en-US" sz="3600" dirty="0"/>
          </a:p>
        </p:txBody>
      </p:sp>
      <p:sp>
        <p:nvSpPr>
          <p:cNvPr id="11" name="Text 9"/>
          <p:cNvSpPr txBox="1"/>
          <p:nvPr/>
        </p:nvSpPr>
        <p:spPr>
          <a:xfrm>
            <a:off x="3474720" y="3840480"/>
            <a:ext cx="2743200" cy="1005840"/>
          </a:xfrm>
          <a:prstGeom prst="rect">
            <a:avLst/>
          </a:prstGeom>
          <a:noFill/>
          <a:ln/>
        </p:spPr>
        <p:txBody>
          <a:bodyPr wrap="square" lIns="0" tIns="0" rIns="0" bIns="0" rtlCol="0" anchor="ctr"/>
          <a:lstStyle/>
          <a:p>
            <a:pPr indent="0" marL="0">
              <a:buNone/>
            </a:pPr>
            <a:r>
              <a:rPr lang="en-US" sz="1800" b="1" dirty="0">
                <a:solidFill>
                  <a:schemeClr val="tx2"/>
                </a:solidFill>
              </a:rPr>
              <a:t>Prize in Econometrics</a:t>
            </a:r>
            <a:endParaRPr lang="en-US" sz="1800" dirty="0"/>
          </a:p>
          <a:p>
            <a:pPr indent="0" marL="0">
              <a:buNone/>
            </a:pPr>
            <a:r>
              <a:rPr lang="en-US" sz="1400" dirty="0">
                <a:solidFill>
                  <a:schemeClr val="tx1"/>
                </a:solidFill>
              </a:rPr>
              <a:t>A.R. Bergstrom Prize, 1995</a:t>
            </a:r>
            <a:endParaRPr lang="en-US" sz="1800" dirty="0"/>
          </a:p>
        </p:txBody>
      </p:sp>
      <p:pic>
        <p:nvPicPr>
          <p:cNvPr id="12" name="Yale diploma" descr="Yale University PhD diploma of Christopher John McDermott, dated 10 December 1994">    </p:cNvPr>
          <p:cNvPicPr>
            <a:picLocks noChangeAspect="1"/>
          </p:cNvPicPr>
          <p:nvPr/>
        </p:nvPicPr>
        <p:blipFill>
          <a:blip r:embed="rId1"/>
          <a:stretch>
            <a:fillRect/>
          </a:stretch>
        </p:blipFill>
        <p:spPr>
          <a:xfrm>
            <a:off x="6766560" y="1463040"/>
            <a:ext cx="4846320" cy="3634740"/>
          </a:xfrm>
          <a:prstGeom prst="rect">
            <a:avLst/>
          </a:prstGeom>
          <a:effectLst>
            <a:outerShdw sx="100000" sy="100000" kx="0" ky="0" algn="bl" rotWithShape="0" blurRad="101600" dist="38100" dir="5400000">
              <a:srgbClr val="1F2A30">
                <a:alpha val="25000"/>
              </a:srgbClr>
            </a:outerShdw>
          </a:effectLst>
        </p:spPr>
      </p:pic>
      <p:sp>
        <p:nvSpPr>
          <p:cNvPr id="13" name="Text 10"/>
          <p:cNvSpPr txBox="1"/>
          <p:nvPr/>
        </p:nvSpPr>
        <p:spPr>
          <a:xfrm>
            <a:off x="548640" y="5257800"/>
            <a:ext cx="11064240" cy="868680"/>
          </a:xfrm>
          <a:prstGeom prst="rect">
            <a:avLst/>
          </a:prstGeom>
          <a:noFill/>
          <a:ln/>
        </p:spPr>
        <p:txBody>
          <a:bodyPr wrap="square" lIns="0" tIns="0" rIns="0" bIns="0" rtlCol="0" anchor="t"/>
          <a:lstStyle/>
          <a:p>
            <a:pPr indent="0" marL="0">
              <a:buNone/>
            </a:pPr>
            <a:r>
              <a:rPr lang="en-US" sz="1600" b="1" dirty="0">
                <a:solidFill>
                  <a:schemeClr val="accent1"/>
                </a:solidFill>
              </a:rPr>
              <a:t>Before Yale: </a:t>
            </a:r>
            <a:pPr indent="0" marL="0">
              <a:buNone/>
            </a:pPr>
            <a:r>
              <a:rPr lang="en-US" sz="1600" dirty="0">
                <a:solidFill>
                  <a:schemeClr val="tx1"/>
                </a:solidFill>
              </a:rPr>
              <a:t>Auckland MCom (first-class honours) and two years at the RBNZ. </a:t>
            </a:r>
            <a:pPr indent="0" marL="0">
              <a:buNone/>
            </a:pPr>
            <a:r>
              <a:rPr lang="en-US" sz="1600" b="1" dirty="0">
                <a:solidFill>
                  <a:schemeClr val="accent1"/>
                </a:solidFill>
              </a:rPr>
              <a:t>At Yale: </a:t>
            </a:r>
            <a:pPr indent="0" marL="0">
              <a:buNone/>
            </a:pPr>
            <a:r>
              <a:rPr lang="en-US" sz="1600" dirty="0">
                <a:solidFill>
                  <a:schemeClr val="tx1"/>
                </a:solidFill>
              </a:rPr>
              <a:t>co-authored with Donald W. K. Andrews, one of the leading econometric theorists of his generation, published in the </a:t>
            </a:r>
            <a:pPr indent="0" marL="0">
              <a:buNone/>
            </a:pPr>
            <a:r>
              <a:rPr lang="en-US" sz="1600" i="1" dirty="0">
                <a:solidFill>
                  <a:schemeClr val="tx1"/>
                </a:solidFill>
              </a:rPr>
              <a:t>Review of Economic Studies</a:t>
            </a:r>
            <a:pPr indent="0" marL="0">
              <a:buNone/>
            </a:pPr>
            <a:r>
              <a:rPr lang="en-US" sz="1600" dirty="0">
                <a:solidFill>
                  <a:schemeClr val="tx1"/>
                </a:solidFill>
              </a:rPr>
              <a:t> (1995).</a:t>
            </a:r>
            <a:endParaRPr lang="en-US" sz="16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The problem: trends in nonlinear models</a:t>
            </a:r>
            <a:endParaRPr lang="en-US" sz="3400" dirty="0"/>
          </a:p>
        </p:txBody>
      </p:sp>
      <p:sp>
        <p:nvSpPr>
          <p:cNvPr id="3" name="Text 1"/>
          <p:cNvSpPr txBox="1"/>
          <p:nvPr/>
        </p:nvSpPr>
        <p:spPr>
          <a:xfrm>
            <a:off x="548640" y="1188720"/>
            <a:ext cx="11064240" cy="365760"/>
          </a:xfrm>
          <a:prstGeom prst="rect">
            <a:avLst/>
          </a:prstGeom>
          <a:noFill/>
          <a:ln/>
        </p:spPr>
        <p:txBody>
          <a:bodyPr wrap="square" lIns="0" tIns="0" rIns="0" bIns="0" rtlCol="0" anchor="ctr"/>
          <a:lstStyle/>
          <a:p>
            <a:pPr indent="0" marL="0">
              <a:buNone/>
            </a:pPr>
            <a:r>
              <a:rPr lang="en-US" sz="1400" i="1" dirty="0">
                <a:solidFill>
                  <a:schemeClr val="accent4"/>
                </a:solidFill>
              </a:rPr>
              <a:t>Andrews and McDermott (1995), Review of Economic Studies 62, 343–360</a:t>
            </a:r>
            <a:endParaRPr lang="en-US" sz="1400" dirty="0"/>
          </a:p>
        </p:txBody>
      </p:sp>
      <p:sp>
        <p:nvSpPr>
          <p:cNvPr id="4" name="decomposition card"/>
          <p:cNvSpPr/>
          <p:nvPr/>
        </p:nvSpPr>
        <p:spPr>
          <a:xfrm>
            <a:off x="548640" y="1737360"/>
            <a:ext cx="5486400" cy="4343400"/>
          </a:xfrm>
          <a:prstGeom prst="roundRect">
            <a:avLst>
              <a:gd name="adj" fmla="val 2526"/>
            </a:avLst>
          </a:prstGeom>
          <a:solidFill>
            <a:schemeClr val="bg2"/>
          </a:solidFill>
          <a:ln w="12700">
            <a:solidFill>
              <a:schemeClr val="bg2"/>
            </a:solidFill>
            <a:prstDash val="solid"/>
          </a:ln>
        </p:spPr>
      </p:sp>
      <p:sp>
        <p:nvSpPr>
          <p:cNvPr id="5" name="Text 3"/>
          <p:cNvSpPr txBox="1"/>
          <p:nvPr/>
        </p:nvSpPr>
        <p:spPr>
          <a:xfrm>
            <a:off x="868680" y="1920240"/>
            <a:ext cx="4937760" cy="411480"/>
          </a:xfrm>
          <a:prstGeom prst="rect">
            <a:avLst/>
          </a:prstGeom>
          <a:noFill/>
          <a:ln/>
        </p:spPr>
        <p:txBody>
          <a:bodyPr wrap="square" lIns="0" tIns="0" rIns="0" bIns="0" rtlCol="0" anchor="ctr"/>
          <a:lstStyle/>
          <a:p>
            <a:pPr indent="0" marL="0">
              <a:buNone/>
            </a:pPr>
            <a:r>
              <a:rPr lang="en-US" sz="1800" b="1" dirty="0">
                <a:solidFill>
                  <a:schemeClr val="tx2"/>
                </a:solidFill>
              </a:rPr>
              <a:t>Observed data = trend ∘ stochastic part</a:t>
            </a:r>
            <a:endParaRPr lang="en-US" sz="1800" dirty="0"/>
          </a:p>
        </p:txBody>
      </p:sp>
      <p:sp>
        <p:nvSpPr>
          <p:cNvPr id="6" name="Text 4"/>
          <p:cNvSpPr txBox="1"/>
          <p:nvPr/>
        </p:nvSpPr>
        <p:spPr>
          <a:xfrm>
            <a:off x="868680" y="2468880"/>
            <a:ext cx="4937760" cy="548640"/>
          </a:xfrm>
          <a:prstGeom prst="rect">
            <a:avLst/>
          </a:prstGeom>
          <a:noFill/>
          <a:ln/>
        </p:spPr>
        <p:txBody>
          <a:bodyPr wrap="square" lIns="0" tIns="0" rIns="0" bIns="0" rtlCol="0" anchor="ctr"/>
          <a:lstStyle/>
          <a:p>
            <a:pPr indent="0" marL="0">
              <a:buNone/>
            </a:pPr>
            <a:r>
              <a:rPr lang="en-US" sz="2600" i="1" dirty="0">
                <a:solidFill>
                  <a:schemeClr val="tx2"/>
                </a:solidFill>
                <a:latin typeface="Cambria" pitchFamily="34" charset="0"/>
                <a:ea typeface="Cambria" pitchFamily="34" charset="-122"/>
                <a:cs typeface="Cambria" pitchFamily="34" charset="-120"/>
              </a:rPr>
              <a:t>W</a:t>
            </a:r>
            <a:pPr indent="0" marL="0">
              <a:buNone/>
            </a:pPr>
            <a:r>
              <a:rPr lang="en-US" sz="2600" i="1" baseline="-40000" dirty="0">
                <a:solidFill>
                  <a:schemeClr val="tx2"/>
                </a:solidFill>
                <a:latin typeface="Cambria" pitchFamily="34" charset="0"/>
                <a:ea typeface="Cambria" pitchFamily="34" charset="-122"/>
                <a:cs typeface="Cambria" pitchFamily="34" charset="-120"/>
              </a:rPr>
              <a:t>t</a:t>
            </a:r>
            <a:pPr indent="0" marL="0">
              <a:buNone/>
            </a:pPr>
            <a:r>
              <a:rPr lang="en-US" sz="2600" i="1" dirty="0">
                <a:solidFill>
                  <a:schemeClr val="tx2"/>
                </a:solidFill>
                <a:latin typeface="Cambria" pitchFamily="34" charset="0"/>
                <a:ea typeface="Cambria" pitchFamily="34" charset="-122"/>
                <a:cs typeface="Cambria" pitchFamily="34" charset="-120"/>
              </a:rPr>
              <a:t> = d(t, Z</a:t>
            </a:r>
            <a:pPr indent="0" marL="0">
              <a:buNone/>
            </a:pPr>
            <a:r>
              <a:rPr lang="en-US" sz="2600" i="1" baseline="-40000" dirty="0">
                <a:solidFill>
                  <a:schemeClr val="tx2"/>
                </a:solidFill>
                <a:latin typeface="Cambria" pitchFamily="34" charset="0"/>
                <a:ea typeface="Cambria" pitchFamily="34" charset="-122"/>
                <a:cs typeface="Cambria" pitchFamily="34" charset="-120"/>
              </a:rPr>
              <a:t>t</a:t>
            </a:r>
            <a:pPr indent="0" marL="0">
              <a:buNone/>
            </a:pPr>
            <a:r>
              <a:rPr lang="en-US" sz="2600" i="1" dirty="0">
                <a:solidFill>
                  <a:schemeClr val="tx2"/>
                </a:solidFill>
                <a:latin typeface="Cambria" pitchFamily="34" charset="0"/>
                <a:ea typeface="Cambria" pitchFamily="34" charset="-122"/>
                <a:cs typeface="Cambria" pitchFamily="34" charset="-120"/>
              </a:rPr>
              <a:t>),   t = 1, …, T*</a:t>
            </a:r>
            <a:endParaRPr lang="en-US" sz="2600" dirty="0"/>
          </a:p>
        </p:txBody>
      </p:sp>
      <p:sp>
        <p:nvSpPr>
          <p:cNvPr id="7" name="Text 5"/>
          <p:cNvSpPr txBox="1"/>
          <p:nvPr/>
        </p:nvSpPr>
        <p:spPr>
          <a:xfrm>
            <a:off x="868680" y="3200400"/>
            <a:ext cx="4937760" cy="365760"/>
          </a:xfrm>
          <a:prstGeom prst="rect">
            <a:avLst/>
          </a:prstGeom>
          <a:noFill/>
          <a:ln/>
        </p:spPr>
        <p:txBody>
          <a:bodyPr wrap="square" lIns="0" tIns="0" rIns="0" bIns="0" rtlCol="0" anchor="ctr"/>
          <a:lstStyle/>
          <a:p>
            <a:pPr indent="0" marL="0">
              <a:buNone/>
            </a:pPr>
            <a:r>
              <a:rPr lang="en-US" sz="1600" dirty="0">
                <a:solidFill>
                  <a:schemeClr val="tx1"/>
                </a:solidFill>
              </a:rPr>
              <a:t>Trend shapes economists actually use:</a:t>
            </a:r>
            <a:endParaRPr lang="en-US" sz="1600" dirty="0"/>
          </a:p>
        </p:txBody>
      </p:sp>
      <p:sp>
        <p:nvSpPr>
          <p:cNvPr id="8" name="Text 6"/>
          <p:cNvSpPr txBox="1"/>
          <p:nvPr/>
        </p:nvSpPr>
        <p:spPr>
          <a:xfrm>
            <a:off x="868680" y="3611880"/>
            <a:ext cx="4937760" cy="1371600"/>
          </a:xfrm>
          <a:prstGeom prst="rect">
            <a:avLst/>
          </a:prstGeom>
          <a:noFill/>
          <a:ln/>
        </p:spPr>
        <p:txBody>
          <a:bodyPr wrap="square" lIns="0" tIns="0" rIns="0" bIns="0" rtlCol="0" anchor="t"/>
          <a:lstStyle/>
          <a:p>
            <a:pPr indent="0" marL="0">
              <a:spcAft>
                <a:spcPts val="400"/>
              </a:spcAft>
              <a:buNone/>
            </a:pPr>
            <a:r>
              <a:rPr lang="en-US" sz="2000" i="1" dirty="0">
                <a:solidFill>
                  <a:schemeClr val="accent2"/>
                </a:solidFill>
                <a:latin typeface="Cambria" pitchFamily="34" charset="0"/>
                <a:ea typeface="Cambria" pitchFamily="34" charset="-122"/>
                <a:cs typeface="Cambria" pitchFamily="34" charset="-120"/>
              </a:rPr>
              <a:t>d(t) = bt + ct</a:t>
            </a:r>
            <a:pPr indent="0" marL="0">
              <a:spcAft>
                <a:spcPts val="400"/>
              </a:spcAft>
              <a:buNone/>
            </a:pPr>
            <a:r>
              <a:rPr lang="en-US" sz="2000" i="1" baseline="30000" dirty="0">
                <a:solidFill>
                  <a:schemeClr val="accent2"/>
                </a:solidFill>
                <a:latin typeface="Cambria" pitchFamily="34" charset="0"/>
                <a:ea typeface="Cambria" pitchFamily="34" charset="-122"/>
                <a:cs typeface="Cambria" pitchFamily="34" charset="-120"/>
              </a:rPr>
              <a:t>2</a:t>
            </a:r>
            <a:endParaRPr lang="en-US" sz="2000" dirty="0"/>
          </a:p>
          <a:p>
            <a:pPr indent="0" marL="0">
              <a:spcAft>
                <a:spcPts val="400"/>
              </a:spcAft>
              <a:buNone/>
            </a:pPr>
            <a:r>
              <a:rPr lang="en-US" sz="2000" i="1" dirty="0">
                <a:solidFill>
                  <a:schemeClr val="accent2"/>
                </a:solidFill>
                <a:latin typeface="Cambria" pitchFamily="34" charset="0"/>
                <a:ea typeface="Cambria" pitchFamily="34" charset="-122"/>
                <a:cs typeface="Cambria" pitchFamily="34" charset="-120"/>
              </a:rPr>
              <a:t>d(t) = exp(bt)</a:t>
            </a:r>
            <a:endParaRPr lang="en-US" sz="2000" dirty="0"/>
          </a:p>
          <a:p>
            <a:pPr indent="0" marL="0">
              <a:spcAft>
                <a:spcPts val="400"/>
              </a:spcAft>
              <a:buNone/>
            </a:pPr>
            <a:r>
              <a:rPr lang="en-US" sz="2000" i="1" dirty="0">
                <a:solidFill>
                  <a:schemeClr val="accent2"/>
                </a:solidFill>
                <a:latin typeface="Cambria" pitchFamily="34" charset="0"/>
                <a:ea typeface="Cambria" pitchFamily="34" charset="-122"/>
                <a:cs typeface="Cambria" pitchFamily="34" charset="-120"/>
              </a:rPr>
              <a:t>d(t) = bt for t ≤ G,  ct for t &gt; G</a:t>
            </a:r>
            <a:endParaRPr lang="en-US" sz="2000" dirty="0"/>
          </a:p>
        </p:txBody>
      </p:sp>
      <p:sp>
        <p:nvSpPr>
          <p:cNvPr id="9" name="Text 7"/>
          <p:cNvSpPr txBox="1"/>
          <p:nvPr/>
        </p:nvSpPr>
        <p:spPr>
          <a:xfrm>
            <a:off x="868680" y="5074920"/>
            <a:ext cx="4937760" cy="365760"/>
          </a:xfrm>
          <a:prstGeom prst="rect">
            <a:avLst/>
          </a:prstGeom>
          <a:noFill/>
          <a:ln/>
        </p:spPr>
        <p:txBody>
          <a:bodyPr wrap="square" lIns="0" tIns="0" rIns="0" bIns="0" rtlCol="0" anchor="ctr"/>
          <a:lstStyle/>
          <a:p>
            <a:pPr indent="0" marL="0">
              <a:buNone/>
            </a:pPr>
            <a:r>
              <a:rPr lang="en-US" sz="1400" dirty="0">
                <a:solidFill>
                  <a:schemeClr val="accent4"/>
                </a:solidFill>
              </a:rPr>
              <a:t>Polynomial  ·  exponential (levels)  ·  broken trend</a:t>
            </a:r>
            <a:endParaRPr lang="en-US" sz="1400" dirty="0"/>
          </a:p>
        </p:txBody>
      </p:sp>
      <p:sp>
        <p:nvSpPr>
          <p:cNvPr id="10" name="Text 8"/>
          <p:cNvSpPr txBox="1"/>
          <p:nvPr/>
        </p:nvSpPr>
        <p:spPr>
          <a:xfrm>
            <a:off x="6400800" y="1783080"/>
            <a:ext cx="5212080" cy="411480"/>
          </a:xfrm>
          <a:prstGeom prst="rect">
            <a:avLst/>
          </a:prstGeom>
          <a:noFill/>
          <a:ln/>
        </p:spPr>
        <p:txBody>
          <a:bodyPr wrap="square" lIns="0" tIns="0" rIns="0" bIns="0" rtlCol="0" anchor="ctr"/>
          <a:lstStyle/>
          <a:p>
            <a:pPr indent="0" marL="0">
              <a:buNone/>
            </a:pPr>
            <a:r>
              <a:rPr lang="en-US" sz="1800" b="1" dirty="0">
                <a:solidFill>
                  <a:schemeClr val="accent1"/>
                </a:solidFill>
              </a:rPr>
              <a:t>Why standard asymptotics struggle</a:t>
            </a:r>
            <a:endParaRPr lang="en-US" sz="1800" dirty="0"/>
          </a:p>
        </p:txBody>
      </p:sp>
      <p:sp>
        <p:nvSpPr>
          <p:cNvPr id="11" name="Text 9"/>
          <p:cNvSpPr txBox="1"/>
          <p:nvPr/>
        </p:nvSpPr>
        <p:spPr>
          <a:xfrm>
            <a:off x="6400800" y="2286000"/>
            <a:ext cx="5212080" cy="374904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chemeClr val="tx1"/>
                </a:solidFill>
              </a:rPr>
              <a:t>As T → ∞ the trend’s magnitude explodes, so the asymptotics stop mimicking the sample we actually have</a:t>
            </a:r>
            <a:endParaRPr lang="en-US" sz="1600" dirty="0"/>
          </a:p>
          <a:p>
            <a:pPr marL="342900" indent="-342900">
              <a:spcAft>
                <a:spcPts val="1000"/>
              </a:spcAft>
              <a:buSzPct val="100000"/>
              <a:buChar char="•"/>
            </a:pPr>
            <a:r>
              <a:rPr lang="en-US" sz="1600" dirty="0">
                <a:solidFill>
                  <a:schemeClr val="tx1"/>
                </a:solidFill>
              </a:rPr>
              <a:t>With an exponential trend in levels, the Lindeberg condition fails: no CLT, even with iid bounded shocks</a:t>
            </a:r>
            <a:endParaRPr lang="en-US" sz="1600" dirty="0"/>
          </a:p>
          <a:p>
            <a:pPr marL="342900" indent="-342900">
              <a:spcAft>
                <a:spcPts val="1000"/>
              </a:spcAft>
              <a:buSzPct val="100000"/>
              <a:buChar char="•"/>
            </a:pPr>
            <a:r>
              <a:rPr lang="en-US" sz="1600" dirty="0">
                <a:solidFill>
                  <a:schemeClr val="tx1"/>
                </a:solidFill>
              </a:rPr>
              <a:t>Results depend on the trend for t far beyond the sample, which is irrelevant to the data in hand</a:t>
            </a:r>
            <a:endParaRPr lang="en-US" sz="1600" dirty="0"/>
          </a:p>
          <a:p>
            <a:pPr marL="342900" indent="-342900">
              <a:spcAft>
                <a:spcPts val="1000"/>
              </a:spcAft>
              <a:buSzPct val="100000"/>
              <a:buChar char="•"/>
            </a:pPr>
            <a:r>
              <a:rPr lang="en-US" sz="1600" dirty="0">
                <a:solidFill>
                  <a:schemeClr val="tx1"/>
                </a:solidFill>
              </a:rPr>
              <a:t>Existing results (sequential asymptotics) rest on high-level conditions that are hard to verify</a:t>
            </a:r>
            <a:endParaRPr lang="en-US" sz="16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The idea: a triangular array</a:t>
            </a:r>
            <a:endParaRPr lang="en-US" sz="3400" dirty="0"/>
          </a:p>
        </p:txBody>
      </p:sp>
      <p:sp>
        <p:nvSpPr>
          <p:cNvPr id="3" name="Text 1"/>
          <p:cNvSpPr txBox="1"/>
          <p:nvPr/>
        </p:nvSpPr>
        <p:spPr>
          <a:xfrm>
            <a:off x="548640" y="1280160"/>
            <a:ext cx="11064240" cy="594360"/>
          </a:xfrm>
          <a:prstGeom prst="rect">
            <a:avLst/>
          </a:prstGeom>
          <a:noFill/>
          <a:ln/>
        </p:spPr>
        <p:txBody>
          <a:bodyPr wrap="square" lIns="0" tIns="0" rIns="0" bIns="0" rtlCol="0" anchor="ctr"/>
          <a:lstStyle/>
          <a:p>
            <a:pPr algn="ctr" indent="0" marL="0">
              <a:buNone/>
            </a:pPr>
            <a:r>
              <a:rPr lang="en-US" sz="2600" i="1" dirty="0">
                <a:solidFill>
                  <a:schemeClr val="tx2"/>
                </a:solidFill>
                <a:latin typeface="Cambria" pitchFamily="34" charset="0"/>
                <a:ea typeface="Cambria" pitchFamily="34" charset="-122"/>
                <a:cs typeface="Cambria" pitchFamily="34" charset="-120"/>
              </a:rPr>
              <a:t>W</a:t>
            </a:r>
            <a:pPr algn="ctr" indent="0" marL="0">
              <a:buNone/>
            </a:pPr>
            <a:r>
              <a:rPr lang="en-US" sz="2600" i="1" baseline="-40000" dirty="0">
                <a:solidFill>
                  <a:schemeClr val="tx2"/>
                </a:solidFill>
                <a:latin typeface="Cambria" pitchFamily="34" charset="0"/>
                <a:ea typeface="Cambria" pitchFamily="34" charset="-122"/>
                <a:cs typeface="Cambria" pitchFamily="34" charset="-120"/>
              </a:rPr>
              <a:t>Tt</a:t>
            </a:r>
            <a:pPr algn="ctr" indent="0" marL="0">
              <a:buNone/>
            </a:pPr>
            <a:r>
              <a:rPr lang="en-US" sz="2600" i="1" dirty="0">
                <a:solidFill>
                  <a:schemeClr val="tx2"/>
                </a:solidFill>
                <a:latin typeface="Cambria" pitchFamily="34" charset="0"/>
                <a:ea typeface="Cambria" pitchFamily="34" charset="-122"/>
                <a:cs typeface="Cambria" pitchFamily="34" charset="-120"/>
              </a:rPr>
              <a:t> = d( (T*/T)·t , Z</a:t>
            </a:r>
            <a:pPr algn="ctr" indent="0" marL="0">
              <a:buNone/>
            </a:pPr>
            <a:r>
              <a:rPr lang="en-US" sz="2600" i="1" baseline="-40000" dirty="0">
                <a:solidFill>
                  <a:schemeClr val="tx2"/>
                </a:solidFill>
                <a:latin typeface="Cambria" pitchFamily="34" charset="0"/>
                <a:ea typeface="Cambria" pitchFamily="34" charset="-122"/>
                <a:cs typeface="Cambria" pitchFamily="34" charset="-120"/>
              </a:rPr>
              <a:t>t</a:t>
            </a:r>
            <a:pPr algn="ctr" indent="0" marL="0">
              <a:buNone/>
            </a:pPr>
            <a:r>
              <a:rPr lang="en-US" sz="2600" i="1" dirty="0">
                <a:solidFill>
                  <a:schemeClr val="tx2"/>
                </a:solidFill>
                <a:latin typeface="Cambria" pitchFamily="34" charset="0"/>
                <a:ea typeface="Cambria" pitchFamily="34" charset="-122"/>
                <a:cs typeface="Cambria" pitchFamily="34" charset="-120"/>
              </a:rPr>
              <a:t> ),   t = 1, …, T,   T ≥ 1</a:t>
            </a:r>
            <a:endParaRPr lang="en-US" sz="2600" dirty="0"/>
          </a:p>
        </p:txBody>
      </p:sp>
      <p:sp>
        <p:nvSpPr>
          <p:cNvPr id="4" name="Text 2"/>
          <p:cNvSpPr txBox="1"/>
          <p:nvPr/>
        </p:nvSpPr>
        <p:spPr>
          <a:xfrm>
            <a:off x="548640" y="1874520"/>
            <a:ext cx="11064240" cy="411480"/>
          </a:xfrm>
          <a:prstGeom prst="rect">
            <a:avLst/>
          </a:prstGeom>
          <a:noFill/>
          <a:ln/>
        </p:spPr>
        <p:txBody>
          <a:bodyPr wrap="square" lIns="0" tIns="0" rIns="0" bIns="0" rtlCol="0" anchor="ctr"/>
          <a:lstStyle/>
          <a:p>
            <a:pPr algn="ctr" indent="0" marL="0">
              <a:buNone/>
            </a:pPr>
            <a:r>
              <a:rPr lang="en-US" sz="1600" dirty="0">
                <a:solidFill>
                  <a:schemeClr val="accent4"/>
                </a:solidFill>
              </a:rPr>
              <a:t>At T = T* this is exactly the observed sample. As T grows we observe the same trend shape more densely, not a longer trend.</a:t>
            </a:r>
            <a:endParaRPr lang="en-US" sz="1600" dirty="0"/>
          </a:p>
        </p:txBody>
      </p:sp>
      <p:graphicFrame>
        <p:nvGraphicFramePr>
          <p:cNvPr id="5" name="Chart 0" descr=""/>
          <p:cNvGraphicFramePr/>
          <p:nvPr/>
        </p:nvGraphicFramePr>
        <p:xfrm>
          <a:off x="548640" y="2468880"/>
          <a:ext cx="548640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309360" y="2468880"/>
          <a:ext cx="5303520" cy="3291840"/>
        </p:xfrm>
        <a:graphic xmlns:a="http://schemas.openxmlformats.org/drawingml/2006/main">
          <a:graphicData uri="http://schemas.openxmlformats.org/drawingml/2006/chart">
            <c:chart xmlns:c="http://schemas.openxmlformats.org/drawingml/2006/chart" r:id="rId2"/>
          </a:graphicData>
        </a:graphic>
      </p:graphicFrame>
      <p:sp>
        <p:nvSpPr>
          <p:cNvPr id="7" name="Text 3"/>
          <p:cNvSpPr txBox="1"/>
          <p:nvPr/>
        </p:nvSpPr>
        <p:spPr>
          <a:xfrm>
            <a:off x="548640" y="5852160"/>
            <a:ext cx="11064240" cy="320040"/>
          </a:xfrm>
          <a:prstGeom prst="rect">
            <a:avLst/>
          </a:prstGeom>
          <a:noFill/>
          <a:ln/>
        </p:spPr>
        <p:txBody>
          <a:bodyPr wrap="square" lIns="0" tIns="0" rIns="0" bIns="0" rtlCol="0" anchor="ctr"/>
          <a:lstStyle/>
          <a:p>
            <a:pPr indent="0" marL="0">
              <a:buNone/>
            </a:pPr>
            <a:r>
              <a:rPr lang="en-US" sz="1100" i="1" dirty="0">
                <a:solidFill>
                  <a:schemeClr val="accent4"/>
                </a:solidFill>
              </a:rPr>
              <a:t>Illustrative: exponential trend with b = 0.02, T* = 40</a:t>
            </a:r>
            <a:endParaRPr lang="en-US" sz="11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The result: the standard toolkit is justified</a:t>
            </a:r>
            <a:endParaRPr lang="en-US" sz="3400" dirty="0"/>
          </a:p>
        </p:txBody>
      </p:sp>
      <p:sp>
        <p:nvSpPr>
          <p:cNvPr id="3" name="result card"/>
          <p:cNvSpPr/>
          <p:nvPr/>
        </p:nvSpPr>
        <p:spPr>
          <a:xfrm>
            <a:off x="548640" y="1463040"/>
            <a:ext cx="6583680" cy="4480560"/>
          </a:xfrm>
          <a:prstGeom prst="roundRect">
            <a:avLst>
              <a:gd name="adj" fmla="val 2449"/>
            </a:avLst>
          </a:prstGeom>
          <a:solidFill>
            <a:schemeClr val="bg2"/>
          </a:solidFill>
          <a:ln w="12700">
            <a:solidFill>
              <a:schemeClr val="bg2"/>
            </a:solidFill>
            <a:prstDash val="solid"/>
          </a:ln>
        </p:spPr>
      </p:sp>
      <p:sp>
        <p:nvSpPr>
          <p:cNvPr id="4" name="Text 2"/>
          <p:cNvSpPr txBox="1"/>
          <p:nvPr/>
        </p:nvSpPr>
        <p:spPr>
          <a:xfrm>
            <a:off x="868680" y="1691640"/>
            <a:ext cx="6035040" cy="411480"/>
          </a:xfrm>
          <a:prstGeom prst="rect">
            <a:avLst/>
          </a:prstGeom>
          <a:noFill/>
          <a:ln/>
        </p:spPr>
        <p:txBody>
          <a:bodyPr wrap="square" lIns="0" tIns="0" rIns="0" bIns="0" rtlCol="0" anchor="ctr"/>
          <a:lstStyle/>
          <a:p>
            <a:pPr indent="0" marL="0">
              <a:buNone/>
            </a:pPr>
            <a:r>
              <a:rPr lang="en-US" sz="1800" b="1" dirty="0">
                <a:solidFill>
                  <a:schemeClr val="tx2"/>
                </a:solidFill>
              </a:rPr>
              <a:t>For GMM / extremum estimators under the triangular array</a:t>
            </a:r>
            <a:endParaRPr lang="en-US" sz="1800" dirty="0"/>
          </a:p>
        </p:txBody>
      </p:sp>
      <p:sp>
        <p:nvSpPr>
          <p:cNvPr id="5" name="Text 3"/>
          <p:cNvSpPr txBox="1"/>
          <p:nvPr/>
        </p:nvSpPr>
        <p:spPr>
          <a:xfrm>
            <a:off x="868680" y="2331720"/>
            <a:ext cx="6035040" cy="640080"/>
          </a:xfrm>
          <a:prstGeom prst="rect">
            <a:avLst/>
          </a:prstGeom>
          <a:noFill/>
          <a:ln/>
        </p:spPr>
        <p:txBody>
          <a:bodyPr wrap="square" lIns="0" tIns="0" rIns="0" bIns="0" rtlCol="0" anchor="ctr"/>
          <a:lstStyle/>
          <a:p>
            <a:pPr indent="0" marL="0">
              <a:buNone/>
            </a:pPr>
            <a:r>
              <a:rPr lang="en-US" sz="2800" i="1" dirty="0">
                <a:solidFill>
                  <a:schemeClr val="accent2"/>
                </a:solidFill>
                <a:latin typeface="Cambria" pitchFamily="34" charset="0"/>
                <a:ea typeface="Cambria" pitchFamily="34" charset="-122"/>
                <a:cs typeface="Cambria" pitchFamily="34" charset="-120"/>
              </a:rPr>
              <a:t>√T ( θ</a:t>
            </a:r>
            <a:pPr indent="0" marL="0">
              <a:buNone/>
            </a:pPr>
            <a:r>
              <a:rPr lang="en-US" sz="2800" i="1" baseline="-40000" dirty="0">
                <a:solidFill>
                  <a:schemeClr val="accent2"/>
                </a:solidFill>
                <a:latin typeface="Cambria" pitchFamily="34" charset="0"/>
                <a:ea typeface="Cambria" pitchFamily="34" charset="-122"/>
                <a:cs typeface="Cambria" pitchFamily="34" charset="-120"/>
              </a:rPr>
              <a:t>T</a:t>
            </a:r>
            <a:pPr indent="0" marL="0">
              <a:buNone/>
            </a:pPr>
            <a:r>
              <a:rPr lang="en-US" sz="2800" i="1" dirty="0">
                <a:solidFill>
                  <a:schemeClr val="accent2"/>
                </a:solidFill>
                <a:latin typeface="Cambria" pitchFamily="34" charset="0"/>
                <a:ea typeface="Cambria" pitchFamily="34" charset="-122"/>
                <a:cs typeface="Cambria" pitchFamily="34" charset="-120"/>
              </a:rPr>
              <a:t> − θ</a:t>
            </a:r>
            <a:pPr indent="0" marL="0">
              <a:buNone/>
            </a:pPr>
            <a:r>
              <a:rPr lang="en-US" sz="2800" i="1" baseline="-40000" dirty="0">
                <a:solidFill>
                  <a:schemeClr val="accent2"/>
                </a:solidFill>
                <a:latin typeface="Cambria" pitchFamily="34" charset="0"/>
                <a:ea typeface="Cambria" pitchFamily="34" charset="-122"/>
                <a:cs typeface="Cambria" pitchFamily="34" charset="-120"/>
              </a:rPr>
              <a:t>0</a:t>
            </a:r>
            <a:pPr indent="0" marL="0">
              <a:buNone/>
            </a:pPr>
            <a:r>
              <a:rPr lang="en-US" sz="2800" i="1" dirty="0">
                <a:solidFill>
                  <a:schemeClr val="accent2"/>
                </a:solidFill>
                <a:latin typeface="Cambria" pitchFamily="34" charset="0"/>
                <a:ea typeface="Cambria" pitchFamily="34" charset="-122"/>
                <a:cs typeface="Cambria" pitchFamily="34" charset="-120"/>
              </a:rPr>
              <a:t> )  →</a:t>
            </a:r>
            <a:pPr indent="0" marL="0">
              <a:buNone/>
            </a:pPr>
            <a:r>
              <a:rPr lang="en-US" sz="2800" i="1" baseline="30000" dirty="0">
                <a:solidFill>
                  <a:schemeClr val="accent2"/>
                </a:solidFill>
                <a:latin typeface="Cambria" pitchFamily="34" charset="0"/>
                <a:ea typeface="Cambria" pitchFamily="34" charset="-122"/>
                <a:cs typeface="Cambria" pitchFamily="34" charset="-120"/>
              </a:rPr>
              <a:t>d</a:t>
            </a:r>
            <a:pPr indent="0" marL="0">
              <a:buNone/>
            </a:pPr>
            <a:r>
              <a:rPr lang="en-US" sz="2800" i="1" dirty="0">
                <a:solidFill>
                  <a:schemeClr val="accent2"/>
                </a:solidFill>
                <a:latin typeface="Cambria" pitchFamily="34" charset="0"/>
                <a:ea typeface="Cambria" pitchFamily="34" charset="-122"/>
                <a:cs typeface="Cambria" pitchFamily="34" charset="-120"/>
              </a:rPr>
              <a:t>  N( 0, V )</a:t>
            </a:r>
            <a:endParaRPr lang="en-US" sz="2800" dirty="0"/>
          </a:p>
        </p:txBody>
      </p:sp>
      <p:sp>
        <p:nvSpPr>
          <p:cNvPr id="6" name="Text 4"/>
          <p:cNvSpPr txBox="1"/>
          <p:nvPr/>
        </p:nvSpPr>
        <p:spPr>
          <a:xfrm>
            <a:off x="868680" y="2926080"/>
            <a:ext cx="6035040" cy="274320"/>
          </a:xfrm>
          <a:prstGeom prst="rect">
            <a:avLst/>
          </a:prstGeom>
          <a:noFill/>
          <a:ln/>
        </p:spPr>
        <p:txBody>
          <a:bodyPr wrap="square" lIns="0" tIns="0" rIns="0" bIns="0" rtlCol="0" anchor="ctr"/>
          <a:lstStyle/>
          <a:p>
            <a:pPr indent="0" marL="0">
              <a:buNone/>
            </a:pPr>
            <a:r>
              <a:rPr lang="en-US" sz="1200" dirty="0">
                <a:solidFill>
                  <a:schemeClr val="accent4"/>
                </a:solidFill>
                <a:latin typeface="Cambria" pitchFamily="34" charset="0"/>
                <a:ea typeface="Cambria" pitchFamily="34" charset="-122"/>
                <a:cs typeface="Cambria" pitchFamily="34" charset="-120"/>
              </a:rPr>
              <a:t>θ</a:t>
            </a:r>
            <a:pPr indent="0" marL="0">
              <a:buNone/>
            </a:pPr>
            <a:r>
              <a:rPr lang="en-US" sz="1200" baseline="-40000" dirty="0">
                <a:solidFill>
                  <a:schemeClr val="accent4"/>
                </a:solidFill>
                <a:latin typeface="Cambria" pitchFamily="34" charset="0"/>
                <a:ea typeface="Cambria" pitchFamily="34" charset="-122"/>
                <a:cs typeface="Cambria" pitchFamily="34" charset="-120"/>
              </a:rPr>
              <a:t>T</a:t>
            </a:r>
            <a:pPr indent="0" marL="0">
              <a:buNone/>
            </a:pPr>
            <a:r>
              <a:rPr lang="en-US" sz="1200" dirty="0">
                <a:solidFill>
                  <a:schemeClr val="accent4"/>
                </a:solidFill>
                <a:latin typeface="Cambria" pitchFamily="34" charset="0"/>
                <a:ea typeface="Cambria" pitchFamily="34" charset="-122"/>
                <a:cs typeface="Cambria" pitchFamily="34" charset="-120"/>
              </a:rPr>
              <a:t>: GMM estimator from a sample of size T</a:t>
            </a:r>
            <a:endParaRPr lang="en-US" sz="1200" dirty="0"/>
          </a:p>
        </p:txBody>
      </p:sp>
      <p:sp>
        <p:nvSpPr>
          <p:cNvPr id="7" name="Text 5"/>
          <p:cNvSpPr txBox="1"/>
          <p:nvPr/>
        </p:nvSpPr>
        <p:spPr>
          <a:xfrm>
            <a:off x="868680" y="3246120"/>
            <a:ext cx="6035040" cy="457200"/>
          </a:xfrm>
          <a:prstGeom prst="rect">
            <a:avLst/>
          </a:prstGeom>
          <a:noFill/>
          <a:ln/>
        </p:spPr>
        <p:txBody>
          <a:bodyPr wrap="square" lIns="0" tIns="0" rIns="0" bIns="0" rtlCol="0" anchor="ctr"/>
          <a:lstStyle/>
          <a:p>
            <a:pPr indent="0" marL="0">
              <a:buNone/>
            </a:pPr>
            <a:r>
              <a:rPr lang="en-US" sz="2000" i="1" dirty="0">
                <a:solidFill>
                  <a:schemeClr val="accent2"/>
                </a:solidFill>
                <a:latin typeface="Cambria" pitchFamily="34" charset="0"/>
                <a:ea typeface="Cambria" pitchFamily="34" charset="-122"/>
                <a:cs typeface="Cambria" pitchFamily="34" charset="-120"/>
              </a:rPr>
              <a:t>Wald, LM and LR-type test statistics  →  χ² under the null</a:t>
            </a:r>
            <a:endParaRPr lang="en-US" sz="2000" dirty="0"/>
          </a:p>
        </p:txBody>
      </p:sp>
      <p:sp>
        <p:nvSpPr>
          <p:cNvPr id="8" name="Text 6"/>
          <p:cNvSpPr txBox="1"/>
          <p:nvPr/>
        </p:nvSpPr>
        <p:spPr>
          <a:xfrm>
            <a:off x="868680" y="3794760"/>
            <a:ext cx="6035040" cy="2011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V depends on the form of the trend…</a:t>
            </a:r>
            <a:endParaRPr lang="en-US" sz="1600" dirty="0"/>
          </a:p>
          <a:p>
            <a:pPr marL="342900" indent="-342900">
              <a:spcAft>
                <a:spcPts val="800"/>
              </a:spcAft>
              <a:buSzPct val="100000"/>
              <a:buChar char="•"/>
            </a:pPr>
            <a:r>
              <a:rPr lang="en-US" sz="1600" dirty="0">
                <a:solidFill>
                  <a:schemeClr val="tx1"/>
                </a:solidFill>
              </a:rPr>
              <a:t>…but the usual covariance estimators designed for non-trending data are still consistent</a:t>
            </a:r>
            <a:endParaRPr lang="en-US" sz="1600" dirty="0"/>
          </a:p>
          <a:p>
            <a:pPr marL="342900" indent="-342900">
              <a:spcAft>
                <a:spcPts val="800"/>
              </a:spcAft>
              <a:buSzPct val="100000"/>
              <a:buChar char="•"/>
            </a:pPr>
            <a:r>
              <a:rPr lang="en-US" sz="1600" dirty="0">
                <a:solidFill>
                  <a:schemeClr val="tx1"/>
                </a:solidFill>
              </a:rPr>
              <a:t>So estimation and inference proceed exactly as in the non-trending case</a:t>
            </a:r>
            <a:endParaRPr lang="en-US" sz="1600" dirty="0"/>
          </a:p>
        </p:txBody>
      </p:sp>
      <p:sp>
        <p:nvSpPr>
          <p:cNvPr id="9" name="why it matters card"/>
          <p:cNvSpPr/>
          <p:nvPr/>
        </p:nvSpPr>
        <p:spPr>
          <a:xfrm>
            <a:off x="7498080" y="1463040"/>
            <a:ext cx="4114800" cy="4480560"/>
          </a:xfrm>
          <a:prstGeom prst="roundRect">
            <a:avLst>
              <a:gd name="adj" fmla="val 2667"/>
            </a:avLst>
          </a:prstGeom>
          <a:solidFill>
            <a:schemeClr val="tx2"/>
          </a:solidFill>
          <a:ln w="12700">
            <a:solidFill>
              <a:schemeClr val="tx2"/>
            </a:solidFill>
            <a:prstDash val="solid"/>
          </a:ln>
        </p:spPr>
      </p:sp>
      <p:sp>
        <p:nvSpPr>
          <p:cNvPr id="10" name="why it matters circle"/>
          <p:cNvSpPr/>
          <p:nvPr/>
        </p:nvSpPr>
        <p:spPr>
          <a:xfrm>
            <a:off x="7818120" y="1737360"/>
            <a:ext cx="777240" cy="777240"/>
          </a:xfrm>
          <a:prstGeom prst="ellipse">
            <a:avLst/>
          </a:prstGeom>
          <a:solidFill>
            <a:schemeClr val="accent3"/>
          </a:solidFill>
          <a:ln w="12700">
            <a:solidFill>
              <a:schemeClr val="accent3"/>
            </a:solidFill>
            <a:prstDash val="solid"/>
          </a:ln>
        </p:spPr>
      </p:sp>
      <p:pic>
        <p:nvPicPr>
          <p:cNvPr id="11" name="why it matters icon" descr="preencoded.png">    </p:cNvPr>
          <p:cNvPicPr>
            <a:picLocks noChangeAspect="1"/>
          </p:cNvPicPr>
          <p:nvPr/>
        </p:nvPicPr>
        <p:blipFill>
          <a:blip r:embed="rId1"/>
          <a:stretch>
            <a:fillRect/>
          </a:stretch>
        </p:blipFill>
        <p:spPr>
          <a:xfrm>
            <a:off x="8012430" y="1931670"/>
            <a:ext cx="388620" cy="388620"/>
          </a:xfrm>
          <a:prstGeom prst="rect">
            <a:avLst/>
          </a:prstGeom>
        </p:spPr>
      </p:pic>
      <p:sp>
        <p:nvSpPr>
          <p:cNvPr id="12" name="Text 9"/>
          <p:cNvSpPr txBox="1"/>
          <p:nvPr/>
        </p:nvSpPr>
        <p:spPr>
          <a:xfrm>
            <a:off x="7818120" y="2697480"/>
            <a:ext cx="3566160" cy="457200"/>
          </a:xfrm>
          <a:prstGeom prst="rect">
            <a:avLst/>
          </a:prstGeom>
          <a:noFill/>
          <a:ln/>
        </p:spPr>
        <p:txBody>
          <a:bodyPr wrap="square" lIns="0" tIns="0" rIns="0" bIns="0" rtlCol="0" anchor="ctr"/>
          <a:lstStyle/>
          <a:p>
            <a:pPr indent="0" marL="0">
              <a:buNone/>
            </a:pPr>
            <a:r>
              <a:rPr lang="en-US" sz="2000" b="1" dirty="0">
                <a:solidFill>
                  <a:schemeClr val="bg1"/>
                </a:solidFill>
                <a:latin typeface="Cambria" pitchFamily="34" charset="0"/>
                <a:ea typeface="Cambria" pitchFamily="34" charset="-122"/>
                <a:cs typeface="Cambria" pitchFamily="34" charset="-120"/>
              </a:rPr>
              <a:t>Why it mattered to me</a:t>
            </a:r>
            <a:endParaRPr lang="en-US" sz="2000" dirty="0"/>
          </a:p>
        </p:txBody>
      </p:sp>
      <p:sp>
        <p:nvSpPr>
          <p:cNvPr id="13" name="Text 10"/>
          <p:cNvSpPr txBox="1"/>
          <p:nvPr/>
        </p:nvSpPr>
        <p:spPr>
          <a:xfrm>
            <a:off x="7818120" y="3200400"/>
            <a:ext cx="3566160" cy="2560320"/>
          </a:xfrm>
          <a:prstGeom prst="rect">
            <a:avLst/>
          </a:prstGeom>
          <a:noFill/>
          <a:ln/>
        </p:spPr>
        <p:txBody>
          <a:bodyPr wrap="square" lIns="0" tIns="0" rIns="0" bIns="0" rtlCol="0" anchor="t"/>
          <a:lstStyle/>
          <a:p>
            <a:pPr indent="0" marL="0">
              <a:buNone/>
            </a:pPr>
            <a:r>
              <a:rPr lang="en-US" sz="1600" dirty="0">
                <a:solidFill>
                  <a:schemeClr val="bg1"/>
                </a:solidFill>
              </a:rPr>
              <a:t>It taught me to ask whether an approximation fits the problem actually in front of you. That question turned out to be the most useful thing I took into policy work.</a:t>
            </a:r>
            <a:endParaRPr lang="en-US" sz="16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ection photo" descr="International Monetary Fund headquarters building, Washington DC">    </p:cNvPr>
          <p:cNvPicPr>
            <a:picLocks noChangeAspect="1"/>
          </p:cNvPicPr>
          <p:nvPr/>
        </p:nvPicPr>
        <p:blipFill>
          <a:blip r:embed="rId1"/>
          <a:stretch>
            <a:fillRect/>
          </a:stretch>
        </p:blipFill>
        <p:spPr>
          <a:xfrm>
            <a:off x="0" y="0"/>
            <a:ext cx="12191695" cy="6858000"/>
          </a:xfrm>
          <a:prstGeom prst="rect">
            <a:avLst/>
          </a:prstGeom>
        </p:spPr>
      </p:pic>
      <p:sp>
        <p:nvSpPr>
          <p:cNvPr id="3" name="photo overlay"/>
          <p:cNvSpPr/>
          <p:nvPr/>
        </p:nvSpPr>
        <p:spPr>
          <a:xfrm>
            <a:off x="0" y="0"/>
            <a:ext cx="12191695" cy="6858000"/>
          </a:xfrm>
          <a:prstGeom prst="rect">
            <a:avLst/>
          </a:prstGeom>
          <a:solidFill>
            <a:schemeClr val="tx2">
              <a:alpha val="90000"/>
            </a:schemeClr>
          </a:solidFill>
          <a:ln/>
        </p:spPr>
      </p:sp>
      <p:sp>
        <p:nvSpPr>
          <p:cNvPr id="4" name="Text 1"/>
          <p:cNvSpPr txBox="1"/>
          <p:nvPr/>
        </p:nvSpPr>
        <p:spPr>
          <a:xfrm>
            <a:off x="6400800" y="6400800"/>
            <a:ext cx="5577840" cy="274320"/>
          </a:xfrm>
          <a:prstGeom prst="rect">
            <a:avLst/>
          </a:prstGeom>
          <a:noFill/>
          <a:ln/>
        </p:spPr>
        <p:txBody>
          <a:bodyPr wrap="square" lIns="0" tIns="0" rIns="0" bIns="0" rtlCol="0" anchor="ctr"/>
          <a:lstStyle/>
          <a:p>
            <a:pPr algn="r" indent="0" marL="0">
              <a:buNone/>
            </a:pPr>
            <a:r>
              <a:rPr lang="en-US" sz="1000" dirty="0">
                <a:solidFill>
                  <a:schemeClr val="bg1"/>
                </a:solidFill>
              </a:rPr>
              <a:t>Photo: IMF headquarters, Washington DC. Wikimedia Commons (VRT permission #2007052110013541)</a:t>
            </a:r>
            <a:endParaRPr lang="en-US" sz="1000" dirty="0"/>
          </a:p>
        </p:txBody>
      </p:sp>
      <p:sp>
        <p:nvSpPr>
          <p:cNvPr id="5" name="Text 0"/>
          <p:cNvSpPr/>
          <p:nvPr>
            <p:ph idx="100" type="body" hasCustomPrompt="1"/>
          </p:nvPr>
        </p:nvSpPr>
        <p:spPr>
          <a:xfrm>
            <a:off x="731520" y="1828800"/>
            <a:ext cx="10698480" cy="548640"/>
          </a:xfrm>
          <a:prstGeom prst="rect">
            <a:avLst/>
          </a:prstGeom>
          <a:noFill/>
          <a:ln/>
        </p:spPr>
        <p:txBody>
          <a:bodyPr wrap="square" rtlCol="0" anchor="b"/>
          <a:lstStyle/>
          <a:p>
            <a:pPr indent="0" marL="0">
              <a:buNone/>
            </a:pPr>
            <a:r>
              <a:rPr lang="en-US" sz="1800" b="1" dirty="0">
                <a:solidFill>
                  <a:schemeClr val="accent3"/>
                </a:solidFill>
              </a:rPr>
              <a:t>ACT 2</a:t>
            </a:r>
            <a:endParaRPr lang="en-US" sz="1800" dirty="0"/>
          </a:p>
        </p:txBody>
      </p:sp>
      <p:sp>
        <p:nvSpPr>
          <p:cNvPr id="6" name="Text 0"/>
          <p:cNvSpPr/>
          <p:nvPr>
            <p:ph idx="101" type="title" hasCustomPrompt="1"/>
          </p:nvPr>
        </p:nvSpPr>
        <p:spPr>
          <a:xfrm>
            <a:off x="731520" y="2423160"/>
            <a:ext cx="10698480" cy="1188720"/>
          </a:xfrm>
          <a:prstGeom prst="rect">
            <a:avLst/>
          </a:prstGeom>
          <a:noFill/>
          <a:ln/>
        </p:spPr>
        <p:txBody>
          <a:bodyPr wrap="square"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Research inside policy institutions</a:t>
            </a:r>
            <a:endParaRPr lang="en-US" sz="4400" dirty="0"/>
          </a:p>
        </p:txBody>
      </p:sp>
      <p:sp>
        <p:nvSpPr>
          <p:cNvPr id="7" name="Text 0"/>
          <p:cNvSpPr/>
          <p:nvPr>
            <p:ph idx="102" type="body" hasCustomPrompt="1"/>
          </p:nvPr>
        </p:nvSpPr>
        <p:spPr>
          <a:xfrm>
            <a:off x="731520" y="3749040"/>
            <a:ext cx="10058400" cy="1097280"/>
          </a:xfrm>
          <a:prstGeom prst="rect">
            <a:avLst/>
          </a:prstGeom>
          <a:noFill/>
          <a:ln/>
        </p:spPr>
        <p:txBody>
          <a:bodyPr wrap="square" rtlCol="0" anchor="t"/>
          <a:lstStyle/>
          <a:p>
            <a:pPr indent="0" marL="0">
              <a:buNone/>
            </a:pPr>
            <a:r>
              <a:rPr lang="en-US" sz="2000" dirty="0">
                <a:solidFill>
                  <a:schemeClr val="accent5"/>
                </a:solidFill>
              </a:rPr>
              <a:t>IMF 1994–98 and Reserve Bank of New Zealand: why technical depth pays, and how co-authors kept it current</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Policy questions are econometric questions in disguise</a:t>
            </a:r>
            <a:endParaRPr lang="en-US" sz="3400" dirty="0"/>
          </a:p>
        </p:txBody>
      </p:sp>
      <p:sp>
        <p:nvSpPr>
          <p:cNvPr id="3" name="question card 1"/>
          <p:cNvSpPr/>
          <p:nvPr/>
        </p:nvSpPr>
        <p:spPr>
          <a:xfrm>
            <a:off x="548640" y="1508760"/>
            <a:ext cx="11064240" cy="1280160"/>
          </a:xfrm>
          <a:prstGeom prst="roundRect">
            <a:avLst>
              <a:gd name="adj" fmla="val 8571"/>
            </a:avLst>
          </a:prstGeom>
          <a:solidFill>
            <a:schemeClr val="bg2"/>
          </a:solidFill>
          <a:ln w="12700">
            <a:solidFill>
              <a:schemeClr val="bg2"/>
            </a:solidFill>
            <a:prstDash val="solid"/>
          </a:ln>
        </p:spPr>
      </p:sp>
      <p:sp>
        <p:nvSpPr>
          <p:cNvPr id="4" name="question 1 circle"/>
          <p:cNvSpPr/>
          <p:nvPr/>
        </p:nvSpPr>
        <p:spPr>
          <a:xfrm>
            <a:off x="822960" y="1737360"/>
            <a:ext cx="822960" cy="822960"/>
          </a:xfrm>
          <a:prstGeom prst="ellipse">
            <a:avLst/>
          </a:prstGeom>
          <a:solidFill>
            <a:schemeClr val="accent1"/>
          </a:solidFill>
          <a:ln w="12700">
            <a:solidFill>
              <a:schemeClr val="accent1"/>
            </a:solidFill>
            <a:prstDash val="solid"/>
          </a:ln>
        </p:spPr>
      </p:sp>
      <p:pic>
        <p:nvPicPr>
          <p:cNvPr id="5" name="question 1 icon" descr="preencoded.png">    </p:cNvPr>
          <p:cNvPicPr>
            <a:picLocks noChangeAspect="1"/>
          </p:cNvPicPr>
          <p:nvPr/>
        </p:nvPicPr>
        <p:blipFill>
          <a:blip r:embed="rId1"/>
          <a:stretch>
            <a:fillRect/>
          </a:stretch>
        </p:blipFill>
        <p:spPr>
          <a:xfrm>
            <a:off x="1028700" y="1943100"/>
            <a:ext cx="411480" cy="411480"/>
          </a:xfrm>
          <a:prstGeom prst="rect">
            <a:avLst/>
          </a:prstGeom>
        </p:spPr>
      </p:pic>
      <p:sp>
        <p:nvSpPr>
          <p:cNvPr id="6" name="Text 3"/>
          <p:cNvSpPr txBox="1"/>
          <p:nvPr/>
        </p:nvSpPr>
        <p:spPr>
          <a:xfrm>
            <a:off x="1920240" y="1691640"/>
            <a:ext cx="9418320" cy="45720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Is this shock temporary or permanent?</a:t>
            </a:r>
            <a:endParaRPr lang="en-US" sz="2200" dirty="0"/>
          </a:p>
        </p:txBody>
      </p:sp>
      <p:sp>
        <p:nvSpPr>
          <p:cNvPr id="7" name="Text 4"/>
          <p:cNvSpPr txBox="1"/>
          <p:nvPr/>
        </p:nvSpPr>
        <p:spPr>
          <a:xfrm>
            <a:off x="1920240" y="2167128"/>
            <a:ext cx="9418320" cy="457200"/>
          </a:xfrm>
          <a:prstGeom prst="rect">
            <a:avLst/>
          </a:prstGeom>
          <a:noFill/>
          <a:ln/>
        </p:spPr>
        <p:txBody>
          <a:bodyPr wrap="square" lIns="0" tIns="0" rIns="0" bIns="0" rtlCol="0" anchor="ctr"/>
          <a:lstStyle/>
          <a:p>
            <a:pPr indent="0" marL="0">
              <a:buNone/>
            </a:pPr>
            <a:r>
              <a:rPr lang="en-US" sz="1600" dirty="0">
                <a:solidFill>
                  <a:schemeClr val="tx1"/>
                </a:solidFill>
              </a:rPr>
              <a:t>Persistence decides whether to finance or adjust: smooth through it, or change course.</a:t>
            </a:r>
            <a:endParaRPr lang="en-US" sz="1600" dirty="0"/>
          </a:p>
        </p:txBody>
      </p:sp>
      <p:sp>
        <p:nvSpPr>
          <p:cNvPr id="8" name="question card 2"/>
          <p:cNvSpPr/>
          <p:nvPr/>
        </p:nvSpPr>
        <p:spPr>
          <a:xfrm>
            <a:off x="548640" y="3017520"/>
            <a:ext cx="11064240" cy="1280160"/>
          </a:xfrm>
          <a:prstGeom prst="roundRect">
            <a:avLst>
              <a:gd name="adj" fmla="val 8571"/>
            </a:avLst>
          </a:prstGeom>
          <a:solidFill>
            <a:schemeClr val="bg2"/>
          </a:solidFill>
          <a:ln w="12700">
            <a:solidFill>
              <a:schemeClr val="bg2"/>
            </a:solidFill>
            <a:prstDash val="solid"/>
          </a:ln>
        </p:spPr>
      </p:sp>
      <p:sp>
        <p:nvSpPr>
          <p:cNvPr id="9" name="question 2 circle"/>
          <p:cNvSpPr/>
          <p:nvPr/>
        </p:nvSpPr>
        <p:spPr>
          <a:xfrm>
            <a:off x="822960" y="3246120"/>
            <a:ext cx="822960" cy="822960"/>
          </a:xfrm>
          <a:prstGeom prst="ellipse">
            <a:avLst/>
          </a:prstGeom>
          <a:solidFill>
            <a:schemeClr val="accent2"/>
          </a:solidFill>
          <a:ln w="12700">
            <a:solidFill>
              <a:schemeClr val="accent2"/>
            </a:solidFill>
            <a:prstDash val="solid"/>
          </a:ln>
        </p:spPr>
      </p:sp>
      <p:pic>
        <p:nvPicPr>
          <p:cNvPr id="10" name="question 2 icon" descr="preencoded.png">    </p:cNvPr>
          <p:cNvPicPr>
            <a:picLocks noChangeAspect="1"/>
          </p:cNvPicPr>
          <p:nvPr/>
        </p:nvPicPr>
        <p:blipFill>
          <a:blip r:embed="rId2"/>
          <a:stretch>
            <a:fillRect/>
          </a:stretch>
        </p:blipFill>
        <p:spPr>
          <a:xfrm>
            <a:off x="1028700" y="3451860"/>
            <a:ext cx="411480" cy="411480"/>
          </a:xfrm>
          <a:prstGeom prst="rect">
            <a:avLst/>
          </a:prstGeom>
        </p:spPr>
      </p:pic>
      <p:sp>
        <p:nvSpPr>
          <p:cNvPr id="11" name="Text 7"/>
          <p:cNvSpPr txBox="1"/>
          <p:nvPr/>
        </p:nvSpPr>
        <p:spPr>
          <a:xfrm>
            <a:off x="1920240" y="3200400"/>
            <a:ext cx="9418320" cy="45720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Is the trend real, or just noise?</a:t>
            </a:r>
            <a:endParaRPr lang="en-US" sz="2200" dirty="0"/>
          </a:p>
        </p:txBody>
      </p:sp>
      <p:sp>
        <p:nvSpPr>
          <p:cNvPr id="12" name="Text 8"/>
          <p:cNvSpPr txBox="1"/>
          <p:nvPr/>
        </p:nvSpPr>
        <p:spPr>
          <a:xfrm>
            <a:off x="1920240" y="3675888"/>
            <a:ext cx="9418320" cy="457200"/>
          </a:xfrm>
          <a:prstGeom prst="rect">
            <a:avLst/>
          </a:prstGeom>
          <a:noFill/>
          <a:ln/>
        </p:spPr>
        <p:txBody>
          <a:bodyPr wrap="square" lIns="0" tIns="0" rIns="0" bIns="0" rtlCol="0" anchor="ctr"/>
          <a:lstStyle/>
          <a:p>
            <a:pPr indent="0" marL="0">
              <a:buNone/>
            </a:pPr>
            <a:r>
              <a:rPr lang="en-US" sz="1600" dirty="0">
                <a:solidFill>
                  <a:schemeClr val="tx1"/>
                </a:solidFill>
              </a:rPr>
              <a:t>A small trend can be swamped by variability. Policy should respond to what dominates.</a:t>
            </a:r>
            <a:endParaRPr lang="en-US" sz="1600" dirty="0"/>
          </a:p>
        </p:txBody>
      </p:sp>
      <p:sp>
        <p:nvSpPr>
          <p:cNvPr id="13" name="question card 3"/>
          <p:cNvSpPr/>
          <p:nvPr/>
        </p:nvSpPr>
        <p:spPr>
          <a:xfrm>
            <a:off x="548640" y="4526280"/>
            <a:ext cx="11064240" cy="1280160"/>
          </a:xfrm>
          <a:prstGeom prst="roundRect">
            <a:avLst>
              <a:gd name="adj" fmla="val 8571"/>
            </a:avLst>
          </a:prstGeom>
          <a:solidFill>
            <a:schemeClr val="bg2"/>
          </a:solidFill>
          <a:ln w="12700">
            <a:solidFill>
              <a:schemeClr val="bg2"/>
            </a:solidFill>
            <a:prstDash val="solid"/>
          </a:ln>
        </p:spPr>
      </p:sp>
      <p:sp>
        <p:nvSpPr>
          <p:cNvPr id="14" name="question 3 circle"/>
          <p:cNvSpPr/>
          <p:nvPr/>
        </p:nvSpPr>
        <p:spPr>
          <a:xfrm>
            <a:off x="822960" y="4754880"/>
            <a:ext cx="822960" cy="822960"/>
          </a:xfrm>
          <a:prstGeom prst="ellipse">
            <a:avLst/>
          </a:prstGeom>
          <a:solidFill>
            <a:schemeClr val="accent3"/>
          </a:solidFill>
          <a:ln w="12700">
            <a:solidFill>
              <a:schemeClr val="accent3"/>
            </a:solidFill>
            <a:prstDash val="solid"/>
          </a:ln>
        </p:spPr>
      </p:sp>
      <p:pic>
        <p:nvPicPr>
          <p:cNvPr id="15" name="question 3 icon" descr="preencoded.png">    </p:cNvPr>
          <p:cNvPicPr>
            <a:picLocks noChangeAspect="1"/>
          </p:cNvPicPr>
          <p:nvPr/>
        </p:nvPicPr>
        <p:blipFill>
          <a:blip r:embed="rId3"/>
          <a:stretch>
            <a:fillRect/>
          </a:stretch>
        </p:blipFill>
        <p:spPr>
          <a:xfrm>
            <a:off x="1028700" y="4960620"/>
            <a:ext cx="411480" cy="411480"/>
          </a:xfrm>
          <a:prstGeom prst="rect">
            <a:avLst/>
          </a:prstGeom>
        </p:spPr>
      </p:pic>
      <p:sp>
        <p:nvSpPr>
          <p:cNvPr id="16" name="Text 11"/>
          <p:cNvSpPr txBox="1"/>
          <p:nvPr/>
        </p:nvSpPr>
        <p:spPr>
          <a:xfrm>
            <a:off x="1920240" y="4709160"/>
            <a:ext cx="9418320" cy="45720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Has the economy changed?</a:t>
            </a:r>
            <a:endParaRPr lang="en-US" sz="2200" dirty="0"/>
          </a:p>
        </p:txBody>
      </p:sp>
      <p:sp>
        <p:nvSpPr>
          <p:cNvPr id="17" name="Text 12"/>
          <p:cNvSpPr txBox="1"/>
          <p:nvPr/>
        </p:nvSpPr>
        <p:spPr>
          <a:xfrm>
            <a:off x="1920240" y="5184648"/>
            <a:ext cx="9418320" cy="457200"/>
          </a:xfrm>
          <a:prstGeom prst="rect">
            <a:avLst/>
          </a:prstGeom>
          <a:noFill/>
          <a:ln/>
        </p:spPr>
        <p:txBody>
          <a:bodyPr wrap="square" lIns="0" tIns="0" rIns="0" bIns="0" rtlCol="0" anchor="ctr"/>
          <a:lstStyle/>
          <a:p>
            <a:pPr indent="0" marL="0">
              <a:buNone/>
            </a:pPr>
            <a:r>
              <a:rPr lang="en-US" sz="1600" dirty="0">
                <a:solidFill>
                  <a:schemeClr val="tx1"/>
                </a:solidFill>
              </a:rPr>
              <a:t>Structural change shifts the transmission of policy. Old rules of thumb can mislead.</a:t>
            </a:r>
            <a:endParaRPr lang="en-US" sz="16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Paul Cashin and the IMF: commodity prices</a:t>
            </a:r>
            <a:endParaRPr lang="en-US" sz="3400" dirty="0"/>
          </a:p>
        </p:txBody>
      </p:sp>
      <p:sp>
        <p:nvSpPr>
          <p:cNvPr id="3" name="Text 1"/>
          <p:cNvSpPr txBox="1"/>
          <p:nvPr/>
        </p:nvSpPr>
        <p:spPr>
          <a:xfrm>
            <a:off x="548640" y="1417320"/>
            <a:ext cx="2377440" cy="77724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13</a:t>
            </a:r>
            <a:endParaRPr lang="en-US" sz="4800" dirty="0"/>
          </a:p>
        </p:txBody>
      </p:sp>
      <p:sp>
        <p:nvSpPr>
          <p:cNvPr id="4" name="Text 2"/>
          <p:cNvSpPr txBox="1"/>
          <p:nvPr/>
        </p:nvSpPr>
        <p:spPr>
          <a:xfrm>
            <a:off x="548640" y="2194560"/>
            <a:ext cx="2743200" cy="640080"/>
          </a:xfrm>
          <a:prstGeom prst="rect">
            <a:avLst/>
          </a:prstGeom>
          <a:noFill/>
          <a:ln/>
        </p:spPr>
        <p:txBody>
          <a:bodyPr wrap="square" lIns="0" tIns="0" rIns="0" bIns="0" rtlCol="0" anchor="t"/>
          <a:lstStyle/>
          <a:p>
            <a:pPr indent="0" marL="0">
              <a:buNone/>
            </a:pPr>
            <a:r>
              <a:rPr lang="en-US" sz="1400" dirty="0">
                <a:solidFill>
                  <a:schemeClr val="tx1"/>
                </a:solidFill>
              </a:rPr>
              <a:t>journal articles</a:t>
            </a:r>
            <a:endParaRPr lang="en-US" sz="1400" dirty="0"/>
          </a:p>
          <a:p>
            <a:pPr indent="0" marL="0">
              <a:buNone/>
            </a:pPr>
            <a:r>
              <a:rPr lang="en-US" sz="1400" dirty="0">
                <a:solidFill>
                  <a:schemeClr val="tx1"/>
                </a:solidFill>
              </a:rPr>
              <a:t>1998–2006</a:t>
            </a:r>
            <a:endParaRPr lang="en-US" sz="1400" dirty="0"/>
          </a:p>
        </p:txBody>
      </p:sp>
      <p:sp>
        <p:nvSpPr>
          <p:cNvPr id="5" name="Text 3"/>
          <p:cNvSpPr txBox="1"/>
          <p:nvPr/>
        </p:nvSpPr>
        <p:spPr>
          <a:xfrm>
            <a:off x="548640" y="2971800"/>
            <a:ext cx="2377440" cy="77724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140</a:t>
            </a:r>
            <a:endParaRPr lang="en-US" sz="4800" dirty="0"/>
          </a:p>
        </p:txBody>
      </p:sp>
      <p:sp>
        <p:nvSpPr>
          <p:cNvPr id="6" name="Text 4"/>
          <p:cNvSpPr txBox="1"/>
          <p:nvPr/>
        </p:nvSpPr>
        <p:spPr>
          <a:xfrm>
            <a:off x="548640" y="3749040"/>
            <a:ext cx="2743200" cy="640080"/>
          </a:xfrm>
          <a:prstGeom prst="rect">
            <a:avLst/>
          </a:prstGeom>
          <a:noFill/>
          <a:ln/>
        </p:spPr>
        <p:txBody>
          <a:bodyPr wrap="square" lIns="0" tIns="0" rIns="0" bIns="0" rtlCol="0" anchor="t"/>
          <a:lstStyle/>
          <a:p>
            <a:pPr indent="0" marL="0">
              <a:buNone/>
            </a:pPr>
            <a:r>
              <a:rPr lang="en-US" sz="1400" dirty="0">
                <a:solidFill>
                  <a:schemeClr val="tx1"/>
                </a:solidFill>
              </a:rPr>
              <a:t>years of real commodity</a:t>
            </a:r>
            <a:endParaRPr lang="en-US" sz="1400" dirty="0"/>
          </a:p>
          <a:p>
            <a:pPr indent="0" marL="0">
              <a:buNone/>
            </a:pPr>
            <a:r>
              <a:rPr lang="en-US" sz="1400" dirty="0">
                <a:solidFill>
                  <a:schemeClr val="tx1"/>
                </a:solidFill>
              </a:rPr>
              <a:t>prices, 1862–1999</a:t>
            </a:r>
            <a:endParaRPr lang="en-US" sz="1400" dirty="0"/>
          </a:p>
        </p:txBody>
      </p:sp>
      <p:sp>
        <p:nvSpPr>
          <p:cNvPr id="7" name="Text 5"/>
          <p:cNvSpPr txBox="1"/>
          <p:nvPr/>
        </p:nvSpPr>
        <p:spPr>
          <a:xfrm>
            <a:off x="548640" y="4526280"/>
            <a:ext cx="2377440" cy="77724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~1%</a:t>
            </a:r>
            <a:endParaRPr lang="en-US" sz="4800" dirty="0"/>
          </a:p>
        </p:txBody>
      </p:sp>
      <p:sp>
        <p:nvSpPr>
          <p:cNvPr id="8" name="Text 6"/>
          <p:cNvSpPr txBox="1"/>
          <p:nvPr/>
        </p:nvSpPr>
        <p:spPr>
          <a:xfrm>
            <a:off x="548640" y="5303520"/>
            <a:ext cx="2743200" cy="640080"/>
          </a:xfrm>
          <a:prstGeom prst="rect">
            <a:avLst/>
          </a:prstGeom>
          <a:noFill/>
          <a:ln/>
        </p:spPr>
        <p:txBody>
          <a:bodyPr wrap="square" lIns="0" tIns="0" rIns="0" bIns="0" rtlCol="0" anchor="t"/>
          <a:lstStyle/>
          <a:p>
            <a:pPr indent="0" marL="0">
              <a:buNone/>
            </a:pPr>
            <a:r>
              <a:rPr lang="en-US" sz="1400" dirty="0">
                <a:solidFill>
                  <a:schemeClr val="tx1"/>
                </a:solidFill>
              </a:rPr>
              <a:t>a year: the small long-run</a:t>
            </a:r>
            <a:endParaRPr lang="en-US" sz="1400" dirty="0"/>
          </a:p>
          <a:p>
            <a:pPr indent="0" marL="0">
              <a:buNone/>
            </a:pPr>
            <a:r>
              <a:rPr lang="en-US" sz="1400" dirty="0">
                <a:solidFill>
                  <a:schemeClr val="tx1"/>
                </a:solidFill>
              </a:rPr>
              <a:t>decline in real prices</a:t>
            </a:r>
            <a:endParaRPr lang="en-US" sz="1400" dirty="0"/>
          </a:p>
        </p:txBody>
      </p:sp>
      <p:sp>
        <p:nvSpPr>
          <p:cNvPr id="9" name="Cashin finding 1"/>
          <p:cNvSpPr/>
          <p:nvPr/>
        </p:nvSpPr>
        <p:spPr>
          <a:xfrm>
            <a:off x="3566160" y="1417320"/>
            <a:ext cx="3886200" cy="2148840"/>
          </a:xfrm>
          <a:prstGeom prst="roundRect">
            <a:avLst>
              <a:gd name="adj" fmla="val 5106"/>
            </a:avLst>
          </a:prstGeom>
          <a:solidFill>
            <a:schemeClr val="bg2"/>
          </a:solidFill>
          <a:ln w="12700">
            <a:solidFill>
              <a:schemeClr val="bg2"/>
            </a:solidFill>
            <a:prstDash val="solid"/>
          </a:ln>
        </p:spPr>
      </p:sp>
      <p:sp>
        <p:nvSpPr>
          <p:cNvPr id="10" name="Text 8"/>
          <p:cNvSpPr txBox="1"/>
          <p:nvPr/>
        </p:nvSpPr>
        <p:spPr>
          <a:xfrm>
            <a:off x="3840480" y="1600200"/>
            <a:ext cx="3383280" cy="411480"/>
          </a:xfrm>
          <a:prstGeom prst="rect">
            <a:avLst/>
          </a:prstGeom>
          <a:noFill/>
          <a:ln/>
        </p:spPr>
        <p:txBody>
          <a:bodyPr wrap="square" lIns="0" tIns="0" rIns="0" bIns="0" rtlCol="0" anchor="ctr"/>
          <a:lstStyle/>
          <a:p>
            <a:pPr indent="0" marL="0">
              <a:buNone/>
            </a:pPr>
            <a:r>
              <a:rPr lang="en-US" sz="1800" b="1" dirty="0">
                <a:solidFill>
                  <a:schemeClr val="tx2"/>
                </a:solidFill>
              </a:rPr>
              <a:t>Small trends, big variability</a:t>
            </a:r>
            <a:endParaRPr lang="en-US" sz="1800" dirty="0"/>
          </a:p>
        </p:txBody>
      </p:sp>
      <p:sp>
        <p:nvSpPr>
          <p:cNvPr id="11" name="Text 9"/>
          <p:cNvSpPr txBox="1"/>
          <p:nvPr/>
        </p:nvSpPr>
        <p:spPr>
          <a:xfrm>
            <a:off x="3840480" y="2057400"/>
            <a:ext cx="3383280" cy="1417320"/>
          </a:xfrm>
          <a:prstGeom prst="rect">
            <a:avLst/>
          </a:prstGeom>
          <a:noFill/>
          <a:ln/>
        </p:spPr>
        <p:txBody>
          <a:bodyPr wrap="square" lIns="0" tIns="0" rIns="0" bIns="0" rtlCol="0" anchor="t"/>
          <a:lstStyle/>
          <a:p>
            <a:pPr indent="0" marL="0">
              <a:buNone/>
            </a:pPr>
            <a:r>
              <a:rPr lang="en-US" sz="1400" dirty="0">
                <a:solidFill>
                  <a:schemeClr val="tx1"/>
                </a:solidFill>
              </a:rPr>
              <a:t>Real prices drifted down about 1% a year, but variability dwarfs the trend and rose after Bretton Woods. The trend has little practical policy relevance.</a:t>
            </a:r>
            <a:endParaRPr lang="en-US" sz="1400" dirty="0"/>
          </a:p>
        </p:txBody>
      </p:sp>
      <p:sp>
        <p:nvSpPr>
          <p:cNvPr id="12" name="Cashin finding 2"/>
          <p:cNvSpPr/>
          <p:nvPr/>
        </p:nvSpPr>
        <p:spPr>
          <a:xfrm>
            <a:off x="7635240" y="1417320"/>
            <a:ext cx="3886200" cy="2148840"/>
          </a:xfrm>
          <a:prstGeom prst="roundRect">
            <a:avLst>
              <a:gd name="adj" fmla="val 5106"/>
            </a:avLst>
          </a:prstGeom>
          <a:solidFill>
            <a:schemeClr val="bg2"/>
          </a:solidFill>
          <a:ln w="12700">
            <a:solidFill>
              <a:schemeClr val="bg2"/>
            </a:solidFill>
            <a:prstDash val="solid"/>
          </a:ln>
        </p:spPr>
      </p:sp>
      <p:sp>
        <p:nvSpPr>
          <p:cNvPr id="13" name="Text 11"/>
          <p:cNvSpPr txBox="1"/>
          <p:nvPr/>
        </p:nvSpPr>
        <p:spPr>
          <a:xfrm>
            <a:off x="7909560" y="1600200"/>
            <a:ext cx="3383280" cy="411480"/>
          </a:xfrm>
          <a:prstGeom prst="rect">
            <a:avLst/>
          </a:prstGeom>
          <a:noFill/>
          <a:ln/>
        </p:spPr>
        <p:txBody>
          <a:bodyPr wrap="square" lIns="0" tIns="0" rIns="0" bIns="0" rtlCol="0" anchor="ctr"/>
          <a:lstStyle/>
          <a:p>
            <a:pPr indent="0" marL="0">
              <a:buNone/>
            </a:pPr>
            <a:r>
              <a:rPr lang="en-US" sz="1800" b="1" dirty="0">
                <a:solidFill>
                  <a:schemeClr val="tx2"/>
                </a:solidFill>
              </a:rPr>
              <a:t>Slumps outlast booms</a:t>
            </a:r>
            <a:endParaRPr lang="en-US" sz="1800" dirty="0"/>
          </a:p>
        </p:txBody>
      </p:sp>
      <p:sp>
        <p:nvSpPr>
          <p:cNvPr id="14" name="Text 12"/>
          <p:cNvSpPr txBox="1"/>
          <p:nvPr/>
        </p:nvSpPr>
        <p:spPr>
          <a:xfrm>
            <a:off x="7909560" y="2057400"/>
            <a:ext cx="3383280" cy="1417320"/>
          </a:xfrm>
          <a:prstGeom prst="rect">
            <a:avLst/>
          </a:prstGeom>
          <a:noFill/>
          <a:ln/>
        </p:spPr>
        <p:txBody>
          <a:bodyPr wrap="square" lIns="0" tIns="0" rIns="0" bIns="0" rtlCol="0" anchor="t"/>
          <a:lstStyle/>
          <a:p>
            <a:pPr indent="0" marL="0">
              <a:buNone/>
            </a:pPr>
            <a:r>
              <a:rPr lang="en-US" sz="1400" dirty="0">
                <a:solidFill>
                  <a:schemeClr val="tx1"/>
                </a:solidFill>
              </a:rPr>
              <a:t>Price slumps last longer than booms, and the chance a slump ends does not depend on how long it has lasted.</a:t>
            </a:r>
            <a:endParaRPr lang="en-US" sz="1400" dirty="0"/>
          </a:p>
        </p:txBody>
      </p:sp>
      <p:sp>
        <p:nvSpPr>
          <p:cNvPr id="15" name="Cashin finding 3"/>
          <p:cNvSpPr/>
          <p:nvPr/>
        </p:nvSpPr>
        <p:spPr>
          <a:xfrm>
            <a:off x="3566160" y="3794760"/>
            <a:ext cx="3886200" cy="2148840"/>
          </a:xfrm>
          <a:prstGeom prst="roundRect">
            <a:avLst>
              <a:gd name="adj" fmla="val 5106"/>
            </a:avLst>
          </a:prstGeom>
          <a:solidFill>
            <a:schemeClr val="bg2"/>
          </a:solidFill>
          <a:ln w="12700">
            <a:solidFill>
              <a:schemeClr val="bg2"/>
            </a:solidFill>
            <a:prstDash val="solid"/>
          </a:ln>
        </p:spPr>
      </p:sp>
      <p:sp>
        <p:nvSpPr>
          <p:cNvPr id="16" name="Text 14"/>
          <p:cNvSpPr txBox="1"/>
          <p:nvPr/>
        </p:nvSpPr>
        <p:spPr>
          <a:xfrm>
            <a:off x="3840480" y="3977640"/>
            <a:ext cx="3383280" cy="411480"/>
          </a:xfrm>
          <a:prstGeom prst="rect">
            <a:avLst/>
          </a:prstGeom>
          <a:noFill/>
          <a:ln/>
        </p:spPr>
        <p:txBody>
          <a:bodyPr wrap="square" lIns="0" tIns="0" rIns="0" bIns="0" rtlCol="0" anchor="ctr"/>
          <a:lstStyle/>
          <a:p>
            <a:pPr indent="0" marL="0">
              <a:buNone/>
            </a:pPr>
            <a:r>
              <a:rPr lang="en-US" sz="1800" b="1" dirty="0">
                <a:solidFill>
                  <a:schemeClr val="tx2"/>
                </a:solidFill>
              </a:rPr>
              <a:t>Shocks are persistent</a:t>
            </a:r>
            <a:endParaRPr lang="en-US" sz="1800" dirty="0"/>
          </a:p>
        </p:txBody>
      </p:sp>
      <p:sp>
        <p:nvSpPr>
          <p:cNvPr id="17" name="Text 15"/>
          <p:cNvSpPr txBox="1"/>
          <p:nvPr/>
        </p:nvSpPr>
        <p:spPr>
          <a:xfrm>
            <a:off x="3840480" y="4434840"/>
            <a:ext cx="3383280" cy="1417320"/>
          </a:xfrm>
          <a:prstGeom prst="rect">
            <a:avLst/>
          </a:prstGeom>
          <a:noFill/>
          <a:ln/>
        </p:spPr>
        <p:txBody>
          <a:bodyPr wrap="square" lIns="0" tIns="0" rIns="0" bIns="0" rtlCol="0" anchor="t"/>
          <a:lstStyle/>
          <a:p>
            <a:pPr indent="0" marL="0">
              <a:buNone/>
            </a:pPr>
            <a:r>
              <a:rPr lang="en-US" sz="1400" dirty="0">
                <a:solidFill>
                  <a:schemeClr val="tx1"/>
                </a:solidFill>
              </a:rPr>
              <a:t>Shocks are typically long-lived, so stabilisation schemes for export earnings are likely to cost more than they deliver.</a:t>
            </a:r>
            <a:endParaRPr lang="en-US" sz="1400" dirty="0"/>
          </a:p>
        </p:txBody>
      </p:sp>
      <p:sp>
        <p:nvSpPr>
          <p:cNvPr id="18" name="Cashin finding 4"/>
          <p:cNvSpPr/>
          <p:nvPr/>
        </p:nvSpPr>
        <p:spPr>
          <a:xfrm>
            <a:off x="7635240" y="3794760"/>
            <a:ext cx="3886200" cy="2148840"/>
          </a:xfrm>
          <a:prstGeom prst="roundRect">
            <a:avLst>
              <a:gd name="adj" fmla="val 5106"/>
            </a:avLst>
          </a:prstGeom>
          <a:solidFill>
            <a:schemeClr val="bg2"/>
          </a:solidFill>
          <a:ln w="12700">
            <a:solidFill>
              <a:schemeClr val="bg2"/>
            </a:solidFill>
            <a:prstDash val="solid"/>
          </a:ln>
        </p:spPr>
      </p:sp>
      <p:sp>
        <p:nvSpPr>
          <p:cNvPr id="19" name="Text 17"/>
          <p:cNvSpPr txBox="1"/>
          <p:nvPr/>
        </p:nvSpPr>
        <p:spPr>
          <a:xfrm>
            <a:off x="7909560" y="3977640"/>
            <a:ext cx="3383280" cy="411480"/>
          </a:xfrm>
          <a:prstGeom prst="rect">
            <a:avLst/>
          </a:prstGeom>
          <a:noFill/>
          <a:ln/>
        </p:spPr>
        <p:txBody>
          <a:bodyPr wrap="square" lIns="0" tIns="0" rIns="0" bIns="0" rtlCol="0" anchor="ctr"/>
          <a:lstStyle/>
          <a:p>
            <a:pPr indent="0" marL="0">
              <a:buNone/>
            </a:pPr>
            <a:r>
              <a:rPr lang="en-US" sz="1800" b="1" dirty="0">
                <a:solidFill>
                  <a:schemeClr val="tx2"/>
                </a:solidFill>
              </a:rPr>
              <a:t>Real exchange rates</a:t>
            </a:r>
            <a:endParaRPr lang="en-US" sz="1800" dirty="0"/>
          </a:p>
        </p:txBody>
      </p:sp>
      <p:sp>
        <p:nvSpPr>
          <p:cNvPr id="20" name="Text 18"/>
          <p:cNvSpPr txBox="1"/>
          <p:nvPr/>
        </p:nvSpPr>
        <p:spPr>
          <a:xfrm>
            <a:off x="7909560" y="4434840"/>
            <a:ext cx="3383280" cy="1417320"/>
          </a:xfrm>
          <a:prstGeom prst="rect">
            <a:avLst/>
          </a:prstGeom>
          <a:noFill/>
          <a:ln/>
        </p:spPr>
        <p:txBody>
          <a:bodyPr wrap="square" lIns="0" tIns="0" rIns="0" bIns="0" rtlCol="0" anchor="t"/>
          <a:lstStyle/>
          <a:p>
            <a:pPr indent="0" marL="0">
              <a:buNone/>
            </a:pPr>
            <a:r>
              <a:rPr lang="en-US" sz="1400" dirty="0">
                <a:solidFill>
                  <a:schemeClr val="tx1"/>
                </a:solidFill>
              </a:rPr>
              <a:t>Parity reversion in real exchange rates is faster for developed countries and flexible regimes. Terms-of-trade shocks shape saving and current accounts.</a:t>
            </a:r>
            <a:endParaRPr lang="en-US" sz="14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Viv Hall and Victoria: NZ’s business cycle</a:t>
            </a:r>
            <a:endParaRPr lang="en-US" sz="3400" dirty="0"/>
          </a:p>
        </p:txBody>
      </p:sp>
      <p:sp>
        <p:nvSpPr>
          <p:cNvPr id="3" name="Hall step 1"/>
          <p:cNvSpPr/>
          <p:nvPr/>
        </p:nvSpPr>
        <p:spPr>
          <a:xfrm>
            <a:off x="548640" y="1463040"/>
            <a:ext cx="2606040" cy="4114800"/>
          </a:xfrm>
          <a:prstGeom prst="roundRect">
            <a:avLst>
              <a:gd name="adj" fmla="val 4211"/>
            </a:avLst>
          </a:prstGeom>
          <a:solidFill>
            <a:schemeClr val="bg2"/>
          </a:solidFill>
          <a:ln w="12700">
            <a:solidFill>
              <a:schemeClr val="bg2"/>
            </a:solidFill>
            <a:prstDash val="solid"/>
          </a:ln>
        </p:spPr>
      </p:sp>
      <p:sp>
        <p:nvSpPr>
          <p:cNvPr id="4" name="Hall step 1 circle"/>
          <p:cNvSpPr/>
          <p:nvPr/>
        </p:nvSpPr>
        <p:spPr>
          <a:xfrm>
            <a:off x="822960" y="1691640"/>
            <a:ext cx="731520" cy="731520"/>
          </a:xfrm>
          <a:prstGeom prst="ellipse">
            <a:avLst/>
          </a:prstGeom>
          <a:solidFill>
            <a:schemeClr val="accent2"/>
          </a:solidFill>
          <a:ln w="12700">
            <a:solidFill>
              <a:schemeClr val="accent2"/>
            </a:solidFill>
            <a:prstDash val="solid"/>
          </a:ln>
        </p:spPr>
      </p:sp>
      <p:pic>
        <p:nvPicPr>
          <p:cNvPr id="5" name="Hall step 1 icon" descr="preencoded.png">    </p:cNvPr>
          <p:cNvPicPr>
            <a:picLocks noChangeAspect="1"/>
          </p:cNvPicPr>
          <p:nvPr/>
        </p:nvPicPr>
        <p:blipFill>
          <a:blip r:embed="rId1"/>
          <a:stretch>
            <a:fillRect/>
          </a:stretch>
        </p:blipFill>
        <p:spPr>
          <a:xfrm>
            <a:off x="1005840" y="1874520"/>
            <a:ext cx="365760" cy="365760"/>
          </a:xfrm>
          <a:prstGeom prst="rect">
            <a:avLst/>
          </a:prstGeom>
        </p:spPr>
      </p:pic>
      <p:sp>
        <p:nvSpPr>
          <p:cNvPr id="6" name="Text 3"/>
          <p:cNvSpPr txBox="1"/>
          <p:nvPr/>
        </p:nvSpPr>
        <p:spPr>
          <a:xfrm>
            <a:off x="1691640" y="1874520"/>
            <a:ext cx="1280160" cy="365760"/>
          </a:xfrm>
          <a:prstGeom prst="rect">
            <a:avLst/>
          </a:prstGeom>
          <a:noFill/>
          <a:ln/>
        </p:spPr>
        <p:txBody>
          <a:bodyPr wrap="square" lIns="0" tIns="0" rIns="0" bIns="0" rtlCol="0" anchor="ctr"/>
          <a:lstStyle/>
          <a:p>
            <a:pPr algn="r" indent="0" marL="0">
              <a:buNone/>
            </a:pPr>
            <a:r>
              <a:rPr lang="en-US" sz="1400" b="1" dirty="0">
                <a:solidFill>
                  <a:schemeClr val="accent1"/>
                </a:solidFill>
              </a:rPr>
              <a:t>2011</a:t>
            </a:r>
            <a:endParaRPr lang="en-US" sz="1400" dirty="0"/>
          </a:p>
        </p:txBody>
      </p:sp>
      <p:sp>
        <p:nvSpPr>
          <p:cNvPr id="7" name="Text 4"/>
          <p:cNvSpPr txBox="1"/>
          <p:nvPr/>
        </p:nvSpPr>
        <p:spPr>
          <a:xfrm>
            <a:off x="822960" y="2606040"/>
            <a:ext cx="2103120" cy="457200"/>
          </a:xfrm>
          <a:prstGeom prst="rect">
            <a:avLst/>
          </a:prstGeom>
          <a:noFill/>
          <a:ln/>
        </p:spPr>
        <p:txBody>
          <a:bodyPr wrap="square" lIns="0" tIns="0" rIns="0" bIns="0" rtlCol="0" anchor="ctr"/>
          <a:lstStyle/>
          <a:p>
            <a:pPr indent="0" marL="0">
              <a:buNone/>
            </a:pPr>
            <a:r>
              <a:rPr lang="en-US" sz="1800" b="1" dirty="0">
                <a:solidFill>
                  <a:schemeClr val="tx2"/>
                </a:solidFill>
              </a:rPr>
              <a:t>Build the data</a:t>
            </a:r>
            <a:endParaRPr lang="en-US" sz="1800" dirty="0"/>
          </a:p>
        </p:txBody>
      </p:sp>
      <p:sp>
        <p:nvSpPr>
          <p:cNvPr id="8" name="Text 5"/>
          <p:cNvSpPr txBox="1"/>
          <p:nvPr/>
        </p:nvSpPr>
        <p:spPr>
          <a:xfrm>
            <a:off x="822960" y="3108960"/>
            <a:ext cx="2148840" cy="2834640"/>
          </a:xfrm>
          <a:prstGeom prst="rect">
            <a:avLst/>
          </a:prstGeom>
          <a:noFill/>
          <a:ln/>
        </p:spPr>
        <p:txBody>
          <a:bodyPr wrap="square" lIns="0" tIns="0" rIns="0" bIns="0" rtlCol="0" anchor="t"/>
          <a:lstStyle/>
          <a:p>
            <a:pPr indent="0" marL="0">
              <a:buNone/>
            </a:pPr>
            <a:r>
              <a:rPr lang="en-US" sz="1400" dirty="0">
                <a:solidFill>
                  <a:schemeClr val="tx1"/>
                </a:solidFill>
              </a:rPr>
              <a:t>No official quarterly real GDP before 1977. We built a seasonally adjusted quarterly series from mid-1947 (Chow–Lin temporal disaggregation).</a:t>
            </a:r>
            <a:endParaRPr lang="en-US" sz="1400" dirty="0"/>
          </a:p>
        </p:txBody>
      </p:sp>
      <p:sp>
        <p:nvSpPr>
          <p:cNvPr id="9" name="Hall step 2"/>
          <p:cNvSpPr/>
          <p:nvPr/>
        </p:nvSpPr>
        <p:spPr>
          <a:xfrm>
            <a:off x="3360420" y="1463040"/>
            <a:ext cx="2606040" cy="4114800"/>
          </a:xfrm>
          <a:prstGeom prst="roundRect">
            <a:avLst>
              <a:gd name="adj" fmla="val 4211"/>
            </a:avLst>
          </a:prstGeom>
          <a:solidFill>
            <a:schemeClr val="bg2"/>
          </a:solidFill>
          <a:ln w="12700">
            <a:solidFill>
              <a:schemeClr val="bg2"/>
            </a:solidFill>
            <a:prstDash val="solid"/>
          </a:ln>
        </p:spPr>
      </p:sp>
      <p:sp>
        <p:nvSpPr>
          <p:cNvPr id="10" name="Hall step 2 circle"/>
          <p:cNvSpPr/>
          <p:nvPr/>
        </p:nvSpPr>
        <p:spPr>
          <a:xfrm>
            <a:off x="3634740" y="1691640"/>
            <a:ext cx="731520" cy="731520"/>
          </a:xfrm>
          <a:prstGeom prst="ellipse">
            <a:avLst/>
          </a:prstGeom>
          <a:solidFill>
            <a:schemeClr val="accent2"/>
          </a:solidFill>
          <a:ln w="12700">
            <a:solidFill>
              <a:schemeClr val="accent2"/>
            </a:solidFill>
            <a:prstDash val="solid"/>
          </a:ln>
        </p:spPr>
      </p:sp>
      <p:pic>
        <p:nvPicPr>
          <p:cNvPr id="11" name="Hall step 2 icon" descr="preencoded.png">    </p:cNvPr>
          <p:cNvPicPr>
            <a:picLocks noChangeAspect="1"/>
          </p:cNvPicPr>
          <p:nvPr/>
        </p:nvPicPr>
        <p:blipFill>
          <a:blip r:embed="rId2"/>
          <a:stretch>
            <a:fillRect/>
          </a:stretch>
        </p:blipFill>
        <p:spPr>
          <a:xfrm>
            <a:off x="3817620" y="1874520"/>
            <a:ext cx="365760" cy="365760"/>
          </a:xfrm>
          <a:prstGeom prst="rect">
            <a:avLst/>
          </a:prstGeom>
        </p:spPr>
      </p:pic>
      <p:sp>
        <p:nvSpPr>
          <p:cNvPr id="12" name="Text 8"/>
          <p:cNvSpPr txBox="1"/>
          <p:nvPr/>
        </p:nvSpPr>
        <p:spPr>
          <a:xfrm>
            <a:off x="4503420" y="1874520"/>
            <a:ext cx="1280160" cy="365760"/>
          </a:xfrm>
          <a:prstGeom prst="rect">
            <a:avLst/>
          </a:prstGeom>
          <a:noFill/>
          <a:ln/>
        </p:spPr>
        <p:txBody>
          <a:bodyPr wrap="square" lIns="0" tIns="0" rIns="0" bIns="0" rtlCol="0" anchor="ctr"/>
          <a:lstStyle/>
          <a:p>
            <a:pPr algn="r" indent="0" marL="0">
              <a:buNone/>
            </a:pPr>
            <a:r>
              <a:rPr lang="en-US" sz="1400" b="1" dirty="0">
                <a:solidFill>
                  <a:schemeClr val="accent1"/>
                </a:solidFill>
              </a:rPr>
              <a:t>2016</a:t>
            </a:r>
            <a:endParaRPr lang="en-US" sz="1400" dirty="0"/>
          </a:p>
        </p:txBody>
      </p:sp>
      <p:sp>
        <p:nvSpPr>
          <p:cNvPr id="13" name="Text 9"/>
          <p:cNvSpPr txBox="1"/>
          <p:nvPr/>
        </p:nvSpPr>
        <p:spPr>
          <a:xfrm>
            <a:off x="3634740" y="2606040"/>
            <a:ext cx="2103120" cy="457200"/>
          </a:xfrm>
          <a:prstGeom prst="rect">
            <a:avLst/>
          </a:prstGeom>
          <a:noFill/>
          <a:ln/>
        </p:spPr>
        <p:txBody>
          <a:bodyPr wrap="square" lIns="0" tIns="0" rIns="0" bIns="0" rtlCol="0" anchor="ctr"/>
          <a:lstStyle/>
          <a:p>
            <a:pPr indent="0" marL="0">
              <a:buNone/>
            </a:pPr>
            <a:r>
              <a:rPr lang="en-US" sz="1800" b="1" dirty="0">
                <a:solidFill>
                  <a:schemeClr val="tx2"/>
                </a:solidFill>
              </a:rPr>
              <a:t>Date the cycle</a:t>
            </a:r>
            <a:endParaRPr lang="en-US" sz="1800" dirty="0"/>
          </a:p>
        </p:txBody>
      </p:sp>
      <p:sp>
        <p:nvSpPr>
          <p:cNvPr id="14" name="Text 10"/>
          <p:cNvSpPr txBox="1"/>
          <p:nvPr/>
        </p:nvSpPr>
        <p:spPr>
          <a:xfrm>
            <a:off x="3634740" y="3108960"/>
            <a:ext cx="2148840" cy="2834640"/>
          </a:xfrm>
          <a:prstGeom prst="rect">
            <a:avLst/>
          </a:prstGeom>
          <a:noFill/>
          <a:ln/>
        </p:spPr>
        <p:txBody>
          <a:bodyPr wrap="square" lIns="0" tIns="0" rIns="0" bIns="0" rtlCol="0" anchor="t"/>
          <a:lstStyle/>
          <a:p>
            <a:pPr indent="0" marL="0">
              <a:buNone/>
            </a:pPr>
            <a:r>
              <a:rPr lang="en-US" sz="1400" dirty="0">
                <a:solidFill>
                  <a:schemeClr val="tx1"/>
                </a:solidFill>
              </a:rPr>
              <a:t>Bry–Boschan turning points: nine recessions in ~70 years. GDP and employment cycles coincide ~90% of the time, and recovery strength is independent of recession depth.</a:t>
            </a:r>
            <a:endParaRPr lang="en-US" sz="1400" dirty="0"/>
          </a:p>
        </p:txBody>
      </p:sp>
      <p:sp>
        <p:nvSpPr>
          <p:cNvPr id="15" name="Hall step 3"/>
          <p:cNvSpPr/>
          <p:nvPr/>
        </p:nvSpPr>
        <p:spPr>
          <a:xfrm>
            <a:off x="6172200" y="1463040"/>
            <a:ext cx="2606040" cy="4114800"/>
          </a:xfrm>
          <a:prstGeom prst="roundRect">
            <a:avLst>
              <a:gd name="adj" fmla="val 4211"/>
            </a:avLst>
          </a:prstGeom>
          <a:solidFill>
            <a:schemeClr val="bg2"/>
          </a:solidFill>
          <a:ln w="12700">
            <a:solidFill>
              <a:schemeClr val="bg2"/>
            </a:solidFill>
            <a:prstDash val="solid"/>
          </a:ln>
        </p:spPr>
      </p:sp>
      <p:sp>
        <p:nvSpPr>
          <p:cNvPr id="16" name="Hall step 3 circle"/>
          <p:cNvSpPr/>
          <p:nvPr/>
        </p:nvSpPr>
        <p:spPr>
          <a:xfrm>
            <a:off x="6446520" y="1691640"/>
            <a:ext cx="731520" cy="731520"/>
          </a:xfrm>
          <a:prstGeom prst="ellipse">
            <a:avLst/>
          </a:prstGeom>
          <a:solidFill>
            <a:schemeClr val="accent2"/>
          </a:solidFill>
          <a:ln w="12700">
            <a:solidFill>
              <a:schemeClr val="accent2"/>
            </a:solidFill>
            <a:prstDash val="solid"/>
          </a:ln>
        </p:spPr>
      </p:sp>
      <p:pic>
        <p:nvPicPr>
          <p:cNvPr id="17" name="Hall step 3 icon" descr="preencoded.png">    </p:cNvPr>
          <p:cNvPicPr>
            <a:picLocks noChangeAspect="1"/>
          </p:cNvPicPr>
          <p:nvPr/>
        </p:nvPicPr>
        <p:blipFill>
          <a:blip r:embed="rId3"/>
          <a:stretch>
            <a:fillRect/>
          </a:stretch>
        </p:blipFill>
        <p:spPr>
          <a:xfrm>
            <a:off x="6629400" y="1874520"/>
            <a:ext cx="365760" cy="365760"/>
          </a:xfrm>
          <a:prstGeom prst="rect">
            <a:avLst/>
          </a:prstGeom>
        </p:spPr>
      </p:pic>
      <p:sp>
        <p:nvSpPr>
          <p:cNvPr id="18" name="Text 13"/>
          <p:cNvSpPr txBox="1"/>
          <p:nvPr/>
        </p:nvSpPr>
        <p:spPr>
          <a:xfrm>
            <a:off x="7315200" y="1874520"/>
            <a:ext cx="1280160" cy="365760"/>
          </a:xfrm>
          <a:prstGeom prst="rect">
            <a:avLst/>
          </a:prstGeom>
          <a:noFill/>
          <a:ln/>
        </p:spPr>
        <p:txBody>
          <a:bodyPr wrap="square" lIns="0" tIns="0" rIns="0" bIns="0" rtlCol="0" anchor="ctr"/>
          <a:lstStyle/>
          <a:p>
            <a:pPr algn="r" indent="0" marL="0">
              <a:buNone/>
            </a:pPr>
            <a:r>
              <a:rPr lang="en-US" sz="1400" b="1" dirty="0">
                <a:solidFill>
                  <a:schemeClr val="accent1"/>
                </a:solidFill>
              </a:rPr>
              <a:t>2004–12</a:t>
            </a:r>
            <a:endParaRPr lang="en-US" sz="1400" dirty="0"/>
          </a:p>
        </p:txBody>
      </p:sp>
      <p:sp>
        <p:nvSpPr>
          <p:cNvPr id="19" name="Text 14"/>
          <p:cNvSpPr txBox="1"/>
          <p:nvPr/>
        </p:nvSpPr>
        <p:spPr>
          <a:xfrm>
            <a:off x="6446520" y="2606040"/>
            <a:ext cx="2103120" cy="457200"/>
          </a:xfrm>
          <a:prstGeom prst="rect">
            <a:avLst/>
          </a:prstGeom>
          <a:noFill/>
          <a:ln/>
        </p:spPr>
        <p:txBody>
          <a:bodyPr wrap="square" lIns="0" tIns="0" rIns="0" bIns="0" rtlCol="0" anchor="ctr"/>
          <a:lstStyle/>
          <a:p>
            <a:pPr indent="0" marL="0">
              <a:buNone/>
            </a:pPr>
            <a:r>
              <a:rPr lang="en-US" sz="1800" b="1" dirty="0">
                <a:solidFill>
                  <a:schemeClr val="tx2"/>
                </a:solidFill>
              </a:rPr>
              <a:t>Test policy options</a:t>
            </a:r>
            <a:endParaRPr lang="en-US" sz="1800" dirty="0"/>
          </a:p>
        </p:txBody>
      </p:sp>
      <p:sp>
        <p:nvSpPr>
          <p:cNvPr id="20" name="Text 15"/>
          <p:cNvSpPr txBox="1"/>
          <p:nvPr/>
        </p:nvSpPr>
        <p:spPr>
          <a:xfrm>
            <a:off x="6446520" y="3108960"/>
            <a:ext cx="2148840" cy="2834640"/>
          </a:xfrm>
          <a:prstGeom prst="rect">
            <a:avLst/>
          </a:prstGeom>
          <a:noFill/>
          <a:ln/>
        </p:spPr>
        <p:txBody>
          <a:bodyPr wrap="square" lIns="0" tIns="0" rIns="0" bIns="0" rtlCol="0" anchor="t"/>
          <a:lstStyle/>
          <a:p>
            <a:pPr indent="0" marL="0">
              <a:buNone/>
            </a:pPr>
            <a:r>
              <a:rPr lang="en-US" sz="1400" dirty="0">
                <a:solidFill>
                  <a:schemeClr val="tx1"/>
                </a:solidFill>
              </a:rPr>
              <a:t>Region-specific cycles dominate the common Australasian cycle, which supports NZ keeping its own currency and monetary policy.</a:t>
            </a:r>
            <a:endParaRPr lang="en-US" sz="1400" dirty="0"/>
          </a:p>
        </p:txBody>
      </p:sp>
      <p:sp>
        <p:nvSpPr>
          <p:cNvPr id="21" name="Hall step 4"/>
          <p:cNvSpPr/>
          <p:nvPr/>
        </p:nvSpPr>
        <p:spPr>
          <a:xfrm>
            <a:off x="8983980" y="1463040"/>
            <a:ext cx="2606040" cy="4114800"/>
          </a:xfrm>
          <a:prstGeom prst="roundRect">
            <a:avLst>
              <a:gd name="adj" fmla="val 4211"/>
            </a:avLst>
          </a:prstGeom>
          <a:solidFill>
            <a:schemeClr val="bg2"/>
          </a:solidFill>
          <a:ln w="12700">
            <a:solidFill>
              <a:schemeClr val="bg2"/>
            </a:solidFill>
            <a:prstDash val="solid"/>
          </a:ln>
        </p:spPr>
      </p:sp>
      <p:sp>
        <p:nvSpPr>
          <p:cNvPr id="22" name="Hall step 4 circle"/>
          <p:cNvSpPr/>
          <p:nvPr/>
        </p:nvSpPr>
        <p:spPr>
          <a:xfrm>
            <a:off x="9258300" y="1691640"/>
            <a:ext cx="731520" cy="731520"/>
          </a:xfrm>
          <a:prstGeom prst="ellipse">
            <a:avLst/>
          </a:prstGeom>
          <a:solidFill>
            <a:schemeClr val="accent2"/>
          </a:solidFill>
          <a:ln w="12700">
            <a:solidFill>
              <a:schemeClr val="accent2"/>
            </a:solidFill>
            <a:prstDash val="solid"/>
          </a:ln>
        </p:spPr>
      </p:sp>
      <p:pic>
        <p:nvPicPr>
          <p:cNvPr id="23" name="Hall step 4 icon" descr="preencoded.png">    </p:cNvPr>
          <p:cNvPicPr>
            <a:picLocks noChangeAspect="1"/>
          </p:cNvPicPr>
          <p:nvPr/>
        </p:nvPicPr>
        <p:blipFill>
          <a:blip r:embed="rId4"/>
          <a:stretch>
            <a:fillRect/>
          </a:stretch>
        </p:blipFill>
        <p:spPr>
          <a:xfrm>
            <a:off x="9441180" y="1874520"/>
            <a:ext cx="365760" cy="365760"/>
          </a:xfrm>
          <a:prstGeom prst="rect">
            <a:avLst/>
          </a:prstGeom>
        </p:spPr>
      </p:pic>
      <p:sp>
        <p:nvSpPr>
          <p:cNvPr id="24" name="Text 18"/>
          <p:cNvSpPr txBox="1"/>
          <p:nvPr/>
        </p:nvSpPr>
        <p:spPr>
          <a:xfrm>
            <a:off x="10126980" y="1874520"/>
            <a:ext cx="1280160" cy="365760"/>
          </a:xfrm>
          <a:prstGeom prst="rect">
            <a:avLst/>
          </a:prstGeom>
          <a:noFill/>
          <a:ln/>
        </p:spPr>
        <p:txBody>
          <a:bodyPr wrap="square" lIns="0" tIns="0" rIns="0" bIns="0" rtlCol="0" anchor="ctr"/>
          <a:lstStyle/>
          <a:p>
            <a:pPr algn="r" indent="0" marL="0">
              <a:buNone/>
            </a:pPr>
            <a:r>
              <a:rPr lang="en-US" sz="1400" b="1" dirty="0">
                <a:solidFill>
                  <a:schemeClr val="accent1"/>
                </a:solidFill>
              </a:rPr>
              <a:t>2020</a:t>
            </a:r>
            <a:endParaRPr lang="en-US" sz="1400" dirty="0"/>
          </a:p>
        </p:txBody>
      </p:sp>
      <p:sp>
        <p:nvSpPr>
          <p:cNvPr id="25" name="Text 19"/>
          <p:cNvSpPr txBox="1"/>
          <p:nvPr/>
        </p:nvSpPr>
        <p:spPr>
          <a:xfrm>
            <a:off x="9258300" y="2606040"/>
            <a:ext cx="2103120" cy="457200"/>
          </a:xfrm>
          <a:prstGeom prst="rect">
            <a:avLst/>
          </a:prstGeom>
          <a:noFill/>
          <a:ln/>
        </p:spPr>
        <p:txBody>
          <a:bodyPr wrap="square" lIns="0" tIns="0" rIns="0" bIns="0" rtlCol="0" anchor="ctr"/>
          <a:lstStyle/>
          <a:p>
            <a:pPr indent="0" marL="0">
              <a:buNone/>
            </a:pPr>
            <a:r>
              <a:rPr lang="en-US" sz="1800" b="1" dirty="0">
                <a:solidFill>
                  <a:schemeClr val="tx2"/>
                </a:solidFill>
              </a:rPr>
              <a:t>Ask what changed</a:t>
            </a:r>
            <a:endParaRPr lang="en-US" sz="1800" dirty="0"/>
          </a:p>
        </p:txBody>
      </p:sp>
      <p:sp>
        <p:nvSpPr>
          <p:cNvPr id="26" name="Text 20"/>
          <p:cNvSpPr txBox="1"/>
          <p:nvPr/>
        </p:nvSpPr>
        <p:spPr>
          <a:xfrm>
            <a:off x="9258300" y="3108960"/>
            <a:ext cx="2148840" cy="2834640"/>
          </a:xfrm>
          <a:prstGeom prst="rect">
            <a:avLst/>
          </a:prstGeom>
          <a:noFill/>
          <a:ln/>
        </p:spPr>
        <p:txBody>
          <a:bodyPr wrap="square" lIns="0" tIns="0" rIns="0" bIns="0" rtlCol="0" anchor="t"/>
          <a:lstStyle/>
          <a:p>
            <a:pPr indent="0" marL="0">
              <a:buNone/>
            </a:pPr>
            <a:r>
              <a:rPr lang="en-US" sz="1400" dirty="0">
                <a:solidFill>
                  <a:schemeClr val="tx1"/>
                </a:solidFill>
              </a:rPr>
              <a:t>After the GFC the economy is less interest-rate sensitive, so policy must move more, and lower neutral rates have pulled down inflation and output.</a:t>
            </a:r>
            <a:endParaRPr lang="en-US" sz="14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Seventy years of New Zealand recessions</a:t>
            </a:r>
            <a:endParaRPr lang="en-US" sz="3400" dirty="0"/>
          </a:p>
        </p:txBody>
      </p:sp>
      <p:pic>
        <p:nvPicPr>
          <p:cNvPr id="3" name="NZ business cycle chart" descr="New Zealand quarterly real GDP since 1954 on a log scale, with recessions shaded">    </p:cNvPr>
          <p:cNvPicPr>
            <a:picLocks noChangeAspect="1"/>
          </p:cNvPicPr>
          <p:nvPr/>
        </p:nvPicPr>
        <p:blipFill>
          <a:blip r:embed="rId1"/>
          <a:stretch>
            <a:fillRect/>
          </a:stretch>
        </p:blipFill>
        <p:spPr>
          <a:xfrm>
            <a:off x="548640" y="1325880"/>
            <a:ext cx="11064240" cy="4701446"/>
          </a:xfrm>
          <a:prstGeom prst="rect">
            <a:avLst/>
          </a:prstGeom>
        </p:spPr>
      </p:pic>
      <p:sp>
        <p:nvSpPr>
          <p:cNvPr id="4" name="Text 1"/>
          <p:cNvSpPr txBox="1"/>
          <p:nvPr/>
        </p:nvSpPr>
        <p:spPr>
          <a:xfrm>
            <a:off x="685800" y="6016752"/>
            <a:ext cx="5486400" cy="274320"/>
          </a:xfrm>
          <a:prstGeom prst="rect">
            <a:avLst/>
          </a:prstGeom>
          <a:noFill/>
          <a:ln/>
        </p:spPr>
        <p:txBody>
          <a:bodyPr wrap="square" lIns="0" tIns="0" rIns="0" bIns="0" rtlCol="0" anchor="ctr"/>
          <a:lstStyle/>
          <a:p>
            <a:pPr indent="0" marL="0">
              <a:buNone/>
            </a:pPr>
            <a:r>
              <a:rPr lang="en-US" sz="1100" i="1" dirty="0">
                <a:solidFill>
                  <a:schemeClr val="accent4"/>
                </a:solidFill>
              </a:rPr>
              <a:t>Series updated by J. McDermott, 2026</a:t>
            </a:r>
            <a:endParaRPr lang="en-US" sz="11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Co-authors keep the toolkit current</a:t>
            </a:r>
            <a:endParaRPr lang="en-US" sz="3400" dirty="0"/>
          </a:p>
        </p:txBody>
      </p:sp>
      <p:sp>
        <p:nvSpPr>
          <p:cNvPr id="3" name="network link 1"/>
          <p:cNvSpPr/>
          <p:nvPr/>
        </p:nvSpPr>
        <p:spPr>
          <a:xfrm>
            <a:off x="1645920" y="1691640"/>
            <a:ext cx="1920240" cy="2057400"/>
          </a:xfrm>
          <a:prstGeom prst="line">
            <a:avLst/>
          </a:prstGeom>
          <a:noFill/>
          <a:ln w="25400">
            <a:solidFill>
              <a:srgbClr val="8FB3BC"/>
            </a:solidFill>
            <a:prstDash val="solid"/>
          </a:ln>
        </p:spPr>
      </p:sp>
      <p:sp>
        <p:nvSpPr>
          <p:cNvPr id="4" name="network link 2"/>
          <p:cNvSpPr/>
          <p:nvPr/>
        </p:nvSpPr>
        <p:spPr>
          <a:xfrm flipV="1">
            <a:off x="3566160" y="1691640"/>
            <a:ext cx="1920240" cy="2057400"/>
          </a:xfrm>
          <a:prstGeom prst="line">
            <a:avLst/>
          </a:prstGeom>
          <a:noFill/>
          <a:ln w="25400">
            <a:solidFill>
              <a:srgbClr val="8FB3BC"/>
            </a:solidFill>
            <a:prstDash val="solid"/>
          </a:ln>
        </p:spPr>
      </p:sp>
      <p:sp>
        <p:nvSpPr>
          <p:cNvPr id="5" name="network link 3"/>
          <p:cNvSpPr/>
          <p:nvPr/>
        </p:nvSpPr>
        <p:spPr>
          <a:xfrm>
            <a:off x="3566160" y="3749040"/>
            <a:ext cx="2286000" cy="9144"/>
          </a:xfrm>
          <a:prstGeom prst="line">
            <a:avLst/>
          </a:prstGeom>
          <a:noFill/>
          <a:ln w="25400">
            <a:solidFill>
              <a:srgbClr val="8FB3BC"/>
            </a:solidFill>
            <a:prstDash val="solid"/>
          </a:ln>
        </p:spPr>
      </p:sp>
      <p:sp>
        <p:nvSpPr>
          <p:cNvPr id="6" name="network link 4"/>
          <p:cNvSpPr/>
          <p:nvPr/>
        </p:nvSpPr>
        <p:spPr>
          <a:xfrm>
            <a:off x="3566160" y="3749040"/>
            <a:ext cx="1920240" cy="1737360"/>
          </a:xfrm>
          <a:prstGeom prst="line">
            <a:avLst/>
          </a:prstGeom>
          <a:noFill/>
          <a:ln w="25400">
            <a:solidFill>
              <a:srgbClr val="8FB3BC"/>
            </a:solidFill>
            <a:prstDash val="solid"/>
          </a:ln>
        </p:spPr>
      </p:sp>
      <p:sp>
        <p:nvSpPr>
          <p:cNvPr id="7" name="network link 5"/>
          <p:cNvSpPr/>
          <p:nvPr/>
        </p:nvSpPr>
        <p:spPr>
          <a:xfrm flipV="1">
            <a:off x="1645920" y="3749040"/>
            <a:ext cx="1920240" cy="1737360"/>
          </a:xfrm>
          <a:prstGeom prst="line">
            <a:avLst/>
          </a:prstGeom>
          <a:noFill/>
          <a:ln w="25400">
            <a:solidFill>
              <a:srgbClr val="8FB3BC"/>
            </a:solidFill>
            <a:prstDash val="solid"/>
          </a:ln>
        </p:spPr>
      </p:sp>
      <p:sp>
        <p:nvSpPr>
          <p:cNvPr id="8" name="network link 6"/>
          <p:cNvSpPr/>
          <p:nvPr/>
        </p:nvSpPr>
        <p:spPr>
          <a:xfrm>
            <a:off x="1463040" y="3749040"/>
            <a:ext cx="2103120" cy="9144"/>
          </a:xfrm>
          <a:prstGeom prst="line">
            <a:avLst/>
          </a:prstGeom>
          <a:noFill/>
          <a:ln w="25400">
            <a:solidFill>
              <a:srgbClr val="8FB3BC"/>
            </a:solidFill>
            <a:prstDash val="solid"/>
          </a:ln>
        </p:spPr>
      </p:sp>
      <p:sp>
        <p:nvSpPr>
          <p:cNvPr id="9" name="network centre"/>
          <p:cNvSpPr/>
          <p:nvPr/>
        </p:nvSpPr>
        <p:spPr>
          <a:xfrm>
            <a:off x="2834640" y="3017520"/>
            <a:ext cx="1463040" cy="1463040"/>
          </a:xfrm>
          <a:prstGeom prst="ellipse">
            <a:avLst/>
          </a:prstGeom>
          <a:solidFill>
            <a:schemeClr val="tx2"/>
          </a:solidFill>
          <a:ln w="38100">
            <a:solidFill>
              <a:srgbClr val="FFFFFF"/>
            </a:solidFill>
            <a:prstDash val="solid"/>
          </a:ln>
        </p:spPr>
      </p:sp>
      <p:sp>
        <p:nvSpPr>
          <p:cNvPr id="10" name="Text 8"/>
          <p:cNvSpPr txBox="1"/>
          <p:nvPr/>
        </p:nvSpPr>
        <p:spPr>
          <a:xfrm>
            <a:off x="2834640" y="3017520"/>
            <a:ext cx="1463040" cy="1463040"/>
          </a:xfrm>
          <a:prstGeom prst="rect">
            <a:avLst/>
          </a:prstGeom>
          <a:noFill/>
          <a:ln/>
        </p:spPr>
        <p:txBody>
          <a:bodyPr wrap="square" lIns="0" tIns="0" rIns="0" bIns="0" rtlCol="0" anchor="ctr"/>
          <a:lstStyle/>
          <a:p>
            <a:pPr algn="ctr" indent="0" marL="0">
              <a:buNone/>
            </a:pPr>
            <a:r>
              <a:rPr lang="en-US" sz="1800" b="1" dirty="0">
                <a:solidFill>
                  <a:schemeClr val="bg1"/>
                </a:solidFill>
              </a:rPr>
              <a:t>John</a:t>
            </a:r>
            <a:endParaRPr lang="en-US" sz="1800" dirty="0"/>
          </a:p>
        </p:txBody>
      </p:sp>
      <p:sp>
        <p:nvSpPr>
          <p:cNvPr id="11" name="network node 1"/>
          <p:cNvSpPr/>
          <p:nvPr/>
        </p:nvSpPr>
        <p:spPr>
          <a:xfrm>
            <a:off x="685800" y="1280160"/>
            <a:ext cx="1920240" cy="822960"/>
          </a:xfrm>
          <a:prstGeom prst="roundRect">
            <a:avLst>
              <a:gd name="adj" fmla="val 11111"/>
            </a:avLst>
          </a:prstGeom>
          <a:solidFill>
            <a:schemeClr val="accent2"/>
          </a:solidFill>
          <a:ln w="25400">
            <a:solidFill>
              <a:srgbClr val="FFFFFF"/>
            </a:solidFill>
            <a:prstDash val="solid"/>
          </a:ln>
        </p:spPr>
      </p:sp>
      <p:sp>
        <p:nvSpPr>
          <p:cNvPr id="12" name="Text 10"/>
          <p:cNvSpPr txBox="1"/>
          <p:nvPr/>
        </p:nvSpPr>
        <p:spPr>
          <a:xfrm>
            <a:off x="731520" y="1307592"/>
            <a:ext cx="1828800" cy="768096"/>
          </a:xfrm>
          <a:prstGeom prst="rect">
            <a:avLst/>
          </a:prstGeom>
          <a:noFill/>
          <a:ln/>
        </p:spPr>
        <p:txBody>
          <a:bodyPr wrap="square" lIns="0" tIns="0" rIns="0" bIns="0" rtlCol="0" anchor="ctr"/>
          <a:lstStyle/>
          <a:p>
            <a:pPr algn="ctr" indent="0" marL="0">
              <a:buNone/>
            </a:pPr>
            <a:r>
              <a:rPr lang="en-US" sz="1300" b="1" dirty="0">
                <a:solidFill>
                  <a:schemeClr val="bg1"/>
                </a:solidFill>
              </a:rPr>
              <a:t>Don Andrews</a:t>
            </a:r>
            <a:endParaRPr lang="en-US" sz="1300" dirty="0"/>
          </a:p>
          <a:p>
            <a:pPr algn="ctr" indent="0" marL="0">
              <a:buNone/>
            </a:pPr>
            <a:r>
              <a:rPr lang="en-US" sz="1000" dirty="0">
                <a:solidFill>
                  <a:schemeClr val="bg1"/>
                </a:solidFill>
              </a:rPr>
              <a:t>Yale</a:t>
            </a:r>
            <a:endParaRPr lang="en-US" sz="1300" dirty="0"/>
          </a:p>
        </p:txBody>
      </p:sp>
      <p:sp>
        <p:nvSpPr>
          <p:cNvPr id="13" name="network node 2"/>
          <p:cNvSpPr/>
          <p:nvPr/>
        </p:nvSpPr>
        <p:spPr>
          <a:xfrm>
            <a:off x="4526280" y="1280160"/>
            <a:ext cx="1920240" cy="822960"/>
          </a:xfrm>
          <a:prstGeom prst="roundRect">
            <a:avLst>
              <a:gd name="adj" fmla="val 11111"/>
            </a:avLst>
          </a:prstGeom>
          <a:solidFill>
            <a:schemeClr val="accent1"/>
          </a:solidFill>
          <a:ln w="25400">
            <a:solidFill>
              <a:srgbClr val="FFFFFF"/>
            </a:solidFill>
            <a:prstDash val="solid"/>
          </a:ln>
        </p:spPr>
      </p:sp>
      <p:sp>
        <p:nvSpPr>
          <p:cNvPr id="14" name="Text 12"/>
          <p:cNvSpPr txBox="1"/>
          <p:nvPr/>
        </p:nvSpPr>
        <p:spPr>
          <a:xfrm>
            <a:off x="4572000" y="1307592"/>
            <a:ext cx="1828800" cy="768096"/>
          </a:xfrm>
          <a:prstGeom prst="rect">
            <a:avLst/>
          </a:prstGeom>
          <a:noFill/>
          <a:ln/>
        </p:spPr>
        <p:txBody>
          <a:bodyPr wrap="square" lIns="0" tIns="0" rIns="0" bIns="0" rtlCol="0" anchor="ctr"/>
          <a:lstStyle/>
          <a:p>
            <a:pPr algn="ctr" indent="0" marL="0">
              <a:buNone/>
            </a:pPr>
            <a:r>
              <a:rPr lang="en-US" sz="1300" b="1" dirty="0">
                <a:solidFill>
                  <a:schemeClr val="bg1"/>
                </a:solidFill>
              </a:rPr>
              <a:t>Paul Cashin</a:t>
            </a:r>
            <a:endParaRPr lang="en-US" sz="1300" dirty="0"/>
          </a:p>
          <a:p>
            <a:pPr algn="ctr" indent="0" marL="0">
              <a:buNone/>
            </a:pPr>
            <a:r>
              <a:rPr lang="en-US" sz="1000" dirty="0">
                <a:solidFill>
                  <a:schemeClr val="bg1"/>
                </a:solidFill>
              </a:rPr>
              <a:t>IMF · 13 papers</a:t>
            </a:r>
            <a:endParaRPr lang="en-US" sz="1300" dirty="0"/>
          </a:p>
        </p:txBody>
      </p:sp>
      <p:sp>
        <p:nvSpPr>
          <p:cNvPr id="15" name="network node 3"/>
          <p:cNvSpPr/>
          <p:nvPr/>
        </p:nvSpPr>
        <p:spPr>
          <a:xfrm>
            <a:off x="4892040" y="3337560"/>
            <a:ext cx="1920240" cy="822960"/>
          </a:xfrm>
          <a:prstGeom prst="roundRect">
            <a:avLst>
              <a:gd name="adj" fmla="val 11111"/>
            </a:avLst>
          </a:prstGeom>
          <a:solidFill>
            <a:schemeClr val="accent2"/>
          </a:solidFill>
          <a:ln w="25400">
            <a:solidFill>
              <a:srgbClr val="FFFFFF"/>
            </a:solidFill>
            <a:prstDash val="solid"/>
          </a:ln>
        </p:spPr>
      </p:sp>
      <p:sp>
        <p:nvSpPr>
          <p:cNvPr id="16" name="Text 14"/>
          <p:cNvSpPr txBox="1"/>
          <p:nvPr/>
        </p:nvSpPr>
        <p:spPr>
          <a:xfrm>
            <a:off x="4937760" y="3364992"/>
            <a:ext cx="1828800" cy="768096"/>
          </a:xfrm>
          <a:prstGeom prst="rect">
            <a:avLst/>
          </a:prstGeom>
          <a:noFill/>
          <a:ln/>
        </p:spPr>
        <p:txBody>
          <a:bodyPr wrap="square" lIns="0" tIns="0" rIns="0" bIns="0" rtlCol="0" anchor="ctr"/>
          <a:lstStyle/>
          <a:p>
            <a:pPr algn="ctr" indent="0" marL="0">
              <a:buNone/>
            </a:pPr>
            <a:r>
              <a:rPr lang="en-US" sz="1300" b="1" dirty="0">
                <a:solidFill>
                  <a:schemeClr val="bg1"/>
                </a:solidFill>
              </a:rPr>
              <a:t>Viv Hall</a:t>
            </a:r>
            <a:endParaRPr lang="en-US" sz="1300" dirty="0"/>
          </a:p>
          <a:p>
            <a:pPr algn="ctr" indent="0" marL="0">
              <a:buNone/>
            </a:pPr>
            <a:r>
              <a:rPr lang="en-US" sz="1000" dirty="0">
                <a:solidFill>
                  <a:schemeClr val="bg1"/>
                </a:solidFill>
              </a:rPr>
              <a:t>Victoria · 9 papers</a:t>
            </a:r>
            <a:endParaRPr lang="en-US" sz="1300" dirty="0"/>
          </a:p>
        </p:txBody>
      </p:sp>
      <p:sp>
        <p:nvSpPr>
          <p:cNvPr id="17" name="network node 4"/>
          <p:cNvSpPr/>
          <p:nvPr/>
        </p:nvSpPr>
        <p:spPr>
          <a:xfrm>
            <a:off x="4526280" y="5074920"/>
            <a:ext cx="1920240" cy="822960"/>
          </a:xfrm>
          <a:prstGeom prst="roundRect">
            <a:avLst>
              <a:gd name="adj" fmla="val 11111"/>
            </a:avLst>
          </a:prstGeom>
          <a:solidFill>
            <a:schemeClr val="accent1"/>
          </a:solidFill>
          <a:ln w="25400">
            <a:solidFill>
              <a:srgbClr val="FFFFFF"/>
            </a:solidFill>
            <a:prstDash val="solid"/>
          </a:ln>
        </p:spPr>
      </p:sp>
      <p:sp>
        <p:nvSpPr>
          <p:cNvPr id="18" name="Text 16"/>
          <p:cNvSpPr txBox="1"/>
          <p:nvPr/>
        </p:nvSpPr>
        <p:spPr>
          <a:xfrm>
            <a:off x="4572000" y="5102352"/>
            <a:ext cx="1828800" cy="768096"/>
          </a:xfrm>
          <a:prstGeom prst="rect">
            <a:avLst/>
          </a:prstGeom>
          <a:noFill/>
          <a:ln/>
        </p:spPr>
        <p:txBody>
          <a:bodyPr wrap="square" lIns="0" tIns="0" rIns="0" bIns="0" rtlCol="0" anchor="ctr"/>
          <a:lstStyle/>
          <a:p>
            <a:pPr algn="ctr" indent="0" marL="0">
              <a:buNone/>
            </a:pPr>
            <a:r>
              <a:rPr lang="en-US" sz="1100" b="1" dirty="0">
                <a:solidFill>
                  <a:schemeClr val="bg1"/>
                </a:solidFill>
              </a:rPr>
              <a:t>Pierre-Richard Agénor</a:t>
            </a:r>
            <a:endParaRPr lang="en-US" sz="1100" dirty="0"/>
          </a:p>
          <a:p>
            <a:pPr algn="ctr" indent="0" marL="0">
              <a:buNone/>
            </a:pPr>
            <a:r>
              <a:rPr lang="en-US" sz="1100" b="1" dirty="0">
                <a:solidFill>
                  <a:schemeClr val="bg1"/>
                </a:solidFill>
              </a:rPr>
              <a:t>Eswar Prasad</a:t>
            </a:r>
            <a:endParaRPr lang="en-US" sz="1100" dirty="0"/>
          </a:p>
          <a:p>
            <a:pPr algn="ctr" indent="0" marL="0">
              <a:buNone/>
            </a:pPr>
            <a:r>
              <a:rPr lang="en-US" sz="1000" dirty="0">
                <a:solidFill>
                  <a:schemeClr val="bg1"/>
                </a:solidFill>
              </a:rPr>
              <a:t>IMF / World Bank</a:t>
            </a:r>
            <a:endParaRPr lang="en-US" sz="1100" dirty="0"/>
          </a:p>
        </p:txBody>
      </p:sp>
      <p:sp>
        <p:nvSpPr>
          <p:cNvPr id="19" name="network node 5"/>
          <p:cNvSpPr/>
          <p:nvPr/>
        </p:nvSpPr>
        <p:spPr>
          <a:xfrm>
            <a:off x="685800" y="5074920"/>
            <a:ext cx="1920240" cy="822960"/>
          </a:xfrm>
          <a:prstGeom prst="roundRect">
            <a:avLst>
              <a:gd name="adj" fmla="val 11111"/>
            </a:avLst>
          </a:prstGeom>
          <a:solidFill>
            <a:schemeClr val="accent1"/>
          </a:solidFill>
          <a:ln w="25400">
            <a:solidFill>
              <a:srgbClr val="FFFFFF"/>
            </a:solidFill>
            <a:prstDash val="solid"/>
          </a:ln>
        </p:spPr>
      </p:sp>
      <p:sp>
        <p:nvSpPr>
          <p:cNvPr id="20" name="Text 18"/>
          <p:cNvSpPr txBox="1"/>
          <p:nvPr/>
        </p:nvSpPr>
        <p:spPr>
          <a:xfrm>
            <a:off x="731520" y="5102352"/>
            <a:ext cx="1828800" cy="768096"/>
          </a:xfrm>
          <a:prstGeom prst="rect">
            <a:avLst/>
          </a:prstGeom>
          <a:noFill/>
          <a:ln/>
        </p:spPr>
        <p:txBody>
          <a:bodyPr wrap="square" lIns="0" tIns="0" rIns="0" bIns="0" rtlCol="0" anchor="ctr"/>
          <a:lstStyle/>
          <a:p>
            <a:pPr algn="ctr" indent="0" marL="0">
              <a:buNone/>
            </a:pPr>
            <a:r>
              <a:rPr lang="en-US" sz="1300" b="1" dirty="0">
                <a:solidFill>
                  <a:schemeClr val="bg1"/>
                </a:solidFill>
              </a:rPr>
              <a:t>RBNZ colleagues</a:t>
            </a:r>
            <a:endParaRPr lang="en-US" sz="1300" dirty="0"/>
          </a:p>
          <a:p>
            <a:pPr algn="ctr" indent="0" marL="0">
              <a:buNone/>
            </a:pPr>
            <a:r>
              <a:rPr lang="en-US" sz="1000" dirty="0">
                <a:solidFill>
                  <a:schemeClr val="bg1"/>
                </a:solidFill>
              </a:rPr>
              <a:t>Karagedikli, Lewis, Drew…</a:t>
            </a:r>
            <a:endParaRPr lang="en-US" sz="1300" dirty="0"/>
          </a:p>
        </p:txBody>
      </p:sp>
      <p:sp>
        <p:nvSpPr>
          <p:cNvPr id="21" name="network node 6"/>
          <p:cNvSpPr/>
          <p:nvPr/>
        </p:nvSpPr>
        <p:spPr>
          <a:xfrm>
            <a:off x="502920" y="3337560"/>
            <a:ext cx="1920240" cy="822960"/>
          </a:xfrm>
          <a:prstGeom prst="roundRect">
            <a:avLst>
              <a:gd name="adj" fmla="val 11111"/>
            </a:avLst>
          </a:prstGeom>
          <a:solidFill>
            <a:schemeClr val="accent2"/>
          </a:solidFill>
          <a:ln w="25400">
            <a:solidFill>
              <a:srgbClr val="FFFFFF"/>
            </a:solidFill>
            <a:prstDash val="solid"/>
          </a:ln>
        </p:spPr>
      </p:sp>
      <p:sp>
        <p:nvSpPr>
          <p:cNvPr id="22" name="Text 20"/>
          <p:cNvSpPr txBox="1"/>
          <p:nvPr/>
        </p:nvSpPr>
        <p:spPr>
          <a:xfrm>
            <a:off x="548640" y="3364992"/>
            <a:ext cx="1828800" cy="768096"/>
          </a:xfrm>
          <a:prstGeom prst="rect">
            <a:avLst/>
          </a:prstGeom>
          <a:noFill/>
          <a:ln/>
        </p:spPr>
        <p:txBody>
          <a:bodyPr wrap="square" lIns="0" tIns="0" rIns="0" bIns="0" rtlCol="0" anchor="ctr"/>
          <a:lstStyle/>
          <a:p>
            <a:pPr algn="ctr" indent="0" marL="0">
              <a:buNone/>
            </a:pPr>
            <a:r>
              <a:rPr lang="en-US" sz="1300" b="1" dirty="0">
                <a:solidFill>
                  <a:schemeClr val="bg1"/>
                </a:solidFill>
              </a:rPr>
              <a:t>Renée Fry-McKibbin</a:t>
            </a:r>
            <a:endParaRPr lang="en-US" sz="1300" dirty="0"/>
          </a:p>
          <a:p>
            <a:pPr algn="ctr" indent="0" marL="0">
              <a:buNone/>
            </a:pPr>
            <a:r>
              <a:rPr lang="en-US" sz="1000" dirty="0">
                <a:solidFill>
                  <a:schemeClr val="bg1"/>
                </a:solidFill>
              </a:rPr>
              <a:t>ANU · inflation targeting</a:t>
            </a:r>
            <a:endParaRPr lang="en-US" sz="1300" dirty="0"/>
          </a:p>
        </p:txBody>
      </p:sp>
      <p:sp>
        <p:nvSpPr>
          <p:cNvPr id="23" name="Text 21"/>
          <p:cNvSpPr txBox="1"/>
          <p:nvPr/>
        </p:nvSpPr>
        <p:spPr>
          <a:xfrm>
            <a:off x="7223760" y="1463040"/>
            <a:ext cx="4389120" cy="45720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What a good co-author gives you</a:t>
            </a:r>
            <a:endParaRPr lang="en-US" sz="2000" dirty="0"/>
          </a:p>
        </p:txBody>
      </p:sp>
      <p:sp>
        <p:nvSpPr>
          <p:cNvPr id="24" name="Text 22"/>
          <p:cNvSpPr txBox="1"/>
          <p:nvPr/>
        </p:nvSpPr>
        <p:spPr>
          <a:xfrm>
            <a:off x="7223760" y="2011680"/>
            <a:ext cx="4389120" cy="4023360"/>
          </a:xfrm>
          <a:prstGeom prst="rect">
            <a:avLst/>
          </a:prstGeom>
          <a:noFill/>
          <a:ln/>
        </p:spPr>
        <p:txBody>
          <a:bodyPr wrap="square" lIns="0" tIns="0" rIns="0" bIns="0" rtlCol="0" anchor="t"/>
          <a:lstStyle/>
          <a:p>
            <a:pPr indent="0" marL="0">
              <a:spcAft>
                <a:spcPts val="1200"/>
              </a:spcAft>
              <a:buNone/>
            </a:pPr>
            <a:r>
              <a:rPr lang="en-US" sz="1600" b="1" dirty="0">
                <a:solidFill>
                  <a:schemeClr val="tx1"/>
                </a:solidFill>
              </a:rPr>
              <a:t>Continuity: </a:t>
            </a:r>
            <a:pPr indent="0" marL="0">
              <a:spcAft>
                <a:spcPts val="1200"/>
              </a:spcAft>
              <a:buNone/>
            </a:pPr>
            <a:r>
              <a:rPr lang="en-US" sz="1600" dirty="0">
                <a:solidFill>
                  <a:schemeClr val="tx1"/>
                </a:solidFill>
              </a:rPr>
              <a:t>the project survives your busy quarters</a:t>
            </a:r>
            <a:endParaRPr lang="en-US" sz="1600" dirty="0"/>
          </a:p>
          <a:p>
            <a:pPr indent="0" marL="0">
              <a:spcAft>
                <a:spcPts val="1200"/>
              </a:spcAft>
              <a:buNone/>
            </a:pPr>
            <a:r>
              <a:rPr lang="en-US" sz="1600" b="1" dirty="0">
                <a:solidFill>
                  <a:schemeClr val="tx1"/>
                </a:solidFill>
              </a:rPr>
              <a:t>Currency: </a:t>
            </a:r>
            <a:pPr indent="0" marL="0">
              <a:spcAft>
                <a:spcPts val="1200"/>
              </a:spcAft>
              <a:buNone/>
            </a:pPr>
            <a:r>
              <a:rPr lang="en-US" sz="1600" dirty="0">
                <a:solidFill>
                  <a:schemeClr val="tx1"/>
                </a:solidFill>
              </a:rPr>
              <a:t>a partner closer to the academic frontier</a:t>
            </a:r>
            <a:endParaRPr lang="en-US" sz="1600" dirty="0"/>
          </a:p>
          <a:p>
            <a:pPr indent="0" marL="0">
              <a:spcAft>
                <a:spcPts val="1200"/>
              </a:spcAft>
              <a:buNone/>
            </a:pPr>
            <a:r>
              <a:rPr lang="en-US" sz="1600" b="1" dirty="0">
                <a:solidFill>
                  <a:schemeClr val="tx1"/>
                </a:solidFill>
              </a:rPr>
              <a:t>Discipline: </a:t>
            </a:r>
            <a:pPr indent="0" marL="0">
              <a:spcAft>
                <a:spcPts val="1200"/>
              </a:spcAft>
              <a:buNone/>
            </a:pPr>
            <a:r>
              <a:rPr lang="en-US" sz="1600" dirty="0">
                <a:solidFill>
                  <a:schemeClr val="tx1"/>
                </a:solidFill>
              </a:rPr>
              <a:t>deadlines and referees outside your day job</a:t>
            </a:r>
            <a:endParaRPr lang="en-US" sz="1600" dirty="0"/>
          </a:p>
          <a:p>
            <a:pPr indent="0" marL="0">
              <a:spcAft>
                <a:spcPts val="1200"/>
              </a:spcAft>
              <a:buNone/>
            </a:pPr>
            <a:r>
              <a:rPr lang="en-US" sz="1600" b="1" dirty="0">
                <a:solidFill>
                  <a:schemeClr val="tx1"/>
                </a:solidFill>
              </a:rPr>
              <a:t>Complementarity: </a:t>
            </a:r>
            <a:pPr indent="0" marL="0">
              <a:spcAft>
                <a:spcPts val="1200"/>
              </a:spcAft>
              <a:buNone/>
            </a:pPr>
            <a:r>
              <a:rPr lang="en-US" sz="1600" dirty="0">
                <a:solidFill>
                  <a:schemeClr val="tx1"/>
                </a:solidFill>
              </a:rPr>
              <a:t>policy questions meet new methods</a:t>
            </a:r>
            <a:endParaRPr lang="en-US" sz="1600" dirty="0"/>
          </a:p>
          <a:p>
            <a:pPr indent="0" marL="0">
              <a:spcAft>
                <a:spcPts val="1200"/>
              </a:spcAft>
              <a:buNone/>
            </a:pPr>
            <a:r>
              <a:rPr lang="en-US" sz="1600" b="1" dirty="0">
                <a:solidFill>
                  <a:schemeClr val="tx1"/>
                </a:solidFill>
              </a:rPr>
              <a:t>Long horizons: </a:t>
            </a:r>
            <a:pPr indent="0" marL="0">
              <a:spcAft>
                <a:spcPts val="1200"/>
              </a:spcAft>
              <a:buNone/>
            </a:pPr>
            <a:r>
              <a:rPr lang="en-US" sz="1600" dirty="0">
                <a:solidFill>
                  <a:schemeClr val="tx1"/>
                </a:solidFill>
              </a:rPr>
              <a:t>relationships lasting 10–15 years</a:t>
            </a:r>
            <a:endParaRPr lang="en-US" sz="16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Motu photo" descr="Motu's office on Cuba Street, Wellington, with the Bucket Fountain in the foreground">    </p:cNvPr>
          <p:cNvPicPr>
            <a:picLocks noChangeAspect="1"/>
          </p:cNvPicPr>
          <p:nvPr/>
        </p:nvPicPr>
        <p:blipFill>
          <a:blip r:embed="rId1"/>
          <a:stretch>
            <a:fillRect/>
          </a:stretch>
        </p:blipFill>
        <p:spPr>
          <a:xfrm>
            <a:off x="7223760" y="0"/>
            <a:ext cx="4967935" cy="6858000"/>
          </a:xfrm>
          <a:prstGeom prst="rect">
            <a:avLst/>
          </a:prstGeom>
        </p:spPr>
      </p:pic>
      <p:sp>
        <p:nvSpPr>
          <p:cNvPr id="3" name="Text 0"/>
          <p:cNvSpPr/>
          <p:nvPr>
            <p:ph idx="100" type="body" hasCustomPrompt="1"/>
          </p:nvPr>
        </p:nvSpPr>
        <p:spPr>
          <a:xfrm>
            <a:off x="731520" y="1463040"/>
            <a:ext cx="6035040" cy="548640"/>
          </a:xfrm>
          <a:prstGeom prst="rect">
            <a:avLst/>
          </a:prstGeom>
          <a:noFill/>
          <a:ln/>
        </p:spPr>
        <p:txBody>
          <a:bodyPr wrap="square" rtlCol="0" anchor="b"/>
          <a:lstStyle/>
          <a:p>
            <a:pPr indent="0" marL="0">
              <a:buNone/>
            </a:pPr>
            <a:r>
              <a:rPr lang="en-US" sz="1800" b="1" dirty="0">
                <a:solidFill>
                  <a:schemeClr val="accent3"/>
                </a:solidFill>
              </a:rPr>
              <a:t>ACT 3</a:t>
            </a:r>
            <a:endParaRPr lang="en-US" sz="1800" dirty="0"/>
          </a:p>
        </p:txBody>
      </p:sp>
      <p:sp>
        <p:nvSpPr>
          <p:cNvPr id="4" name="Text 0"/>
          <p:cNvSpPr/>
          <p:nvPr>
            <p:ph idx="101" type="title" hasCustomPrompt="1"/>
          </p:nvPr>
        </p:nvSpPr>
        <p:spPr>
          <a:xfrm>
            <a:off x="731520" y="2057400"/>
            <a:ext cx="6035040" cy="1828800"/>
          </a:xfrm>
          <a:prstGeom prst="rect">
            <a:avLst/>
          </a:prstGeom>
          <a:noFill/>
          <a:ln/>
        </p:spPr>
        <p:txBody>
          <a:bodyPr wrap="square"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Leading research organisations</a:t>
            </a:r>
            <a:endParaRPr lang="en-US" sz="4000" dirty="0"/>
          </a:p>
        </p:txBody>
      </p:sp>
      <p:sp>
        <p:nvSpPr>
          <p:cNvPr id="5" name="Text 0"/>
          <p:cNvSpPr/>
          <p:nvPr>
            <p:ph idx="102" type="body" hasCustomPrompt="1"/>
          </p:nvPr>
        </p:nvSpPr>
        <p:spPr>
          <a:xfrm>
            <a:off x="731520" y="4023360"/>
            <a:ext cx="5852160" cy="1280160"/>
          </a:xfrm>
          <a:prstGeom prst="rect">
            <a:avLst/>
          </a:prstGeom>
          <a:noFill/>
          <a:ln/>
        </p:spPr>
        <p:txBody>
          <a:bodyPr wrap="square" rtlCol="0" anchor="t"/>
          <a:lstStyle/>
          <a:p>
            <a:pPr indent="0" marL="0">
              <a:buNone/>
            </a:pPr>
            <a:r>
              <a:rPr lang="en-US" sz="2000" dirty="0">
                <a:solidFill>
                  <a:schemeClr val="accent5"/>
                </a:solidFill>
              </a:rPr>
              <a:t>Motu and IRANZ: from doing the research to building the conditions for it</a:t>
            </a:r>
            <a:endParaRPr lang="en-US" sz="2000" dirty="0"/>
          </a:p>
        </p:txBody>
      </p:sp>
      <p:sp>
        <p:nvSpPr>
          <p:cNvPr id="6" name="Text 3"/>
          <p:cNvSpPr txBox="1"/>
          <p:nvPr/>
        </p:nvSpPr>
        <p:spPr>
          <a:xfrm>
            <a:off x="731520" y="6355080"/>
            <a:ext cx="6035040" cy="274320"/>
          </a:xfrm>
          <a:prstGeom prst="rect">
            <a:avLst/>
          </a:prstGeom>
          <a:noFill/>
          <a:ln/>
        </p:spPr>
        <p:txBody>
          <a:bodyPr wrap="square" lIns="0" tIns="0" rIns="0" bIns="0" rtlCol="0" anchor="ctr"/>
          <a:lstStyle/>
          <a:p>
            <a:pPr indent="0" marL="0">
              <a:buNone/>
            </a:pPr>
            <a:r>
              <a:rPr lang="en-US" sz="1000" dirty="0">
                <a:solidFill>
                  <a:schemeClr val="accent5"/>
                </a:solidFill>
              </a:rPr>
              <a:t>Photo: Hannah Griffin, Motu</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Motu: independent research for public good</a:t>
            </a:r>
            <a:endParaRPr lang="en-US" sz="3400" dirty="0"/>
          </a:p>
        </p:txBody>
      </p:sp>
      <p:sp>
        <p:nvSpPr>
          <p:cNvPr id="3" name="Motu facts card"/>
          <p:cNvSpPr/>
          <p:nvPr/>
        </p:nvSpPr>
        <p:spPr>
          <a:xfrm>
            <a:off x="548640" y="1463040"/>
            <a:ext cx="4754880" cy="4572000"/>
          </a:xfrm>
          <a:prstGeom prst="roundRect">
            <a:avLst>
              <a:gd name="adj" fmla="val 2400"/>
            </a:avLst>
          </a:prstGeom>
          <a:solidFill>
            <a:schemeClr val="tx2"/>
          </a:solidFill>
          <a:ln w="12700">
            <a:solidFill>
              <a:schemeClr val="tx2"/>
            </a:solidFill>
            <a:prstDash val="solid"/>
          </a:ln>
        </p:spPr>
      </p:sp>
      <p:sp>
        <p:nvSpPr>
          <p:cNvPr id="4" name="Text 2"/>
          <p:cNvSpPr txBox="1"/>
          <p:nvPr/>
        </p:nvSpPr>
        <p:spPr>
          <a:xfrm>
            <a:off x="868680" y="1737360"/>
            <a:ext cx="4206240" cy="640080"/>
          </a:xfrm>
          <a:prstGeom prst="rect">
            <a:avLst/>
          </a:prstGeom>
          <a:noFill/>
          <a:ln/>
        </p:spPr>
        <p:txBody>
          <a:bodyPr wrap="square" lIns="0" tIns="0" rIns="0" bIns="0" rtlCol="0" anchor="ctr"/>
          <a:lstStyle/>
          <a:p>
            <a:pPr indent="0" marL="0">
              <a:buNone/>
            </a:pPr>
            <a:r>
              <a:rPr lang="en-US" sz="3400" b="1" dirty="0">
                <a:solidFill>
                  <a:schemeClr val="accent3"/>
                </a:solidFill>
                <a:latin typeface="Cambria" pitchFamily="34" charset="0"/>
                <a:ea typeface="Cambria" pitchFamily="34" charset="-122"/>
                <a:cs typeface="Cambria" pitchFamily="34" charset="-120"/>
              </a:rPr>
              <a:t>20</a:t>
            </a:r>
            <a:endParaRPr lang="en-US" sz="3400" dirty="0"/>
          </a:p>
        </p:txBody>
      </p:sp>
      <p:sp>
        <p:nvSpPr>
          <p:cNvPr id="5" name="Text 3"/>
          <p:cNvSpPr txBox="1"/>
          <p:nvPr/>
        </p:nvSpPr>
        <p:spPr>
          <a:xfrm>
            <a:off x="868680" y="2377440"/>
            <a:ext cx="4206240" cy="548640"/>
          </a:xfrm>
          <a:prstGeom prst="rect">
            <a:avLst/>
          </a:prstGeom>
          <a:noFill/>
          <a:ln/>
        </p:spPr>
        <p:txBody>
          <a:bodyPr wrap="square" lIns="0" tIns="0" rIns="0" bIns="0" rtlCol="0" anchor="t"/>
          <a:lstStyle/>
          <a:p>
            <a:pPr indent="0" marL="0">
              <a:buNone/>
            </a:pPr>
            <a:r>
              <a:rPr lang="en-US" sz="1400" dirty="0">
                <a:solidFill>
                  <a:schemeClr val="bg1"/>
                </a:solidFill>
              </a:rPr>
              <a:t>staff, with Senior Fellows setting their own research agendas</a:t>
            </a:r>
            <a:endParaRPr lang="en-US" sz="1400" dirty="0"/>
          </a:p>
        </p:txBody>
      </p:sp>
      <p:sp>
        <p:nvSpPr>
          <p:cNvPr id="6" name="Text 4"/>
          <p:cNvSpPr txBox="1"/>
          <p:nvPr/>
        </p:nvSpPr>
        <p:spPr>
          <a:xfrm>
            <a:off x="868680" y="3108960"/>
            <a:ext cx="4206240" cy="640080"/>
          </a:xfrm>
          <a:prstGeom prst="rect">
            <a:avLst/>
          </a:prstGeom>
          <a:noFill/>
          <a:ln/>
        </p:spPr>
        <p:txBody>
          <a:bodyPr wrap="square" lIns="0" tIns="0" rIns="0" bIns="0" rtlCol="0" anchor="ctr"/>
          <a:lstStyle/>
          <a:p>
            <a:pPr indent="0" marL="0">
              <a:buNone/>
            </a:pPr>
            <a:r>
              <a:rPr lang="en-US" sz="3400" b="1" dirty="0">
                <a:solidFill>
                  <a:schemeClr val="accent3"/>
                </a:solidFill>
                <a:latin typeface="Cambria" pitchFamily="34" charset="0"/>
                <a:ea typeface="Cambria" pitchFamily="34" charset="-122"/>
                <a:cs typeface="Cambria" pitchFamily="34" charset="-120"/>
              </a:rPr>
              <a:t>2000</a:t>
            </a:r>
            <a:endParaRPr lang="en-US" sz="3400" dirty="0"/>
          </a:p>
        </p:txBody>
      </p:sp>
      <p:sp>
        <p:nvSpPr>
          <p:cNvPr id="7" name="Text 5"/>
          <p:cNvSpPr txBox="1"/>
          <p:nvPr/>
        </p:nvSpPr>
        <p:spPr>
          <a:xfrm>
            <a:off x="868680" y="3749040"/>
            <a:ext cx="4206240" cy="548640"/>
          </a:xfrm>
          <a:prstGeom prst="rect">
            <a:avLst/>
          </a:prstGeom>
          <a:noFill/>
          <a:ln/>
        </p:spPr>
        <p:txBody>
          <a:bodyPr wrap="square" lIns="0" tIns="0" rIns="0" bIns="0" rtlCol="0" anchor="t"/>
          <a:lstStyle/>
          <a:p>
            <a:pPr indent="0" marL="0">
              <a:buNone/>
            </a:pPr>
            <a:r>
              <a:rPr lang="en-US" sz="1400" dirty="0">
                <a:solidFill>
                  <a:schemeClr val="bg1"/>
                </a:solidFill>
              </a:rPr>
              <a:t>founded as an independent, charitable research trust</a:t>
            </a:r>
            <a:endParaRPr lang="en-US" sz="1400" dirty="0"/>
          </a:p>
        </p:txBody>
      </p:sp>
      <p:sp>
        <p:nvSpPr>
          <p:cNvPr id="8" name="Text 6"/>
          <p:cNvSpPr txBox="1"/>
          <p:nvPr/>
        </p:nvSpPr>
        <p:spPr>
          <a:xfrm>
            <a:off x="868680" y="4480560"/>
            <a:ext cx="4206240" cy="640080"/>
          </a:xfrm>
          <a:prstGeom prst="rect">
            <a:avLst/>
          </a:prstGeom>
          <a:noFill/>
          <a:ln/>
        </p:spPr>
        <p:txBody>
          <a:bodyPr wrap="square" lIns="0" tIns="0" rIns="0" bIns="0" rtlCol="0" anchor="ctr"/>
          <a:lstStyle/>
          <a:p>
            <a:pPr indent="0" marL="0">
              <a:buNone/>
            </a:pPr>
            <a:r>
              <a:rPr lang="en-US" sz="3400" b="1" dirty="0">
                <a:solidFill>
                  <a:schemeClr val="accent3"/>
                </a:solidFill>
                <a:latin typeface="Cambria" pitchFamily="34" charset="0"/>
                <a:ea typeface="Cambria" pitchFamily="34" charset="-122"/>
                <a:cs typeface="Cambria" pitchFamily="34" charset="-120"/>
              </a:rPr>
              <a:t>2019</a:t>
            </a:r>
            <a:endParaRPr lang="en-US" sz="3400" dirty="0"/>
          </a:p>
        </p:txBody>
      </p:sp>
      <p:sp>
        <p:nvSpPr>
          <p:cNvPr id="9" name="Text 7"/>
          <p:cNvSpPr txBox="1"/>
          <p:nvPr/>
        </p:nvSpPr>
        <p:spPr>
          <a:xfrm>
            <a:off x="868680" y="5120640"/>
            <a:ext cx="4206240" cy="548640"/>
          </a:xfrm>
          <a:prstGeom prst="rect">
            <a:avLst/>
          </a:prstGeom>
          <a:noFill/>
          <a:ln/>
        </p:spPr>
        <p:txBody>
          <a:bodyPr wrap="square" lIns="0" tIns="0" rIns="0" bIns="0" rtlCol="0" anchor="t"/>
          <a:lstStyle/>
          <a:p>
            <a:pPr indent="0" marL="0">
              <a:buNone/>
            </a:pPr>
            <a:r>
              <a:rPr lang="en-US" sz="1400" dirty="0">
                <a:solidFill>
                  <a:schemeClr val="bg1"/>
                </a:solidFill>
              </a:rPr>
              <a:t>became Executive Director</a:t>
            </a:r>
            <a:endParaRPr lang="en-US" sz="1400" dirty="0"/>
          </a:p>
        </p:txBody>
      </p:sp>
      <p:sp>
        <p:nvSpPr>
          <p:cNvPr id="10" name="Text 8"/>
          <p:cNvSpPr txBox="1"/>
          <p:nvPr/>
        </p:nvSpPr>
        <p:spPr>
          <a:xfrm>
            <a:off x="5669280" y="1463040"/>
            <a:ext cx="5943600" cy="457200"/>
          </a:xfrm>
          <a:prstGeom prst="rect">
            <a:avLst/>
          </a:prstGeom>
          <a:noFill/>
          <a:ln/>
        </p:spPr>
        <p:txBody>
          <a:bodyPr wrap="square" lIns="0" tIns="0" rIns="0" bIns="0" rtlCol="0" anchor="ctr"/>
          <a:lstStyle/>
          <a:p>
            <a:pPr indent="0" marL="0">
              <a:buNone/>
            </a:pPr>
            <a:r>
              <a:rPr lang="en-US" sz="1800" b="1" dirty="0">
                <a:solidFill>
                  <a:schemeClr val="tx2"/>
                </a:solidFill>
              </a:rPr>
              <a:t>Research initiatives led as Executive Director</a:t>
            </a:r>
            <a:endParaRPr lang="en-US" sz="1800" dirty="0"/>
          </a:p>
        </p:txBody>
      </p:sp>
      <p:sp>
        <p:nvSpPr>
          <p:cNvPr id="11" name="Motu area 1 circle"/>
          <p:cNvSpPr/>
          <p:nvPr/>
        </p:nvSpPr>
        <p:spPr>
          <a:xfrm>
            <a:off x="5669280" y="2057400"/>
            <a:ext cx="731520" cy="731520"/>
          </a:xfrm>
          <a:prstGeom prst="ellipse">
            <a:avLst/>
          </a:prstGeom>
          <a:solidFill>
            <a:schemeClr val="accent6"/>
          </a:solidFill>
          <a:ln w="12700">
            <a:solidFill>
              <a:schemeClr val="accent6"/>
            </a:solidFill>
            <a:prstDash val="solid"/>
          </a:ln>
        </p:spPr>
      </p:sp>
      <p:pic>
        <p:nvPicPr>
          <p:cNvPr id="12" name="Motu area 1 icon" descr="preencoded.png">    </p:cNvPr>
          <p:cNvPicPr>
            <a:picLocks noChangeAspect="1"/>
          </p:cNvPicPr>
          <p:nvPr/>
        </p:nvPicPr>
        <p:blipFill>
          <a:blip r:embed="rId1"/>
          <a:stretch>
            <a:fillRect/>
          </a:stretch>
        </p:blipFill>
        <p:spPr>
          <a:xfrm>
            <a:off x="5852160" y="2240280"/>
            <a:ext cx="365760" cy="365760"/>
          </a:xfrm>
          <a:prstGeom prst="rect">
            <a:avLst/>
          </a:prstGeom>
        </p:spPr>
      </p:pic>
      <p:sp>
        <p:nvSpPr>
          <p:cNvPr id="13" name="Text 10"/>
          <p:cNvSpPr txBox="1"/>
          <p:nvPr/>
        </p:nvSpPr>
        <p:spPr>
          <a:xfrm>
            <a:off x="6583680" y="2148840"/>
            <a:ext cx="2011680" cy="548640"/>
          </a:xfrm>
          <a:prstGeom prst="rect">
            <a:avLst/>
          </a:prstGeom>
          <a:noFill/>
          <a:ln/>
        </p:spPr>
        <p:txBody>
          <a:bodyPr wrap="square" lIns="0" tIns="0" rIns="0" bIns="0" rtlCol="0" anchor="ctr"/>
          <a:lstStyle/>
          <a:p>
            <a:pPr indent="0" marL="0">
              <a:buNone/>
            </a:pPr>
            <a:r>
              <a:rPr lang="en-US" sz="1800" b="1" dirty="0">
                <a:solidFill>
                  <a:schemeClr val="tx2"/>
                </a:solidFill>
              </a:rPr>
              <a:t>Climate change</a:t>
            </a:r>
            <a:endParaRPr lang="en-US" sz="1800" dirty="0"/>
          </a:p>
        </p:txBody>
      </p:sp>
      <p:sp>
        <p:nvSpPr>
          <p:cNvPr id="14" name="Motu area 2 circle"/>
          <p:cNvSpPr/>
          <p:nvPr/>
        </p:nvSpPr>
        <p:spPr>
          <a:xfrm>
            <a:off x="8686800" y="2057400"/>
            <a:ext cx="731520" cy="731520"/>
          </a:xfrm>
          <a:prstGeom prst="ellipse">
            <a:avLst/>
          </a:prstGeom>
          <a:solidFill>
            <a:schemeClr val="accent2"/>
          </a:solidFill>
          <a:ln w="12700">
            <a:solidFill>
              <a:schemeClr val="accent2"/>
            </a:solidFill>
            <a:prstDash val="solid"/>
          </a:ln>
        </p:spPr>
      </p:sp>
      <p:pic>
        <p:nvPicPr>
          <p:cNvPr id="15" name="Motu area 2 icon" descr="preencoded.png">    </p:cNvPr>
          <p:cNvPicPr>
            <a:picLocks noChangeAspect="1"/>
          </p:cNvPicPr>
          <p:nvPr/>
        </p:nvPicPr>
        <p:blipFill>
          <a:blip r:embed="rId2"/>
          <a:stretch>
            <a:fillRect/>
          </a:stretch>
        </p:blipFill>
        <p:spPr>
          <a:xfrm>
            <a:off x="8869680" y="2240280"/>
            <a:ext cx="365760" cy="365760"/>
          </a:xfrm>
          <a:prstGeom prst="rect">
            <a:avLst/>
          </a:prstGeom>
        </p:spPr>
      </p:pic>
      <p:sp>
        <p:nvSpPr>
          <p:cNvPr id="16" name="Text 12"/>
          <p:cNvSpPr txBox="1"/>
          <p:nvPr/>
        </p:nvSpPr>
        <p:spPr>
          <a:xfrm>
            <a:off x="9601200" y="2148840"/>
            <a:ext cx="2011680" cy="548640"/>
          </a:xfrm>
          <a:prstGeom prst="rect">
            <a:avLst/>
          </a:prstGeom>
          <a:noFill/>
          <a:ln/>
        </p:spPr>
        <p:txBody>
          <a:bodyPr wrap="square" lIns="0" tIns="0" rIns="0" bIns="0" rtlCol="0" anchor="ctr"/>
          <a:lstStyle/>
          <a:p>
            <a:pPr indent="0" marL="0">
              <a:buNone/>
            </a:pPr>
            <a:r>
              <a:rPr lang="en-US" sz="1800" b="1" dirty="0">
                <a:solidFill>
                  <a:schemeClr val="tx2"/>
                </a:solidFill>
              </a:rPr>
              <a:t>Land-use change</a:t>
            </a:r>
            <a:endParaRPr lang="en-US" sz="1800" dirty="0"/>
          </a:p>
        </p:txBody>
      </p:sp>
      <p:sp>
        <p:nvSpPr>
          <p:cNvPr id="17" name="Motu area 3 circle"/>
          <p:cNvSpPr/>
          <p:nvPr/>
        </p:nvSpPr>
        <p:spPr>
          <a:xfrm>
            <a:off x="5669280" y="3200400"/>
            <a:ext cx="731520" cy="731520"/>
          </a:xfrm>
          <a:prstGeom prst="ellipse">
            <a:avLst/>
          </a:prstGeom>
          <a:solidFill>
            <a:schemeClr val="accent2"/>
          </a:solidFill>
          <a:ln w="12700">
            <a:solidFill>
              <a:schemeClr val="accent2"/>
            </a:solidFill>
            <a:prstDash val="solid"/>
          </a:ln>
        </p:spPr>
      </p:sp>
      <p:pic>
        <p:nvPicPr>
          <p:cNvPr id="18" name="Motu area 3 icon" descr="preencoded.png">    </p:cNvPr>
          <p:cNvPicPr>
            <a:picLocks noChangeAspect="1"/>
          </p:cNvPicPr>
          <p:nvPr/>
        </p:nvPicPr>
        <p:blipFill>
          <a:blip r:embed="rId3"/>
          <a:stretch>
            <a:fillRect/>
          </a:stretch>
        </p:blipFill>
        <p:spPr>
          <a:xfrm>
            <a:off x="5852160" y="3383280"/>
            <a:ext cx="365760" cy="365760"/>
          </a:xfrm>
          <a:prstGeom prst="rect">
            <a:avLst/>
          </a:prstGeom>
        </p:spPr>
      </p:pic>
      <p:sp>
        <p:nvSpPr>
          <p:cNvPr id="19" name="Text 14"/>
          <p:cNvSpPr txBox="1"/>
          <p:nvPr/>
        </p:nvSpPr>
        <p:spPr>
          <a:xfrm>
            <a:off x="6583680" y="3291840"/>
            <a:ext cx="2011680" cy="548640"/>
          </a:xfrm>
          <a:prstGeom prst="rect">
            <a:avLst/>
          </a:prstGeom>
          <a:noFill/>
          <a:ln/>
        </p:spPr>
        <p:txBody>
          <a:bodyPr wrap="square" lIns="0" tIns="0" rIns="0" bIns="0" rtlCol="0" anchor="ctr"/>
          <a:lstStyle/>
          <a:p>
            <a:pPr indent="0" marL="0">
              <a:buNone/>
            </a:pPr>
            <a:r>
              <a:rPr lang="en-US" sz="1800" b="1" dirty="0">
                <a:solidFill>
                  <a:schemeClr val="tx2"/>
                </a:solidFill>
              </a:rPr>
              <a:t>Carbon farming</a:t>
            </a:r>
            <a:endParaRPr lang="en-US" sz="1800" dirty="0"/>
          </a:p>
        </p:txBody>
      </p:sp>
      <p:sp>
        <p:nvSpPr>
          <p:cNvPr id="20" name="Motu area 4 circle"/>
          <p:cNvSpPr/>
          <p:nvPr/>
        </p:nvSpPr>
        <p:spPr>
          <a:xfrm>
            <a:off x="8686800" y="3200400"/>
            <a:ext cx="731520" cy="731520"/>
          </a:xfrm>
          <a:prstGeom prst="ellipse">
            <a:avLst/>
          </a:prstGeom>
          <a:solidFill>
            <a:schemeClr val="accent1"/>
          </a:solidFill>
          <a:ln w="12700">
            <a:solidFill>
              <a:schemeClr val="accent1"/>
            </a:solidFill>
            <a:prstDash val="solid"/>
          </a:ln>
        </p:spPr>
      </p:sp>
      <p:pic>
        <p:nvPicPr>
          <p:cNvPr id="21" name="Motu area 4 icon" descr="preencoded.png">    </p:cNvPr>
          <p:cNvPicPr>
            <a:picLocks noChangeAspect="1"/>
          </p:cNvPicPr>
          <p:nvPr/>
        </p:nvPicPr>
        <p:blipFill>
          <a:blip r:embed="rId4"/>
          <a:stretch>
            <a:fillRect/>
          </a:stretch>
        </p:blipFill>
        <p:spPr>
          <a:xfrm>
            <a:off x="8869680" y="3383280"/>
            <a:ext cx="365760" cy="365760"/>
          </a:xfrm>
          <a:prstGeom prst="rect">
            <a:avLst/>
          </a:prstGeom>
        </p:spPr>
      </p:pic>
      <p:sp>
        <p:nvSpPr>
          <p:cNvPr id="22" name="Text 16"/>
          <p:cNvSpPr txBox="1"/>
          <p:nvPr/>
        </p:nvSpPr>
        <p:spPr>
          <a:xfrm>
            <a:off x="9601200" y="3291840"/>
            <a:ext cx="2011680" cy="548640"/>
          </a:xfrm>
          <a:prstGeom prst="rect">
            <a:avLst/>
          </a:prstGeom>
          <a:noFill/>
          <a:ln/>
        </p:spPr>
        <p:txBody>
          <a:bodyPr wrap="square" lIns="0" tIns="0" rIns="0" bIns="0" rtlCol="0" anchor="ctr"/>
          <a:lstStyle/>
          <a:p>
            <a:pPr indent="0" marL="0">
              <a:buNone/>
            </a:pPr>
            <a:r>
              <a:rPr lang="en-US" sz="1800" b="1" dirty="0">
                <a:solidFill>
                  <a:schemeClr val="tx2"/>
                </a:solidFill>
              </a:rPr>
              <a:t>Human rights</a:t>
            </a:r>
            <a:endParaRPr lang="en-US" sz="1800" dirty="0"/>
          </a:p>
        </p:txBody>
      </p:sp>
      <p:sp>
        <p:nvSpPr>
          <p:cNvPr id="23" name="Text 17"/>
          <p:cNvSpPr txBox="1"/>
          <p:nvPr/>
        </p:nvSpPr>
        <p:spPr>
          <a:xfrm>
            <a:off x="5669280" y="4434840"/>
            <a:ext cx="5943600" cy="411480"/>
          </a:xfrm>
          <a:prstGeom prst="rect">
            <a:avLst/>
          </a:prstGeom>
          <a:noFill/>
          <a:ln/>
        </p:spPr>
        <p:txBody>
          <a:bodyPr wrap="square" lIns="0" tIns="0" rIns="0" bIns="0" rtlCol="0" anchor="ctr"/>
          <a:lstStyle/>
          <a:p>
            <a:pPr indent="0" marL="0">
              <a:buNone/>
            </a:pPr>
            <a:r>
              <a:rPr lang="en-US" sz="1800" b="1" dirty="0">
                <a:solidFill>
                  <a:schemeClr val="accent1"/>
                </a:solidFill>
              </a:rPr>
              <a:t>What changes when you lead</a:t>
            </a:r>
            <a:endParaRPr lang="en-US" sz="1800" dirty="0"/>
          </a:p>
        </p:txBody>
      </p:sp>
      <p:sp>
        <p:nvSpPr>
          <p:cNvPr id="24" name="Text 18"/>
          <p:cNvSpPr txBox="1"/>
          <p:nvPr/>
        </p:nvSpPr>
        <p:spPr>
          <a:xfrm>
            <a:off x="5669280" y="4846320"/>
            <a:ext cx="5943600" cy="1097280"/>
          </a:xfrm>
          <a:prstGeom prst="rect">
            <a:avLst/>
          </a:prstGeom>
          <a:noFill/>
          <a:ln/>
        </p:spPr>
        <p:txBody>
          <a:bodyPr wrap="square" lIns="0" tIns="0" rIns="0" bIns="0" rtlCol="0" anchor="t"/>
          <a:lstStyle/>
          <a:p>
            <a:pPr indent="0" marL="0">
              <a:buNone/>
            </a:pPr>
            <a:r>
              <a:rPr lang="en-US" sz="1600" dirty="0">
                <a:solidFill>
                  <a:schemeClr val="tx1"/>
                </a:solidFill>
              </a:rPr>
              <a:t>Senior Fellows set the research agenda. My job is to lead the organisation and get its research into New Zealand’s policy debate, while securing funding and protecting independence.</a:t>
            </a:r>
            <a:endParaRPr lang="en-US" sz="16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IRANZ: a voice for independent research</a:t>
            </a:r>
            <a:endParaRPr lang="en-US" sz="3400" dirty="0"/>
          </a:p>
        </p:txBody>
      </p:sp>
      <p:sp>
        <p:nvSpPr>
          <p:cNvPr id="3" name="IRANZ intro card"/>
          <p:cNvSpPr/>
          <p:nvPr/>
        </p:nvSpPr>
        <p:spPr>
          <a:xfrm>
            <a:off x="548640" y="1463040"/>
            <a:ext cx="11064240" cy="1371600"/>
          </a:xfrm>
          <a:prstGeom prst="roundRect">
            <a:avLst>
              <a:gd name="adj" fmla="val 8000"/>
            </a:avLst>
          </a:prstGeom>
          <a:solidFill>
            <a:schemeClr val="bg2"/>
          </a:solidFill>
          <a:ln w="12700">
            <a:solidFill>
              <a:schemeClr val="bg2"/>
            </a:solidFill>
            <a:prstDash val="solid"/>
          </a:ln>
        </p:spPr>
      </p:sp>
      <p:sp>
        <p:nvSpPr>
          <p:cNvPr id="4" name="IRANZ circle"/>
          <p:cNvSpPr/>
          <p:nvPr/>
        </p:nvSpPr>
        <p:spPr>
          <a:xfrm>
            <a:off x="822960" y="1737360"/>
            <a:ext cx="822960" cy="822960"/>
          </a:xfrm>
          <a:prstGeom prst="ellipse">
            <a:avLst/>
          </a:prstGeom>
          <a:solidFill>
            <a:schemeClr val="accent2"/>
          </a:solidFill>
          <a:ln w="12700">
            <a:solidFill>
              <a:schemeClr val="accent2"/>
            </a:solidFill>
            <a:prstDash val="solid"/>
          </a:ln>
        </p:spPr>
      </p:sp>
      <p:pic>
        <p:nvPicPr>
          <p:cNvPr id="5" name="IRANZ icon" descr="preencoded.png">    </p:cNvPr>
          <p:cNvPicPr>
            <a:picLocks noChangeAspect="1"/>
          </p:cNvPicPr>
          <p:nvPr/>
        </p:nvPicPr>
        <p:blipFill>
          <a:blip r:embed="rId1"/>
          <a:stretch>
            <a:fillRect/>
          </a:stretch>
        </p:blipFill>
        <p:spPr>
          <a:xfrm>
            <a:off x="1028700" y="1943100"/>
            <a:ext cx="411480" cy="411480"/>
          </a:xfrm>
          <a:prstGeom prst="rect">
            <a:avLst/>
          </a:prstGeom>
        </p:spPr>
      </p:pic>
      <p:sp>
        <p:nvSpPr>
          <p:cNvPr id="6" name="Text 3"/>
          <p:cNvSpPr txBox="1"/>
          <p:nvPr/>
        </p:nvSpPr>
        <p:spPr>
          <a:xfrm>
            <a:off x="1920240" y="1554480"/>
            <a:ext cx="7498080" cy="1188720"/>
          </a:xfrm>
          <a:prstGeom prst="rect">
            <a:avLst/>
          </a:prstGeom>
          <a:noFill/>
          <a:ln/>
        </p:spPr>
        <p:txBody>
          <a:bodyPr wrap="square" lIns="0" tIns="0" rIns="0" bIns="0" rtlCol="0" anchor="ctr"/>
          <a:lstStyle/>
          <a:p>
            <a:pPr indent="0" marL="0">
              <a:buNone/>
            </a:pPr>
            <a:r>
              <a:rPr lang="en-US" sz="1800" b="1" dirty="0">
                <a:solidFill>
                  <a:schemeClr val="tx2"/>
                </a:solidFill>
              </a:rPr>
              <a:t>Independent Research Association of New Zealand  ·  Chair since 2021</a:t>
            </a:r>
            <a:endParaRPr lang="en-US" sz="1800" dirty="0"/>
          </a:p>
          <a:p>
            <a:pPr indent="0" marL="0">
              <a:buNone/>
            </a:pPr>
            <a:r>
              <a:rPr lang="en-US" sz="1600" dirty="0">
                <a:solidFill>
                  <a:schemeClr val="tx1"/>
                </a:solidFill>
              </a:rPr>
              <a:t>As Chair, I help communicate the importance of independent research to policymakers while the science and research system is under substantial review.</a:t>
            </a:r>
            <a:endParaRPr lang="en-US" sz="1800" dirty="0"/>
          </a:p>
        </p:txBody>
      </p:sp>
      <p:sp>
        <p:nvSpPr>
          <p:cNvPr id="7" name="Text 4"/>
          <p:cNvSpPr txBox="1"/>
          <p:nvPr/>
        </p:nvSpPr>
        <p:spPr>
          <a:xfrm>
            <a:off x="9601200" y="1508760"/>
            <a:ext cx="1828800" cy="77724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28</a:t>
            </a:r>
            <a:endParaRPr lang="en-US" sz="4400" dirty="0"/>
          </a:p>
        </p:txBody>
      </p:sp>
      <p:sp>
        <p:nvSpPr>
          <p:cNvPr id="8" name="Text 5"/>
          <p:cNvSpPr txBox="1"/>
          <p:nvPr/>
        </p:nvSpPr>
        <p:spPr>
          <a:xfrm>
            <a:off x="9601200" y="2286000"/>
            <a:ext cx="1828800" cy="365760"/>
          </a:xfrm>
          <a:prstGeom prst="rect">
            <a:avLst/>
          </a:prstGeom>
          <a:noFill/>
          <a:ln/>
        </p:spPr>
        <p:txBody>
          <a:bodyPr wrap="square" lIns="0" tIns="0" rIns="0" bIns="0" rtlCol="0" anchor="ctr"/>
          <a:lstStyle/>
          <a:p>
            <a:pPr algn="ctr" indent="0" marL="0">
              <a:buNone/>
            </a:pPr>
            <a:r>
              <a:rPr lang="en-US" sz="1400" dirty="0">
                <a:solidFill>
                  <a:schemeClr val="tx1"/>
                </a:solidFill>
              </a:rPr>
              <a:t>member organisations</a:t>
            </a:r>
            <a:endParaRPr lang="en-US" sz="1400" dirty="0"/>
          </a:p>
        </p:txBody>
      </p:sp>
      <p:sp>
        <p:nvSpPr>
          <p:cNvPr id="9" name="Text 6"/>
          <p:cNvSpPr txBox="1"/>
          <p:nvPr/>
        </p:nvSpPr>
        <p:spPr>
          <a:xfrm>
            <a:off x="548640" y="3108960"/>
            <a:ext cx="11064240" cy="411480"/>
          </a:xfrm>
          <a:prstGeom prst="rect">
            <a:avLst/>
          </a:prstGeom>
          <a:noFill/>
          <a:ln/>
        </p:spPr>
        <p:txBody>
          <a:bodyPr wrap="square" lIns="0" tIns="0" rIns="0" bIns="0" rtlCol="0" anchor="ctr"/>
          <a:lstStyle/>
          <a:p>
            <a:pPr indent="0" marL="0">
              <a:buNone/>
            </a:pPr>
            <a:r>
              <a:rPr lang="en-US" sz="1800" b="1" dirty="0">
                <a:solidFill>
                  <a:schemeClr val="accent1"/>
                </a:solidFill>
              </a:rPr>
              <a:t>Members build capability across</a:t>
            </a:r>
            <a:endParaRPr lang="en-US" sz="1800" dirty="0"/>
          </a:p>
        </p:txBody>
      </p:sp>
      <p:sp>
        <p:nvSpPr>
          <p:cNvPr id="10" name="IRANZ domain 1"/>
          <p:cNvSpPr/>
          <p:nvPr/>
        </p:nvSpPr>
        <p:spPr>
          <a:xfrm>
            <a:off x="548640" y="3657600"/>
            <a:ext cx="2606040" cy="822960"/>
          </a:xfrm>
          <a:prstGeom prst="roundRect">
            <a:avLst>
              <a:gd name="adj" fmla="val 13333"/>
            </a:avLst>
          </a:prstGeom>
          <a:solidFill>
            <a:schemeClr val="bg2"/>
          </a:solidFill>
          <a:ln w="12700">
            <a:solidFill>
              <a:schemeClr val="bg2"/>
            </a:solidFill>
            <a:prstDash val="solid"/>
          </a:ln>
        </p:spPr>
      </p:sp>
      <p:sp>
        <p:nvSpPr>
          <p:cNvPr id="11" name="Text 8"/>
          <p:cNvSpPr txBox="1"/>
          <p:nvPr/>
        </p:nvSpPr>
        <p:spPr>
          <a:xfrm>
            <a:off x="548640" y="3657600"/>
            <a:ext cx="2606040" cy="822960"/>
          </a:xfrm>
          <a:prstGeom prst="rect">
            <a:avLst/>
          </a:prstGeom>
          <a:noFill/>
          <a:ln/>
        </p:spPr>
        <p:txBody>
          <a:bodyPr wrap="square" lIns="0" tIns="0" rIns="0" bIns="0" rtlCol="0" anchor="ctr"/>
          <a:lstStyle/>
          <a:p>
            <a:pPr algn="ctr" indent="0" marL="0">
              <a:buNone/>
            </a:pPr>
            <a:r>
              <a:rPr lang="en-US" sz="1600" b="1" dirty="0">
                <a:solidFill>
                  <a:schemeClr val="tx2"/>
                </a:solidFill>
              </a:rPr>
              <a:t>Primary processing</a:t>
            </a:r>
            <a:endParaRPr lang="en-US" sz="1600" dirty="0"/>
          </a:p>
        </p:txBody>
      </p:sp>
      <p:sp>
        <p:nvSpPr>
          <p:cNvPr id="12" name="IRANZ domain 2"/>
          <p:cNvSpPr/>
          <p:nvPr/>
        </p:nvSpPr>
        <p:spPr>
          <a:xfrm>
            <a:off x="3337560" y="3657600"/>
            <a:ext cx="2606040" cy="822960"/>
          </a:xfrm>
          <a:prstGeom prst="roundRect">
            <a:avLst>
              <a:gd name="adj" fmla="val 13333"/>
            </a:avLst>
          </a:prstGeom>
          <a:solidFill>
            <a:schemeClr val="bg2"/>
          </a:solidFill>
          <a:ln w="12700">
            <a:solidFill>
              <a:schemeClr val="bg2"/>
            </a:solidFill>
            <a:prstDash val="solid"/>
          </a:ln>
        </p:spPr>
      </p:sp>
      <p:sp>
        <p:nvSpPr>
          <p:cNvPr id="13" name="Text 10"/>
          <p:cNvSpPr txBox="1"/>
          <p:nvPr/>
        </p:nvSpPr>
        <p:spPr>
          <a:xfrm>
            <a:off x="3337560" y="3657600"/>
            <a:ext cx="2606040" cy="822960"/>
          </a:xfrm>
          <a:prstGeom prst="rect">
            <a:avLst/>
          </a:prstGeom>
          <a:noFill/>
          <a:ln/>
        </p:spPr>
        <p:txBody>
          <a:bodyPr wrap="square" lIns="0" tIns="0" rIns="0" bIns="0" rtlCol="0" anchor="ctr"/>
          <a:lstStyle/>
          <a:p>
            <a:pPr algn="ctr" indent="0" marL="0">
              <a:buNone/>
            </a:pPr>
            <a:r>
              <a:rPr lang="en-US" sz="1600" b="1" dirty="0">
                <a:solidFill>
                  <a:schemeClr val="tx2"/>
                </a:solidFill>
              </a:rPr>
              <a:t>Food safety</a:t>
            </a:r>
            <a:endParaRPr lang="en-US" sz="1600" dirty="0"/>
          </a:p>
        </p:txBody>
      </p:sp>
      <p:sp>
        <p:nvSpPr>
          <p:cNvPr id="14" name="IRANZ domain 3"/>
          <p:cNvSpPr/>
          <p:nvPr/>
        </p:nvSpPr>
        <p:spPr>
          <a:xfrm>
            <a:off x="6126480" y="3657600"/>
            <a:ext cx="2606040" cy="822960"/>
          </a:xfrm>
          <a:prstGeom prst="roundRect">
            <a:avLst>
              <a:gd name="adj" fmla="val 13333"/>
            </a:avLst>
          </a:prstGeom>
          <a:solidFill>
            <a:schemeClr val="bg2"/>
          </a:solidFill>
          <a:ln w="12700">
            <a:solidFill>
              <a:schemeClr val="bg2"/>
            </a:solidFill>
            <a:prstDash val="solid"/>
          </a:ln>
        </p:spPr>
      </p:sp>
      <p:sp>
        <p:nvSpPr>
          <p:cNvPr id="15" name="Text 12"/>
          <p:cNvSpPr txBox="1"/>
          <p:nvPr/>
        </p:nvSpPr>
        <p:spPr>
          <a:xfrm>
            <a:off x="6126480" y="3657600"/>
            <a:ext cx="2606040" cy="822960"/>
          </a:xfrm>
          <a:prstGeom prst="rect">
            <a:avLst/>
          </a:prstGeom>
          <a:noFill/>
          <a:ln/>
        </p:spPr>
        <p:txBody>
          <a:bodyPr wrap="square" lIns="0" tIns="0" rIns="0" bIns="0" rtlCol="0" anchor="ctr"/>
          <a:lstStyle/>
          <a:p>
            <a:pPr algn="ctr" indent="0" marL="0">
              <a:buNone/>
            </a:pPr>
            <a:r>
              <a:rPr lang="en-US" sz="1600" b="1" dirty="0">
                <a:solidFill>
                  <a:schemeClr val="tx2"/>
                </a:solidFill>
              </a:rPr>
              <a:t>Environment</a:t>
            </a:r>
            <a:endParaRPr lang="en-US" sz="1600" dirty="0"/>
          </a:p>
        </p:txBody>
      </p:sp>
      <p:sp>
        <p:nvSpPr>
          <p:cNvPr id="16" name="IRANZ domain 4"/>
          <p:cNvSpPr/>
          <p:nvPr/>
        </p:nvSpPr>
        <p:spPr>
          <a:xfrm>
            <a:off x="8915400" y="3657600"/>
            <a:ext cx="2606040" cy="822960"/>
          </a:xfrm>
          <a:prstGeom prst="roundRect">
            <a:avLst>
              <a:gd name="adj" fmla="val 13333"/>
            </a:avLst>
          </a:prstGeom>
          <a:solidFill>
            <a:schemeClr val="bg2"/>
          </a:solidFill>
          <a:ln w="12700">
            <a:solidFill>
              <a:schemeClr val="bg2"/>
            </a:solidFill>
            <a:prstDash val="solid"/>
          </a:ln>
        </p:spPr>
      </p:sp>
      <p:sp>
        <p:nvSpPr>
          <p:cNvPr id="17" name="Text 14"/>
          <p:cNvSpPr txBox="1"/>
          <p:nvPr/>
        </p:nvSpPr>
        <p:spPr>
          <a:xfrm>
            <a:off x="8915400" y="3657600"/>
            <a:ext cx="2606040" cy="822960"/>
          </a:xfrm>
          <a:prstGeom prst="rect">
            <a:avLst/>
          </a:prstGeom>
          <a:noFill/>
          <a:ln/>
        </p:spPr>
        <p:txBody>
          <a:bodyPr wrap="square" lIns="0" tIns="0" rIns="0" bIns="0" rtlCol="0" anchor="ctr"/>
          <a:lstStyle/>
          <a:p>
            <a:pPr algn="ctr" indent="0" marL="0">
              <a:buNone/>
            </a:pPr>
            <a:r>
              <a:rPr lang="en-US" sz="1600" b="1" dirty="0">
                <a:solidFill>
                  <a:schemeClr val="tx2"/>
                </a:solidFill>
              </a:rPr>
              <a:t>Infrastructure</a:t>
            </a:r>
            <a:endParaRPr lang="en-US" sz="1600" dirty="0"/>
          </a:p>
        </p:txBody>
      </p:sp>
      <p:sp>
        <p:nvSpPr>
          <p:cNvPr id="18" name="IRANZ domain 5"/>
          <p:cNvSpPr/>
          <p:nvPr/>
        </p:nvSpPr>
        <p:spPr>
          <a:xfrm>
            <a:off x="548640" y="4709160"/>
            <a:ext cx="2606040" cy="822960"/>
          </a:xfrm>
          <a:prstGeom prst="roundRect">
            <a:avLst>
              <a:gd name="adj" fmla="val 13333"/>
            </a:avLst>
          </a:prstGeom>
          <a:solidFill>
            <a:schemeClr val="bg2"/>
          </a:solidFill>
          <a:ln w="12700">
            <a:solidFill>
              <a:schemeClr val="bg2"/>
            </a:solidFill>
            <a:prstDash val="solid"/>
          </a:ln>
        </p:spPr>
      </p:sp>
      <p:sp>
        <p:nvSpPr>
          <p:cNvPr id="19" name="Text 16"/>
          <p:cNvSpPr txBox="1"/>
          <p:nvPr/>
        </p:nvSpPr>
        <p:spPr>
          <a:xfrm>
            <a:off x="548640" y="4709160"/>
            <a:ext cx="2606040" cy="822960"/>
          </a:xfrm>
          <a:prstGeom prst="rect">
            <a:avLst/>
          </a:prstGeom>
          <a:noFill/>
          <a:ln/>
        </p:spPr>
        <p:txBody>
          <a:bodyPr wrap="square" lIns="0" tIns="0" rIns="0" bIns="0" rtlCol="0" anchor="ctr"/>
          <a:lstStyle/>
          <a:p>
            <a:pPr algn="ctr" indent="0" marL="0">
              <a:buNone/>
            </a:pPr>
            <a:r>
              <a:rPr lang="en-US" sz="1600" b="1" dirty="0">
                <a:solidFill>
                  <a:schemeClr val="tx2"/>
                </a:solidFill>
              </a:rPr>
              <a:t>Society</a:t>
            </a:r>
            <a:endParaRPr lang="en-US" sz="1600" dirty="0"/>
          </a:p>
        </p:txBody>
      </p:sp>
      <p:sp>
        <p:nvSpPr>
          <p:cNvPr id="20" name="IRANZ domain 6"/>
          <p:cNvSpPr/>
          <p:nvPr/>
        </p:nvSpPr>
        <p:spPr>
          <a:xfrm>
            <a:off x="3337560" y="4709160"/>
            <a:ext cx="2606040" cy="822960"/>
          </a:xfrm>
          <a:prstGeom prst="roundRect">
            <a:avLst>
              <a:gd name="adj" fmla="val 13333"/>
            </a:avLst>
          </a:prstGeom>
          <a:solidFill>
            <a:schemeClr val="bg2"/>
          </a:solidFill>
          <a:ln w="12700">
            <a:solidFill>
              <a:schemeClr val="bg2"/>
            </a:solidFill>
            <a:prstDash val="solid"/>
          </a:ln>
        </p:spPr>
      </p:sp>
      <p:sp>
        <p:nvSpPr>
          <p:cNvPr id="21" name="Text 18"/>
          <p:cNvSpPr txBox="1"/>
          <p:nvPr/>
        </p:nvSpPr>
        <p:spPr>
          <a:xfrm>
            <a:off x="3337560" y="4709160"/>
            <a:ext cx="2606040" cy="822960"/>
          </a:xfrm>
          <a:prstGeom prst="rect">
            <a:avLst/>
          </a:prstGeom>
          <a:noFill/>
          <a:ln/>
        </p:spPr>
        <p:txBody>
          <a:bodyPr wrap="square" lIns="0" tIns="0" rIns="0" bIns="0" rtlCol="0" anchor="ctr"/>
          <a:lstStyle/>
          <a:p>
            <a:pPr algn="ctr" indent="0" marL="0">
              <a:buNone/>
            </a:pPr>
            <a:r>
              <a:rPr lang="en-US" sz="1600" b="1" dirty="0">
                <a:solidFill>
                  <a:schemeClr val="tx2"/>
                </a:solidFill>
              </a:rPr>
              <a:t>Economy</a:t>
            </a:r>
            <a:endParaRPr lang="en-US" sz="1600" dirty="0"/>
          </a:p>
        </p:txBody>
      </p:sp>
      <p:sp>
        <p:nvSpPr>
          <p:cNvPr id="22" name="IRANZ domain 7"/>
          <p:cNvSpPr/>
          <p:nvPr/>
        </p:nvSpPr>
        <p:spPr>
          <a:xfrm>
            <a:off x="6126480" y="4709160"/>
            <a:ext cx="2606040" cy="822960"/>
          </a:xfrm>
          <a:prstGeom prst="roundRect">
            <a:avLst>
              <a:gd name="adj" fmla="val 13333"/>
            </a:avLst>
          </a:prstGeom>
          <a:solidFill>
            <a:schemeClr val="bg2"/>
          </a:solidFill>
          <a:ln w="12700">
            <a:solidFill>
              <a:schemeClr val="bg2"/>
            </a:solidFill>
            <a:prstDash val="solid"/>
          </a:ln>
        </p:spPr>
      </p:sp>
      <p:sp>
        <p:nvSpPr>
          <p:cNvPr id="23" name="Text 20"/>
          <p:cNvSpPr txBox="1"/>
          <p:nvPr/>
        </p:nvSpPr>
        <p:spPr>
          <a:xfrm>
            <a:off x="6126480" y="4709160"/>
            <a:ext cx="2606040" cy="822960"/>
          </a:xfrm>
          <a:prstGeom prst="rect">
            <a:avLst/>
          </a:prstGeom>
          <a:noFill/>
          <a:ln/>
        </p:spPr>
        <p:txBody>
          <a:bodyPr wrap="square" lIns="0" tIns="0" rIns="0" bIns="0" rtlCol="0" anchor="ctr"/>
          <a:lstStyle/>
          <a:p>
            <a:pPr algn="ctr" indent="0" marL="0">
              <a:buNone/>
            </a:pPr>
            <a:r>
              <a:rPr lang="en-US" sz="1600" b="1" dirty="0">
                <a:solidFill>
                  <a:schemeClr val="tx2"/>
                </a:solidFill>
              </a:rPr>
              <a:t>Health and medicine</a:t>
            </a:r>
            <a:endParaRPr lang="en-US" sz="1600" dirty="0"/>
          </a:p>
        </p:txBody>
      </p:sp>
      <p:sp>
        <p:nvSpPr>
          <p:cNvPr id="24" name="Text 21"/>
          <p:cNvSpPr txBox="1"/>
          <p:nvPr/>
        </p:nvSpPr>
        <p:spPr>
          <a:xfrm>
            <a:off x="8915400" y="4709160"/>
            <a:ext cx="2606040" cy="1325880"/>
          </a:xfrm>
          <a:prstGeom prst="rect">
            <a:avLst/>
          </a:prstGeom>
          <a:noFill/>
          <a:ln/>
        </p:spPr>
        <p:txBody>
          <a:bodyPr wrap="square" lIns="0" tIns="0" rIns="0" bIns="0" rtlCol="0" anchor="t"/>
          <a:lstStyle/>
          <a:p>
            <a:pPr indent="0" marL="0">
              <a:buNone/>
            </a:pPr>
            <a:r>
              <a:rPr lang="en-US" sz="1400" i="1" dirty="0">
                <a:solidFill>
                  <a:schemeClr val="accent2"/>
                </a:solidFill>
              </a:rPr>
              <a:t>For doctoral graduates: independent research organisations are a real career path between universities and government.</a:t>
            </a:r>
            <a:endParaRPr lang="en-US" sz="14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Lessons for emerging scholars</a:t>
            </a:r>
            <a:endParaRPr lang="en-US" sz="3400" dirty="0"/>
          </a:p>
        </p:txBody>
      </p:sp>
      <p:sp>
        <p:nvSpPr>
          <p:cNvPr id="3" name="lesson card 1"/>
          <p:cNvSpPr/>
          <p:nvPr/>
        </p:nvSpPr>
        <p:spPr>
          <a:xfrm>
            <a:off x="548640" y="1463040"/>
            <a:ext cx="3520440" cy="4114800"/>
          </a:xfrm>
          <a:prstGeom prst="roundRect">
            <a:avLst>
              <a:gd name="adj" fmla="val 3117"/>
            </a:avLst>
          </a:prstGeom>
          <a:solidFill>
            <a:schemeClr val="bg2"/>
          </a:solidFill>
          <a:ln w="12700">
            <a:solidFill>
              <a:schemeClr val="bg2"/>
            </a:solidFill>
            <a:prstDash val="solid"/>
          </a:ln>
        </p:spPr>
      </p:sp>
      <p:sp>
        <p:nvSpPr>
          <p:cNvPr id="4" name="lesson 1 circle"/>
          <p:cNvSpPr/>
          <p:nvPr/>
        </p:nvSpPr>
        <p:spPr>
          <a:xfrm>
            <a:off x="868680" y="1737360"/>
            <a:ext cx="777240" cy="777240"/>
          </a:xfrm>
          <a:prstGeom prst="ellipse">
            <a:avLst/>
          </a:prstGeom>
          <a:solidFill>
            <a:schemeClr val="accent2"/>
          </a:solidFill>
          <a:ln w="12700">
            <a:solidFill>
              <a:schemeClr val="accent2"/>
            </a:solidFill>
            <a:prstDash val="solid"/>
          </a:ln>
        </p:spPr>
      </p:sp>
      <p:pic>
        <p:nvPicPr>
          <p:cNvPr id="5" name="lesson 1 icon" descr="preencoded.png">    </p:cNvPr>
          <p:cNvPicPr>
            <a:picLocks noChangeAspect="1"/>
          </p:cNvPicPr>
          <p:nvPr/>
        </p:nvPicPr>
        <p:blipFill>
          <a:blip r:embed="rId1"/>
          <a:stretch>
            <a:fillRect/>
          </a:stretch>
        </p:blipFill>
        <p:spPr>
          <a:xfrm>
            <a:off x="1062990" y="1931670"/>
            <a:ext cx="388620" cy="388620"/>
          </a:xfrm>
          <a:prstGeom prst="rect">
            <a:avLst/>
          </a:prstGeom>
        </p:spPr>
      </p:pic>
      <p:sp>
        <p:nvSpPr>
          <p:cNvPr id="6" name="Text 3"/>
          <p:cNvSpPr txBox="1"/>
          <p:nvPr/>
        </p:nvSpPr>
        <p:spPr>
          <a:xfrm>
            <a:off x="2834640" y="1691640"/>
            <a:ext cx="914400" cy="868680"/>
          </a:xfrm>
          <a:prstGeom prst="rect">
            <a:avLst/>
          </a:prstGeom>
          <a:noFill/>
          <a:ln/>
        </p:spPr>
        <p:txBody>
          <a:bodyPr wrap="square" lIns="0" tIns="0" rIns="0" bIns="0" rtlCol="0" anchor="ctr"/>
          <a:lstStyle/>
          <a:p>
            <a:pPr algn="r" indent="0" marL="0">
              <a:buNone/>
            </a:pPr>
            <a:r>
              <a:rPr lang="en-US" sz="4800" b="1" dirty="0">
                <a:solidFill>
                  <a:schemeClr val="accent2"/>
                </a:solidFill>
                <a:latin typeface="Cambria" pitchFamily="34" charset="0"/>
                <a:ea typeface="Cambria" pitchFamily="34" charset="-122"/>
                <a:cs typeface="Cambria" pitchFamily="34" charset="-120"/>
              </a:rPr>
              <a:t>1</a:t>
            </a:r>
            <a:endParaRPr lang="en-US" sz="4800" dirty="0"/>
          </a:p>
        </p:txBody>
      </p:sp>
      <p:sp>
        <p:nvSpPr>
          <p:cNvPr id="7" name="Text 4"/>
          <p:cNvSpPr txBox="1"/>
          <p:nvPr/>
        </p:nvSpPr>
        <p:spPr>
          <a:xfrm>
            <a:off x="868680" y="2697480"/>
            <a:ext cx="2926080" cy="8686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Invest deeply in foundations</a:t>
            </a:r>
            <a:endParaRPr lang="en-US" sz="2000" dirty="0"/>
          </a:p>
        </p:txBody>
      </p:sp>
      <p:sp>
        <p:nvSpPr>
          <p:cNvPr id="8" name="Text 5"/>
          <p:cNvSpPr txBox="1"/>
          <p:nvPr/>
        </p:nvSpPr>
        <p:spPr>
          <a:xfrm>
            <a:off x="868680" y="3611880"/>
            <a:ext cx="2926080" cy="2286000"/>
          </a:xfrm>
          <a:prstGeom prst="rect">
            <a:avLst/>
          </a:prstGeom>
          <a:noFill/>
          <a:ln/>
        </p:spPr>
        <p:txBody>
          <a:bodyPr wrap="square" lIns="0" tIns="0" rIns="0" bIns="0" rtlCol="0" anchor="t"/>
          <a:lstStyle/>
          <a:p>
            <a:pPr indent="0" marL="0">
              <a:buNone/>
            </a:pPr>
            <a:r>
              <a:rPr lang="en-US" sz="1500" dirty="0">
                <a:solidFill>
                  <a:schemeClr val="tx1"/>
                </a:solidFill>
              </a:rPr>
              <a:t>My PhD meant learning techniques such as cross-validation and gradient descent in depth. No one could have predicted it, but they are now central to AI models.</a:t>
            </a:r>
            <a:endParaRPr lang="en-US" sz="1500" dirty="0"/>
          </a:p>
          <a:p>
            <a:pPr indent="0" marL="0">
              <a:buNone/>
            </a:pPr>
            <a:r>
              <a:rPr lang="en-US" sz="800" dirty="0">
                <a:solidFill>
                  <a:schemeClr val="tx1"/>
                </a:solidFill>
              </a:rPr>
              <a:t> </a:t>
            </a:r>
            <a:endParaRPr lang="en-US" sz="1500" dirty="0"/>
          </a:p>
          <a:p>
            <a:pPr indent="0" marL="0">
              <a:buNone/>
            </a:pPr>
            <a:r>
              <a:rPr lang="en-US" sz="1500" b="1" dirty="0">
                <a:solidFill>
                  <a:schemeClr val="tx1"/>
                </a:solidFill>
              </a:rPr>
              <a:t>Foundations keep paying off: Motu is now building its own AI models.</a:t>
            </a:r>
            <a:endParaRPr lang="en-US" sz="1500" dirty="0"/>
          </a:p>
        </p:txBody>
      </p:sp>
      <p:sp>
        <p:nvSpPr>
          <p:cNvPr id="9" name="lesson card 2"/>
          <p:cNvSpPr/>
          <p:nvPr/>
        </p:nvSpPr>
        <p:spPr>
          <a:xfrm>
            <a:off x="4343400" y="1463040"/>
            <a:ext cx="3520440" cy="4114800"/>
          </a:xfrm>
          <a:prstGeom prst="roundRect">
            <a:avLst>
              <a:gd name="adj" fmla="val 3117"/>
            </a:avLst>
          </a:prstGeom>
          <a:solidFill>
            <a:schemeClr val="bg2"/>
          </a:solidFill>
          <a:ln w="12700">
            <a:solidFill>
              <a:schemeClr val="bg2"/>
            </a:solidFill>
            <a:prstDash val="solid"/>
          </a:ln>
        </p:spPr>
      </p:sp>
      <p:sp>
        <p:nvSpPr>
          <p:cNvPr id="10" name="lesson 2 circle"/>
          <p:cNvSpPr/>
          <p:nvPr/>
        </p:nvSpPr>
        <p:spPr>
          <a:xfrm>
            <a:off x="4663440" y="1737360"/>
            <a:ext cx="777240" cy="777240"/>
          </a:xfrm>
          <a:prstGeom prst="ellipse">
            <a:avLst/>
          </a:prstGeom>
          <a:solidFill>
            <a:schemeClr val="accent1"/>
          </a:solidFill>
          <a:ln w="12700">
            <a:solidFill>
              <a:schemeClr val="accent1"/>
            </a:solidFill>
            <a:prstDash val="solid"/>
          </a:ln>
        </p:spPr>
      </p:sp>
      <p:pic>
        <p:nvPicPr>
          <p:cNvPr id="11" name="lesson 2 icon" descr="preencoded.png">    </p:cNvPr>
          <p:cNvPicPr>
            <a:picLocks noChangeAspect="1"/>
          </p:cNvPicPr>
          <p:nvPr/>
        </p:nvPicPr>
        <p:blipFill>
          <a:blip r:embed="rId2"/>
          <a:stretch>
            <a:fillRect/>
          </a:stretch>
        </p:blipFill>
        <p:spPr>
          <a:xfrm>
            <a:off x="4857750" y="1931670"/>
            <a:ext cx="388620" cy="388620"/>
          </a:xfrm>
          <a:prstGeom prst="rect">
            <a:avLst/>
          </a:prstGeom>
        </p:spPr>
      </p:pic>
      <p:sp>
        <p:nvSpPr>
          <p:cNvPr id="12" name="Text 8"/>
          <p:cNvSpPr txBox="1"/>
          <p:nvPr/>
        </p:nvSpPr>
        <p:spPr>
          <a:xfrm>
            <a:off x="6629400" y="1691640"/>
            <a:ext cx="914400" cy="868680"/>
          </a:xfrm>
          <a:prstGeom prst="rect">
            <a:avLst/>
          </a:prstGeom>
          <a:noFill/>
          <a:ln/>
        </p:spPr>
        <p:txBody>
          <a:bodyPr wrap="square" lIns="0" tIns="0" rIns="0" bIns="0" rtlCol="0" anchor="ctr"/>
          <a:lstStyle/>
          <a:p>
            <a:pPr algn="r" indent="0" marL="0">
              <a:buNone/>
            </a:pPr>
            <a:r>
              <a:rPr lang="en-US" sz="4800" b="1" dirty="0">
                <a:solidFill>
                  <a:schemeClr val="accent1"/>
                </a:solidFill>
                <a:latin typeface="Cambria" pitchFamily="34" charset="0"/>
                <a:ea typeface="Cambria" pitchFamily="34" charset="-122"/>
                <a:cs typeface="Cambria" pitchFamily="34" charset="-120"/>
              </a:rPr>
              <a:t>2</a:t>
            </a:r>
            <a:endParaRPr lang="en-US" sz="4800" dirty="0"/>
          </a:p>
        </p:txBody>
      </p:sp>
      <p:sp>
        <p:nvSpPr>
          <p:cNvPr id="13" name="Text 9"/>
          <p:cNvSpPr txBox="1"/>
          <p:nvPr/>
        </p:nvSpPr>
        <p:spPr>
          <a:xfrm>
            <a:off x="4663440" y="2697480"/>
            <a:ext cx="2926080" cy="8686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Co-authors are research infrastructure</a:t>
            </a:r>
            <a:endParaRPr lang="en-US" sz="2000" dirty="0"/>
          </a:p>
        </p:txBody>
      </p:sp>
      <p:sp>
        <p:nvSpPr>
          <p:cNvPr id="14" name="Text 10"/>
          <p:cNvSpPr txBox="1"/>
          <p:nvPr/>
        </p:nvSpPr>
        <p:spPr>
          <a:xfrm>
            <a:off x="4663440" y="3611880"/>
            <a:ext cx="2926080" cy="2286000"/>
          </a:xfrm>
          <a:prstGeom prst="rect">
            <a:avLst/>
          </a:prstGeom>
          <a:noFill/>
          <a:ln/>
        </p:spPr>
        <p:txBody>
          <a:bodyPr wrap="square" lIns="0" tIns="0" rIns="0" bIns="0" rtlCol="0" anchor="t"/>
          <a:lstStyle/>
          <a:p>
            <a:pPr indent="0" marL="0">
              <a:buNone/>
            </a:pPr>
            <a:r>
              <a:rPr lang="en-US" sz="1500" dirty="0">
                <a:solidFill>
                  <a:schemeClr val="tx1"/>
                </a:solidFill>
              </a:rPr>
              <a:t>Paul Cashin and Viv Hall kept my research alive through demanding policy jobs.</a:t>
            </a:r>
            <a:endParaRPr lang="en-US" sz="1500" dirty="0"/>
          </a:p>
          <a:p>
            <a:pPr indent="0" marL="0">
              <a:buNone/>
            </a:pPr>
            <a:r>
              <a:rPr lang="en-US" sz="800" dirty="0">
                <a:solidFill>
                  <a:schemeClr val="tx1"/>
                </a:solidFill>
              </a:rPr>
              <a:t> </a:t>
            </a:r>
            <a:endParaRPr lang="en-US" sz="1500" dirty="0"/>
          </a:p>
          <a:p>
            <a:pPr indent="0" marL="0">
              <a:buNone/>
            </a:pPr>
            <a:r>
              <a:rPr lang="en-US" sz="1500" b="1" dirty="0">
                <a:solidFill>
                  <a:schemeClr val="tx1"/>
                </a:solidFill>
              </a:rPr>
              <a:t>Choose co-authors for complementary skills and for the long run.</a:t>
            </a:r>
            <a:endParaRPr lang="en-US" sz="1500" dirty="0"/>
          </a:p>
        </p:txBody>
      </p:sp>
      <p:sp>
        <p:nvSpPr>
          <p:cNvPr id="15" name="lesson card 3"/>
          <p:cNvSpPr/>
          <p:nvPr/>
        </p:nvSpPr>
        <p:spPr>
          <a:xfrm>
            <a:off x="8138160" y="1463040"/>
            <a:ext cx="3520440" cy="4114800"/>
          </a:xfrm>
          <a:prstGeom prst="roundRect">
            <a:avLst>
              <a:gd name="adj" fmla="val 3117"/>
            </a:avLst>
          </a:prstGeom>
          <a:solidFill>
            <a:schemeClr val="bg2"/>
          </a:solidFill>
          <a:ln w="12700">
            <a:solidFill>
              <a:schemeClr val="bg2"/>
            </a:solidFill>
            <a:prstDash val="solid"/>
          </a:ln>
        </p:spPr>
      </p:sp>
      <p:sp>
        <p:nvSpPr>
          <p:cNvPr id="16" name="lesson 3 circle"/>
          <p:cNvSpPr/>
          <p:nvPr/>
        </p:nvSpPr>
        <p:spPr>
          <a:xfrm>
            <a:off x="8458200" y="1737360"/>
            <a:ext cx="777240" cy="777240"/>
          </a:xfrm>
          <a:prstGeom prst="ellipse">
            <a:avLst/>
          </a:prstGeom>
          <a:solidFill>
            <a:schemeClr val="accent3"/>
          </a:solidFill>
          <a:ln w="12700">
            <a:solidFill>
              <a:schemeClr val="accent3"/>
            </a:solidFill>
            <a:prstDash val="solid"/>
          </a:ln>
        </p:spPr>
      </p:sp>
      <p:pic>
        <p:nvPicPr>
          <p:cNvPr id="17" name="lesson 3 icon" descr="preencoded.png">    </p:cNvPr>
          <p:cNvPicPr>
            <a:picLocks noChangeAspect="1"/>
          </p:cNvPicPr>
          <p:nvPr/>
        </p:nvPicPr>
        <p:blipFill>
          <a:blip r:embed="rId3"/>
          <a:stretch>
            <a:fillRect/>
          </a:stretch>
        </p:blipFill>
        <p:spPr>
          <a:xfrm>
            <a:off x="8652510" y="1931670"/>
            <a:ext cx="388620" cy="388620"/>
          </a:xfrm>
          <a:prstGeom prst="rect">
            <a:avLst/>
          </a:prstGeom>
        </p:spPr>
      </p:pic>
      <p:sp>
        <p:nvSpPr>
          <p:cNvPr id="18" name="Text 13"/>
          <p:cNvSpPr txBox="1"/>
          <p:nvPr/>
        </p:nvSpPr>
        <p:spPr>
          <a:xfrm>
            <a:off x="10424160" y="1691640"/>
            <a:ext cx="914400" cy="868680"/>
          </a:xfrm>
          <a:prstGeom prst="rect">
            <a:avLst/>
          </a:prstGeom>
          <a:noFill/>
          <a:ln/>
        </p:spPr>
        <p:txBody>
          <a:bodyPr wrap="square" lIns="0" tIns="0" rIns="0" bIns="0" rtlCol="0" anchor="ctr"/>
          <a:lstStyle/>
          <a:p>
            <a:pPr algn="r" indent="0" marL="0">
              <a:buNone/>
            </a:pPr>
            <a:r>
              <a:rPr lang="en-US" sz="4800" b="1" dirty="0">
                <a:solidFill>
                  <a:schemeClr val="accent3"/>
                </a:solidFill>
                <a:latin typeface="Cambria" pitchFamily="34" charset="0"/>
                <a:ea typeface="Cambria" pitchFamily="34" charset="-122"/>
                <a:cs typeface="Cambria" pitchFamily="34" charset="-120"/>
              </a:rPr>
              <a:t>3</a:t>
            </a:r>
            <a:endParaRPr lang="en-US" sz="4800" dirty="0"/>
          </a:p>
        </p:txBody>
      </p:sp>
      <p:sp>
        <p:nvSpPr>
          <p:cNvPr id="19" name="Text 14"/>
          <p:cNvSpPr txBox="1"/>
          <p:nvPr/>
        </p:nvSpPr>
        <p:spPr>
          <a:xfrm>
            <a:off x="8458200" y="2697480"/>
            <a:ext cx="2926080" cy="8686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Let policy and research shape each other</a:t>
            </a:r>
            <a:endParaRPr lang="en-US" sz="2000" dirty="0"/>
          </a:p>
        </p:txBody>
      </p:sp>
      <p:sp>
        <p:nvSpPr>
          <p:cNvPr id="20" name="Text 15"/>
          <p:cNvSpPr txBox="1"/>
          <p:nvPr/>
        </p:nvSpPr>
        <p:spPr>
          <a:xfrm>
            <a:off x="8458200" y="3611880"/>
            <a:ext cx="2926080" cy="2286000"/>
          </a:xfrm>
          <a:prstGeom prst="rect">
            <a:avLst/>
          </a:prstGeom>
          <a:noFill/>
          <a:ln/>
        </p:spPr>
        <p:txBody>
          <a:bodyPr wrap="square" lIns="0" tIns="0" rIns="0" bIns="0" rtlCol="0" anchor="t"/>
          <a:lstStyle/>
          <a:p>
            <a:pPr indent="0" marL="0">
              <a:buNone/>
            </a:pPr>
            <a:r>
              <a:rPr lang="en-US" sz="1500" dirty="0">
                <a:solidFill>
                  <a:schemeClr val="tx1"/>
                </a:solidFill>
              </a:rPr>
              <a:t>“Temporary or permanent?” and “Has the economy changed?” are policy questions and econometric questions at once.</a:t>
            </a:r>
            <a:endParaRPr lang="en-US" sz="1500" dirty="0"/>
          </a:p>
          <a:p>
            <a:pPr indent="0" marL="0">
              <a:buNone/>
            </a:pPr>
            <a:r>
              <a:rPr lang="en-US" sz="800" dirty="0">
                <a:solidFill>
                  <a:schemeClr val="tx1"/>
                </a:solidFill>
              </a:rPr>
              <a:t> </a:t>
            </a:r>
            <a:endParaRPr lang="en-US" sz="1500" dirty="0"/>
          </a:p>
          <a:p>
            <a:pPr indent="0" marL="0">
              <a:buNone/>
            </a:pPr>
            <a:r>
              <a:rPr lang="en-US" sz="1500" b="1" dirty="0">
                <a:solidFill>
                  <a:schemeClr val="tx1"/>
                </a:solidFill>
              </a:rPr>
              <a:t>Let the questions drive the research, and research discipline shape the policy.</a:t>
            </a:r>
            <a:endParaRPr lang="en-US" sz="1500" dirty="0"/>
          </a:p>
        </p:txBody>
      </p:sp>
      <p:sp>
        <p:nvSpPr>
          <p:cNvPr id="25" name="Slide Number Placeholder 0"/>
          <p:cNvSpPr>
            <a:spLocks noGrp="1"/>
          </p:cNvSpPr>
          <p:nvPr>
            <p:ph type="sldNum" sz="quarter" idx="4294967295"/>
          </p:nvPr>
        </p:nvSpPr>
        <p:spPr>
          <a:xfrm>
            <a:off x="11155680" y="635508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737360"/>
          </a:xfrm>
          <a:prstGeom prst="rect">
            <a:avLst/>
          </a:prstGeom>
          <a:noFill/>
          <a:ln/>
        </p:spPr>
        <p:txBody>
          <a:bodyPr wrap="square"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Ngā mihi nui. Questions?</a:t>
            </a:r>
            <a:endParaRPr lang="en-US" sz="4800" dirty="0"/>
          </a:p>
        </p:txBody>
      </p:sp>
      <p:sp>
        <p:nvSpPr>
          <p:cNvPr id="3" name="Text 0"/>
          <p:cNvSpPr/>
          <p:nvPr>
            <p:ph idx="101" type="body" hasCustomPrompt="1"/>
          </p:nvPr>
        </p:nvSpPr>
        <p:spPr>
          <a:xfrm>
            <a:off x="731520" y="3611880"/>
            <a:ext cx="10698480" cy="822960"/>
          </a:xfrm>
          <a:prstGeom prst="rect">
            <a:avLst/>
          </a:prstGeom>
          <a:noFill/>
          <a:ln/>
        </p:spPr>
        <p:txBody>
          <a:bodyPr wrap="square" rtlCol="0" anchor="t"/>
          <a:lstStyle/>
          <a:p>
            <a:pPr indent="0" marL="0">
              <a:buNone/>
            </a:pPr>
            <a:r>
              <a:rPr lang="en-US" sz="2200" dirty="0">
                <a:solidFill>
                  <a:schemeClr val="accent5"/>
                </a:solidFill>
              </a:rPr>
              <a:t>Pātai, kōrero, and good luck with your research</a:t>
            </a:r>
            <a:endParaRPr lang="en-US" sz="2200" dirty="0"/>
          </a:p>
        </p:txBody>
      </p:sp>
      <p:sp>
        <p:nvSpPr>
          <p:cNvPr id="4" name="Text 0"/>
          <p:cNvSpPr/>
          <p:nvPr>
            <p:ph idx="102" type="body" hasCustomPrompt="1"/>
          </p:nvPr>
        </p:nvSpPr>
        <p:spPr>
          <a:xfrm>
            <a:off x="731520" y="5120640"/>
            <a:ext cx="10698480" cy="1005840"/>
          </a:xfrm>
          <a:prstGeom prst="rect">
            <a:avLst/>
          </a:prstGeom>
          <a:noFill/>
          <a:ln/>
        </p:spPr>
        <p:txBody>
          <a:bodyPr wrap="square" rtlCol="0" anchor="t"/>
          <a:lstStyle/>
          <a:p>
            <a:pPr indent="0" marL="0">
              <a:buNone/>
            </a:pPr>
            <a:r>
              <a:rPr lang="en-US" sz="1600" b="1" dirty="0">
                <a:solidFill>
                  <a:schemeClr val="bg1"/>
                </a:solidFill>
              </a:rPr>
              <a:t>Dr John McDermott CRSNZ</a:t>
            </a:r>
            <a:endParaRPr lang="en-US" sz="1600" dirty="0"/>
          </a:p>
          <a:p>
            <a:pPr indent="0" marL="0">
              <a:buNone/>
            </a:pPr>
            <a:r>
              <a:rPr lang="en-US" sz="1600" dirty="0">
                <a:solidFill>
                  <a:schemeClr val="bg1"/>
                </a:solidFill>
              </a:rPr>
              <a:t>john.mcdermott@motu.org.nz  ·  motu.nz</a:t>
            </a:r>
            <a:endParaRPr lang="en-US" sz="1600" dirty="0"/>
          </a:p>
        </p:txBody>
      </p:sp>
    </p:spTree>
  </p:cSld>
  <p:clrMapOvr>
    <a:masterClrMapping/>
  </p:clrMapOvr>
</p:sld>
</file>

<file path=ppt/theme/theme1.xml><?xml version="1.0" encoding="utf-8"?>
<a:theme xmlns:a="http://schemas.openxmlformats.org/drawingml/2006/main" name="Rigour and Relevance">
  <a:themeElements>
    <a:clrScheme name="Rigour and Relevance">
      <a:dk1>
        <a:srgbClr val="1F2A30"/>
      </a:dk1>
      <a:lt1>
        <a:srgbClr val="FFFFFF"/>
      </a:lt1>
      <a:dk2>
        <a:srgbClr val="14303F"/>
      </a:dk2>
      <a:lt2>
        <a:srgbClr val="EEF2F3"/>
      </a:lt2>
      <a:accent1>
        <a:srgbClr val="B5382C"/>
      </a:accent1>
      <a:accent2>
        <a:srgbClr val="2F6F7E"/>
      </a:accent2>
      <a:accent3>
        <a:srgbClr val="D49A2A"/>
      </a:accent3>
      <a:accent4>
        <a:srgbClr val="6B7F87"/>
      </a:accent4>
      <a:accent5>
        <a:srgbClr val="8FB3BC"/>
      </a:accent5>
      <a:accent6>
        <a:srgbClr val="4A5D23"/>
      </a:accent6>
      <a:hlink>
        <a:srgbClr val="2F6F7E"/>
      </a:hlink>
      <a:folHlink>
        <a:srgbClr val="6B7F87"/>
      </a:folHlink>
    </a:clrScheme>
    <a:fontScheme name="Rigour and Releva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AEA9830B5445F4292869AF56D86F071" ma:contentTypeVersion="14" ma:contentTypeDescription="Create a new document." ma:contentTypeScope="" ma:versionID="8ffe75908a165976d69f60053085f243">
  <xsd:schema xmlns:xsd="http://www.w3.org/2001/XMLSchema" xmlns:xs="http://www.w3.org/2001/XMLSchema" xmlns:p="http://schemas.microsoft.com/office/2006/metadata/properties" xmlns:ns2="6d962bf0-90c7-43cb-83c3-33be20367973" xmlns:ns3="489e143e-051f-407f-bd8a-e56577bb904f" targetNamespace="http://schemas.microsoft.com/office/2006/metadata/properties" ma:root="true" ma:fieldsID="059659c1154e2d5676f72d94b3ef4c3d" ns2:_="" ns3:_="">
    <xsd:import namespace="6d962bf0-90c7-43cb-83c3-33be20367973"/>
    <xsd:import namespace="489e143e-051f-407f-bd8a-e56577bb904f"/>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lcf76f155ced4ddcb4097134ff3c332f" minOccurs="0"/>
                <xsd:element ref="ns2:TaxCatchAll" minOccurs="0"/>
                <xsd:element ref="ns3:MediaServiceDateTaken"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962bf0-90c7-43cb-83c3-33be20367973"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06a5ba77-50f9-41c1-b416-08ffc96e83c0}" ma:internalName="TaxCatchAll" ma:showField="CatchAllData" ma:web="6d962bf0-90c7-43cb-83c3-33be2036797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89e143e-051f-407f-bd8a-e56577bb904f"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537fece0-7c67-4b6d-b059-36af53aee6fc"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89e143e-051f-407f-bd8a-e56577bb904f">
      <Terms xmlns="http://schemas.microsoft.com/office/infopath/2007/PartnerControls"/>
    </lcf76f155ced4ddcb4097134ff3c332f>
    <TaxCatchAll xmlns="6d962bf0-90c7-43cb-83c3-33be20367973" xsi:nil="true"/>
  </documentManagement>
</p:properties>
</file>

<file path=customXml/itemProps1.xml><?xml version="1.0" encoding="utf-8"?>
<ds:datastoreItem xmlns:ds="http://schemas.openxmlformats.org/officeDocument/2006/customXml" ds:itemID="{8AE1F33C-422E-406C-A2C3-DDB148804E7D}"/>
</file>

<file path=customXml/itemProps2.xml><?xml version="1.0" encoding="utf-8"?>
<ds:datastoreItem xmlns:ds="http://schemas.openxmlformats.org/officeDocument/2006/customXml" ds:itemID="{B0EA14EC-A857-4FF5-BE64-8DDD8299A4B7}"/>
</file>

<file path=customXml/itemProps3.xml><?xml version="1.0" encoding="utf-8"?>
<ds:datastoreItem xmlns:ds="http://schemas.openxmlformats.org/officeDocument/2006/customXml" ds:itemID="{96DAD6F1-B4F7-455D-B7C7-CA9FAE8CB087}"/>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Rigour, Relevance and Relationships</dc:title>
  <dc:subject>PptxGenJS Presentation</dc:subject>
  <dc:creator>John McDermott</dc:creator>
  <cp:lastModifiedBy>John McDermott</cp:lastModifiedBy>
  <cp:revision>1</cp:revision>
  <dcterms:created xsi:type="dcterms:W3CDTF">2026-10-14T04:19:35Z</dcterms:created>
  <dcterms:modified xsi:type="dcterms:W3CDTF">2026-10-14T04:19:35Z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0x0101009AEA9830B5445F4292869AF56D86F071</vt:lpwstr>
  </property>
</Properties>
</file>